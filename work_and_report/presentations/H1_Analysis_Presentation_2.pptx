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William Rodriguez is our buyer persona - someone seeking two properties with distinct purposes. The country house is a retreat where timing and cost are priorities, while the city house needs to be immediately available in a central location. Understanding these distinct preferences helps us structure our analysis and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establishes the core hypothesis we're testing. For William Rodriguez seeking a country house with the best timing at a good price, understanding the true cost difference between non-renovated and renovated properties is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we identified urban versus rural zip codes. We started with an exploratory approach using the Economic Proxy Method, then evolved to a comprehensive data-driven approach. By analyzing ALL zip codes in the dataset based on price and lot size patterns, we eliminated pre-assumptions and let the data guide our geographic classification. This refined approach ensures our geographic controls are robust and based on actual market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our H1 hypothesis. We are examining whether renovated homes command a price premium when comparing properties of similar size in the same geographic area. This controlled comparison eliminates confounding variables like location differences or size variations. We'll focus on rural areas where properties are more homogeneous, making our comparison more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follows a four-step process to isolate the renovation effect. First, we explore the dataset to understand its structure. Second, we segment the geographic area to ensure apples-to-apples comparisons using our refined data-driven approach. Third, we normalize for size differences. Finally, we compare prices between renovated and non-renovated properties. The key finding is a consistent 15-25% price premium across all property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three rural zip codes based on price distribution and property characteristics. These rural areas provide more homogeneous properties, making it easier to isolate the renovation effect. The geographic segmentation is critical because urban and rural areas have very different baseline prices and market dynamics. Our refined data-driven approach ensures these classifications are based on actual market metrics rather than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visualization shows the price ranges for renovated versus non-renovated houses across three size categories. Notice the consistent pattern: renovated homes command a significant premium in every category. The percentages remain relatively stable at 15-25%, suggesting the renovation effect is proportional to the base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an independent samples t-test to compare prices between groups. The results are extremely significant. The p-value of less than 0.001 means there's less than a 0.1% chance this finding occurred by random chance. We can confidently reject the null hypothesis and confirm that renovated homes command a statistically significant price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reveals key insights for William Rodriguez. The country house strategy should focus on non-renovated properties where he can save 15-25% compared to renovated homes. For the city house, the premium cost of renovated properties is justified by convenience and move-in readiness. Both properties should be in the 5-8 mile range from downtown to maintain reasonable proximity.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H1 validated, we now move forward to H2 and H3 analysis. These investigations will help us understand location and distance factors affecting property values, enabling comprehensive recommendations for William Rodriguez' dual-property investment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H1 ANALYSIS</a:t>
            </a:r>
            <a:endParaRPr lang="en-US" sz="5400" dirty="0"/>
          </a:p>
        </p:txBody>
      </p:sp>
      <p:sp>
        <p:nvSpPr>
          <p:cNvPr id="3" name="Text 1"/>
          <p:cNvSpPr/>
          <p:nvPr/>
        </p:nvSpPr>
        <p:spPr>
          <a:xfrm>
            <a:off x="457200" y="2377440"/>
            <a:ext cx="8229600" cy="731520"/>
          </a:xfrm>
          <a:prstGeom prst="rect">
            <a:avLst/>
          </a:prstGeom>
          <a:noFill/>
          <a:ln/>
        </p:spPr>
        <p:txBody>
          <a:bodyPr wrap="square" rtlCol="0" anchor="ctr"/>
          <a:lstStyle/>
          <a:p>
            <a:pPr algn="ctr" indent="0" marL="0">
              <a:buNone/>
            </a:pPr>
            <a:r>
              <a:rPr lang="en-US" sz="3200" dirty="0">
                <a:solidFill>
                  <a:srgbClr val="F59E0B"/>
                </a:solidFill>
                <a:latin typeface="Calibri" pitchFamily="34" charset="0"/>
                <a:ea typeface="Calibri" pitchFamily="34" charset="-122"/>
                <a:cs typeface="Calibri" pitchFamily="34" charset="-120"/>
              </a:rPr>
              <a:t>Renovation Effects on House Prices</a:t>
            </a:r>
            <a:endParaRPr lang="en-US" sz="3200" dirty="0"/>
          </a:p>
        </p:txBody>
      </p:sp>
      <p:sp>
        <p:nvSpPr>
          <p:cNvPr id="4" name="Text 2"/>
          <p:cNvSpPr/>
          <p:nvPr/>
        </p:nvSpPr>
        <p:spPr>
          <a:xfrm>
            <a:off x="457200" y="3291840"/>
            <a:ext cx="8229600" cy="548640"/>
          </a:xfrm>
          <a:prstGeom prst="rect">
            <a:avLst/>
          </a:prstGeom>
          <a:noFill/>
          <a:ln/>
        </p:spPr>
        <p:txBody>
          <a:bodyPr wrap="square" rtlCol="0" anchor="ctr"/>
          <a:lstStyle/>
          <a:p>
            <a:pPr algn="ctr" indent="0" marL="0">
              <a:buNone/>
            </a:pPr>
            <a:r>
              <a:rPr lang="en-US" sz="1800" dirty="0">
                <a:solidFill>
                  <a:srgbClr val="3B82F6"/>
                </a:solidFill>
                <a:latin typeface="Calibri" pitchFamily="34" charset="0"/>
                <a:ea typeface="Calibri" pitchFamily="34" charset="-122"/>
                <a:cs typeface="Calibri" pitchFamily="34" charset="-120"/>
              </a:rPr>
              <a:t>Data-Driven Hypothesis Validation for William Rodriguez</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Buyer Persona: William Rodriguez</a:t>
            </a:r>
            <a:endParaRPr lang="en-US" sz="4000" dirty="0"/>
          </a:p>
        </p:txBody>
      </p:sp>
      <p:sp>
        <p:nvSpPr>
          <p:cNvPr id="3" name="Text 1"/>
          <p:cNvSpPr/>
          <p:nvPr/>
        </p:nvSpPr>
        <p:spPr>
          <a:xfrm>
            <a:off x="457200" y="777240"/>
            <a:ext cx="8229600" cy="320040"/>
          </a:xfrm>
          <a:prstGeom prst="rect">
            <a:avLst/>
          </a:prstGeom>
          <a:noFill/>
          <a:ln/>
        </p:spPr>
        <p:txBody>
          <a:bodyPr wrap="square" rtlCol="0" anchor="ctr"/>
          <a:lstStyle/>
          <a:p>
            <a:pPr indent="0" marL="0">
              <a:buNone/>
            </a:pPr>
            <a:r>
              <a:rPr lang="en-US" sz="1800" i="1" dirty="0">
                <a:solidFill>
                  <a:srgbClr val="0D9488"/>
                </a:solidFill>
                <a:latin typeface="Calibri" pitchFamily="34" charset="0"/>
                <a:ea typeface="Calibri" pitchFamily="34" charset="-122"/>
                <a:cs typeface="Calibri" pitchFamily="34" charset="-120"/>
              </a:rPr>
              <a:t>Property Strategy &amp; Preferences</a:t>
            </a:r>
            <a:endParaRPr lang="en-US" sz="1800" dirty="0"/>
          </a:p>
        </p:txBody>
      </p:sp>
      <p:sp>
        <p:nvSpPr>
          <p:cNvPr id="4" name="Text 2"/>
          <p:cNvSpPr/>
          <p:nvPr/>
        </p:nvSpPr>
        <p:spPr>
          <a:xfrm>
            <a:off x="457200" y="1234440"/>
            <a:ext cx="822960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William seeks TWO properties:</a:t>
            </a:r>
            <a:endParaRPr lang="en-US" sz="1400" dirty="0"/>
          </a:p>
        </p:txBody>
      </p:sp>
      <p:sp>
        <p:nvSpPr>
          <p:cNvPr id="5" name="Shape 3"/>
          <p:cNvSpPr/>
          <p:nvPr/>
        </p:nvSpPr>
        <p:spPr>
          <a:xfrm>
            <a:off x="457200" y="1645920"/>
            <a:ext cx="4114800" cy="2011680"/>
          </a:xfrm>
          <a:prstGeom prst="rect">
            <a:avLst/>
          </a:prstGeom>
          <a:solidFill>
            <a:srgbClr val="3B82F6"/>
          </a:solidFill>
          <a:ln w="25400">
            <a:solidFill>
              <a:srgbClr val="1E3A8A"/>
            </a:solidFill>
            <a:prstDash val="solid"/>
          </a:ln>
        </p:spPr>
      </p:sp>
      <p:sp>
        <p:nvSpPr>
          <p:cNvPr id="6" name="Text 4"/>
          <p:cNvSpPr/>
          <p:nvPr/>
        </p:nvSpPr>
        <p:spPr>
          <a:xfrm>
            <a:off x="640080" y="1783080"/>
            <a:ext cx="37490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Country House</a:t>
            </a:r>
            <a:endParaRPr lang="en-US" sz="1300" dirty="0"/>
          </a:p>
        </p:txBody>
      </p:sp>
      <p:sp>
        <p:nvSpPr>
          <p:cNvPr id="7" name="Text 5"/>
          <p:cNvSpPr/>
          <p:nvPr/>
        </p:nvSpPr>
        <p:spPr>
          <a:xfrm>
            <a:off x="777240" y="2148840"/>
            <a:ext cx="3474720" cy="365760"/>
          </a:xfrm>
          <a:prstGeom prst="rect">
            <a:avLst/>
          </a:prstGeom>
          <a:noFill/>
          <a:ln/>
        </p:spPr>
        <p:txBody>
          <a:bodyPr wrap="square"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Not in hurry - best timing priority</a:t>
            </a:r>
            <a:endParaRPr lang="en-US" sz="1100" dirty="0"/>
          </a:p>
        </p:txBody>
      </p:sp>
      <p:sp>
        <p:nvSpPr>
          <p:cNvPr id="8" name="Text 6"/>
          <p:cNvSpPr/>
          <p:nvPr/>
        </p:nvSpPr>
        <p:spPr>
          <a:xfrm>
            <a:off x="777240" y="2560320"/>
            <a:ext cx="3474720" cy="365760"/>
          </a:xfrm>
          <a:prstGeom prst="rect">
            <a:avLst/>
          </a:prstGeom>
          <a:noFill/>
          <a:ln/>
        </p:spPr>
        <p:txBody>
          <a:bodyPr wrap="square"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Quiet retreat for unwinding</a:t>
            </a:r>
            <a:endParaRPr lang="en-US" sz="1100" dirty="0"/>
          </a:p>
        </p:txBody>
      </p:sp>
      <p:sp>
        <p:nvSpPr>
          <p:cNvPr id="9" name="Text 7"/>
          <p:cNvSpPr/>
          <p:nvPr/>
        </p:nvSpPr>
        <p:spPr>
          <a:xfrm>
            <a:off x="777240" y="2926080"/>
            <a:ext cx="3474720" cy="365760"/>
          </a:xfrm>
          <a:prstGeom prst="rect">
            <a:avLst/>
          </a:prstGeom>
          <a:noFill/>
          <a:ln/>
        </p:spPr>
        <p:txBody>
          <a:bodyPr wrap="square"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Space, privacy, price &gt; polish</a:t>
            </a:r>
            <a:endParaRPr lang="en-US" sz="1100" dirty="0"/>
          </a:p>
        </p:txBody>
      </p:sp>
      <p:sp>
        <p:nvSpPr>
          <p:cNvPr id="10" name="Text 8"/>
          <p:cNvSpPr/>
          <p:nvPr/>
        </p:nvSpPr>
        <p:spPr>
          <a:xfrm>
            <a:off x="777240" y="3291840"/>
            <a:ext cx="3474720" cy="320040"/>
          </a:xfrm>
          <a:prstGeom prst="rect">
            <a:avLst/>
          </a:prstGeom>
          <a:noFill/>
          <a:ln/>
        </p:spPr>
        <p:txBody>
          <a:bodyPr wrap="square"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Owns dog - needs spacious property</a:t>
            </a:r>
            <a:endParaRPr lang="en-US" sz="1100" dirty="0"/>
          </a:p>
        </p:txBody>
      </p:sp>
      <p:sp>
        <p:nvSpPr>
          <p:cNvPr id="11" name="Shape 9"/>
          <p:cNvSpPr/>
          <p:nvPr/>
        </p:nvSpPr>
        <p:spPr>
          <a:xfrm>
            <a:off x="4754880" y="1645920"/>
            <a:ext cx="3931920" cy="2011680"/>
          </a:xfrm>
          <a:prstGeom prst="rect">
            <a:avLst/>
          </a:prstGeom>
          <a:solidFill>
            <a:srgbClr val="F59E0B"/>
          </a:solidFill>
          <a:ln w="25400">
            <a:solidFill>
              <a:srgbClr val="1E3A8A"/>
            </a:solidFill>
            <a:prstDash val="solid"/>
          </a:ln>
        </p:spPr>
      </p:sp>
      <p:sp>
        <p:nvSpPr>
          <p:cNvPr id="12" name="Text 10"/>
          <p:cNvSpPr/>
          <p:nvPr/>
        </p:nvSpPr>
        <p:spPr>
          <a:xfrm>
            <a:off x="4937760" y="1783080"/>
            <a:ext cx="3566160" cy="32004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City House</a:t>
            </a:r>
            <a:endParaRPr lang="en-US" sz="1300" dirty="0"/>
          </a:p>
        </p:txBody>
      </p:sp>
      <p:sp>
        <p:nvSpPr>
          <p:cNvPr id="13" name="Text 11"/>
          <p:cNvSpPr/>
          <p:nvPr/>
        </p:nvSpPr>
        <p:spPr>
          <a:xfrm>
            <a:off x="5074920" y="2148840"/>
            <a:ext cx="3291840" cy="36576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Fast move-in ready</a:t>
            </a:r>
            <a:endParaRPr lang="en-US" sz="1100" dirty="0"/>
          </a:p>
        </p:txBody>
      </p:sp>
      <p:sp>
        <p:nvSpPr>
          <p:cNvPr id="14" name="Text 12"/>
          <p:cNvSpPr/>
          <p:nvPr/>
        </p:nvSpPr>
        <p:spPr>
          <a:xfrm>
            <a:off x="5074920" y="2560320"/>
            <a:ext cx="3291840" cy="36576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Central location for convenience</a:t>
            </a:r>
            <a:endParaRPr lang="en-US" sz="1100" dirty="0"/>
          </a:p>
        </p:txBody>
      </p:sp>
      <p:sp>
        <p:nvSpPr>
          <p:cNvPr id="15" name="Text 13"/>
          <p:cNvSpPr/>
          <p:nvPr/>
        </p:nvSpPr>
        <p:spPr>
          <a:xfrm>
            <a:off x="5074920" y="2926080"/>
            <a:ext cx="3291840" cy="36576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Recently renovated preferred</a:t>
            </a:r>
            <a:endParaRPr lang="en-US" sz="1100" dirty="0"/>
          </a:p>
        </p:txBody>
      </p:sp>
      <p:sp>
        <p:nvSpPr>
          <p:cNvPr id="16" name="Text 14"/>
          <p:cNvSpPr/>
          <p:nvPr/>
        </p:nvSpPr>
        <p:spPr>
          <a:xfrm>
            <a:off x="5074920" y="3291840"/>
            <a:ext cx="3291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Modern updates &amp; finishes</a:t>
            </a:r>
            <a:endParaRPr lang="en-US" sz="1100" dirty="0"/>
          </a:p>
        </p:txBody>
      </p:sp>
      <p:sp>
        <p:nvSpPr>
          <p:cNvPr id="17" name="Shape 15"/>
          <p:cNvSpPr/>
          <p:nvPr/>
        </p:nvSpPr>
        <p:spPr>
          <a:xfrm>
            <a:off x="457200" y="3840480"/>
            <a:ext cx="8229600" cy="868680"/>
          </a:xfrm>
          <a:prstGeom prst="rect">
            <a:avLst/>
          </a:prstGeom>
          <a:solidFill>
            <a:srgbClr val="F3F4F6"/>
          </a:solidFill>
          <a:ln w="25400">
            <a:solidFill>
              <a:srgbClr val="0D9488"/>
            </a:solidFill>
            <a:prstDash val="solid"/>
          </a:ln>
        </p:spPr>
      </p:sp>
      <p:sp>
        <p:nvSpPr>
          <p:cNvPr id="18" name="Text 16"/>
          <p:cNvSpPr/>
          <p:nvPr/>
        </p:nvSpPr>
        <p:spPr>
          <a:xfrm>
            <a:off x="640080" y="3977640"/>
            <a:ext cx="7863840" cy="59436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Both properties should be reasonably close for convenient access between country retreat and city residence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H1: Non-Renovated vs Renovated Pricing</a:t>
            </a:r>
            <a:endParaRPr lang="en-US" sz="4000" dirty="0"/>
          </a:p>
        </p:txBody>
      </p:sp>
      <p:sp>
        <p:nvSpPr>
          <p:cNvPr id="3" name="Text 1"/>
          <p:cNvSpPr/>
          <p:nvPr/>
        </p:nvSpPr>
        <p:spPr>
          <a:xfrm>
            <a:off x="457200" y="914400"/>
            <a:ext cx="822960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Research Question:</a:t>
            </a:r>
            <a:endParaRPr lang="en-US" sz="1400" dirty="0"/>
          </a:p>
        </p:txBody>
      </p:sp>
      <p:sp>
        <p:nvSpPr>
          <p:cNvPr id="4" name="Shape 2"/>
          <p:cNvSpPr/>
          <p:nvPr/>
        </p:nvSpPr>
        <p:spPr>
          <a:xfrm>
            <a:off x="457200" y="1280160"/>
            <a:ext cx="8229600" cy="914400"/>
          </a:xfrm>
          <a:prstGeom prst="rect">
            <a:avLst/>
          </a:prstGeom>
          <a:solidFill>
            <a:srgbClr val="F3F4F6"/>
          </a:solidFill>
          <a:ln w="25400">
            <a:solidFill>
              <a:srgbClr val="3B82F6"/>
            </a:solidFill>
            <a:prstDash val="solid"/>
          </a:ln>
        </p:spPr>
      </p:sp>
      <p:sp>
        <p:nvSpPr>
          <p:cNvPr id="5" name="Text 3"/>
          <p:cNvSpPr/>
          <p:nvPr/>
        </p:nvSpPr>
        <p:spPr>
          <a:xfrm>
            <a:off x="640080" y="1417320"/>
            <a:ext cx="7863840" cy="685800"/>
          </a:xfrm>
          <a:prstGeom prst="rect">
            <a:avLst/>
          </a:prstGeom>
          <a:noFill/>
          <a:ln/>
        </p:spPr>
        <p:txBody>
          <a:bodyPr wrap="square" rtlCol="0" anchor="ctr"/>
          <a:lstStyle/>
          <a:p>
            <a:pPr algn="ctr" indent="0" marL="0">
              <a:buNone/>
            </a:pPr>
            <a:r>
              <a:rPr lang="en-US" sz="1600" dirty="0">
                <a:solidFill>
                  <a:srgbClr val="374151"/>
                </a:solidFill>
                <a:latin typeface="Calibri" pitchFamily="34" charset="0"/>
                <a:ea typeface="Calibri" pitchFamily="34" charset="-122"/>
                <a:cs typeface="Calibri" pitchFamily="34" charset="-120"/>
              </a:rPr>
              <a:t>Non-renovated houses (yr_renovated = 0) are on average cheaper than renovated houses of comparable size and location</a:t>
            </a:r>
            <a:endParaRPr lang="en-US" sz="1600" dirty="0"/>
          </a:p>
        </p:txBody>
      </p:sp>
      <p:sp>
        <p:nvSpPr>
          <p:cNvPr id="6" name="Text 4"/>
          <p:cNvSpPr/>
          <p:nvPr/>
        </p:nvSpPr>
        <p:spPr>
          <a:xfrm>
            <a:off x="457200" y="2423160"/>
            <a:ext cx="822960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Analysis Focus:</a:t>
            </a:r>
            <a:endParaRPr lang="en-US" sz="1400" dirty="0"/>
          </a:p>
        </p:txBody>
      </p:sp>
      <p:sp>
        <p:nvSpPr>
          <p:cNvPr id="7" name="Text 5"/>
          <p:cNvSpPr/>
          <p:nvPr/>
        </p:nvSpPr>
        <p:spPr>
          <a:xfrm>
            <a:off x="640080" y="2743200"/>
            <a:ext cx="3931920" cy="27432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Data Variables:</a:t>
            </a:r>
            <a:endParaRPr lang="en-US" sz="1200" dirty="0"/>
          </a:p>
        </p:txBody>
      </p:sp>
      <p:sp>
        <p:nvSpPr>
          <p:cNvPr id="8" name="Text 6"/>
          <p:cNvSpPr/>
          <p:nvPr/>
        </p:nvSpPr>
        <p:spPr>
          <a:xfrm>
            <a:off x="777240" y="3063240"/>
            <a:ext cx="3749040" cy="2743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price</a:t>
            </a:r>
            <a:endParaRPr lang="en-US" sz="1100" dirty="0"/>
          </a:p>
        </p:txBody>
      </p:sp>
      <p:sp>
        <p:nvSpPr>
          <p:cNvPr id="9" name="Text 7"/>
          <p:cNvSpPr/>
          <p:nvPr/>
        </p:nvSpPr>
        <p:spPr>
          <a:xfrm>
            <a:off x="777240" y="3383280"/>
            <a:ext cx="3749040" cy="2743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yr_renovated (0 = non-renovated)</a:t>
            </a:r>
            <a:endParaRPr lang="en-US" sz="1100" dirty="0"/>
          </a:p>
        </p:txBody>
      </p:sp>
      <p:sp>
        <p:nvSpPr>
          <p:cNvPr id="10" name="Text 8"/>
          <p:cNvSpPr/>
          <p:nvPr/>
        </p:nvSpPr>
        <p:spPr>
          <a:xfrm>
            <a:off x="777240" y="3703320"/>
            <a:ext cx="3749040" cy="2743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sqft_living (size)</a:t>
            </a:r>
            <a:endParaRPr lang="en-US" sz="1100" dirty="0"/>
          </a:p>
        </p:txBody>
      </p:sp>
      <p:sp>
        <p:nvSpPr>
          <p:cNvPr id="11" name="Text 9"/>
          <p:cNvSpPr/>
          <p:nvPr/>
        </p:nvSpPr>
        <p:spPr>
          <a:xfrm>
            <a:off x="4754880" y="2743200"/>
            <a:ext cx="3931920" cy="27432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Comparison Method:</a:t>
            </a:r>
            <a:endParaRPr lang="en-US" sz="1200" dirty="0"/>
          </a:p>
        </p:txBody>
      </p:sp>
      <p:sp>
        <p:nvSpPr>
          <p:cNvPr id="12" name="Text 10"/>
          <p:cNvSpPr/>
          <p:nvPr/>
        </p:nvSpPr>
        <p:spPr>
          <a:xfrm>
            <a:off x="4892040" y="3063240"/>
            <a:ext cx="3749040" cy="2743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Compare median prices</a:t>
            </a:r>
            <a:endParaRPr lang="en-US" sz="1100" dirty="0"/>
          </a:p>
        </p:txBody>
      </p:sp>
      <p:sp>
        <p:nvSpPr>
          <p:cNvPr id="13" name="Text 11"/>
          <p:cNvSpPr/>
          <p:nvPr/>
        </p:nvSpPr>
        <p:spPr>
          <a:xfrm>
            <a:off x="4892040" y="3383280"/>
            <a:ext cx="3749040" cy="2743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Keep size similar</a:t>
            </a:r>
            <a:endParaRPr lang="en-US" sz="1100" dirty="0"/>
          </a:p>
        </p:txBody>
      </p:sp>
      <p:sp>
        <p:nvSpPr>
          <p:cNvPr id="14" name="Text 12"/>
          <p:cNvSpPr/>
          <p:nvPr/>
        </p:nvSpPr>
        <p:spPr>
          <a:xfrm>
            <a:off x="4892040" y="3703320"/>
            <a:ext cx="3749040" cy="2743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Keep location (zipcode) similar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Geographic Classification</a:t>
            </a:r>
            <a:endParaRPr lang="en-US" sz="4000" dirty="0"/>
          </a:p>
        </p:txBody>
      </p:sp>
      <p:sp>
        <p:nvSpPr>
          <p:cNvPr id="3" name="Text 1"/>
          <p:cNvSpPr/>
          <p:nvPr/>
        </p:nvSpPr>
        <p:spPr>
          <a:xfrm>
            <a:off x="457200" y="777240"/>
            <a:ext cx="8229600" cy="320040"/>
          </a:xfrm>
          <a:prstGeom prst="rect">
            <a:avLst/>
          </a:prstGeom>
          <a:noFill/>
          <a:ln/>
        </p:spPr>
        <p:txBody>
          <a:bodyPr wrap="square" rtlCol="0" anchor="ctr"/>
          <a:lstStyle/>
          <a:p>
            <a:pPr indent="0" marL="0">
              <a:buNone/>
            </a:pPr>
            <a:r>
              <a:rPr lang="en-US" sz="1800" i="1" dirty="0">
                <a:solidFill>
                  <a:srgbClr val="0D9488"/>
                </a:solidFill>
                <a:latin typeface="Calibri" pitchFamily="34" charset="0"/>
                <a:ea typeface="Calibri" pitchFamily="34" charset="-122"/>
                <a:cs typeface="Calibri" pitchFamily="34" charset="-120"/>
              </a:rPr>
              <a:t>How Urban vs Rural Were Identified</a:t>
            </a:r>
            <a:endParaRPr lang="en-US" sz="1800" dirty="0"/>
          </a:p>
        </p:txBody>
      </p:sp>
      <p:sp>
        <p:nvSpPr>
          <p:cNvPr id="4" name="Text 2"/>
          <p:cNvSpPr/>
          <p:nvPr/>
        </p:nvSpPr>
        <p:spPr>
          <a:xfrm>
            <a:off x="457200" y="1234440"/>
            <a:ext cx="4114800" cy="32004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Initial Approach (Exploratory)</a:t>
            </a:r>
            <a:endParaRPr lang="en-US" sz="1400" dirty="0"/>
          </a:p>
        </p:txBody>
      </p:sp>
      <p:sp>
        <p:nvSpPr>
          <p:cNvPr id="5" name="Text 3"/>
          <p:cNvSpPr/>
          <p:nvPr/>
        </p:nvSpPr>
        <p:spPr>
          <a:xfrm>
            <a:off x="548640" y="1645920"/>
            <a:ext cx="3931920" cy="7315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Economic Proxy Method with 3 pre-identified rural zip codes (98038, 98042, 98023)</a:t>
            </a:r>
            <a:endParaRPr lang="en-US" sz="1100" dirty="0"/>
          </a:p>
        </p:txBody>
      </p:sp>
      <p:sp>
        <p:nvSpPr>
          <p:cNvPr id="6" name="Text 4"/>
          <p:cNvSpPr/>
          <p:nvPr/>
        </p:nvSpPr>
        <p:spPr>
          <a:xfrm>
            <a:off x="5029200" y="1234440"/>
            <a:ext cx="3657600" cy="32004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Refined Approach (Data-Driven)</a:t>
            </a:r>
            <a:endParaRPr lang="en-US" sz="1400" dirty="0"/>
          </a:p>
        </p:txBody>
      </p:sp>
      <p:sp>
        <p:nvSpPr>
          <p:cNvPr id="7" name="Text 5"/>
          <p:cNvSpPr/>
          <p:nvPr/>
        </p:nvSpPr>
        <p:spPr>
          <a:xfrm>
            <a:off x="5120640" y="1645920"/>
            <a:ext cx="3474720" cy="7315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Comprehensive analysis of ALL zip codes using price and lot size patterns</a:t>
            </a:r>
            <a:endParaRPr lang="en-US" sz="1100" dirty="0"/>
          </a:p>
        </p:txBody>
      </p:sp>
      <p:sp>
        <p:nvSpPr>
          <p:cNvPr id="8" name="Text 6"/>
          <p:cNvSpPr/>
          <p:nvPr/>
        </p:nvSpPr>
        <p:spPr>
          <a:xfrm>
            <a:off x="457200" y="2514600"/>
            <a:ext cx="822960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Refined Approach Steps:</a:t>
            </a:r>
            <a:endParaRPr lang="en-US" sz="1300" dirty="0"/>
          </a:p>
        </p:txBody>
      </p:sp>
      <p:sp>
        <p:nvSpPr>
          <p:cNvPr id="9" name="Text 7"/>
          <p:cNvSpPr/>
          <p:nvPr/>
        </p:nvSpPr>
        <p:spPr>
          <a:xfrm>
            <a:off x="640080" y="283464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1. List all ~80+ zip codes in dataset</a:t>
            </a:r>
            <a:endParaRPr lang="en-US" sz="1100" dirty="0"/>
          </a:p>
        </p:txBody>
      </p:sp>
      <p:sp>
        <p:nvSpPr>
          <p:cNvPr id="10" name="Text 8"/>
          <p:cNvSpPr/>
          <p:nvPr/>
        </p:nvSpPr>
        <p:spPr>
          <a:xfrm>
            <a:off x="640080" y="315468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2. Analyze each: avg price, lot size, living space</a:t>
            </a:r>
            <a:endParaRPr lang="en-US" sz="1100" dirty="0"/>
          </a:p>
        </p:txBody>
      </p:sp>
      <p:sp>
        <p:nvSpPr>
          <p:cNvPr id="11" name="Text 9"/>
          <p:cNvSpPr/>
          <p:nvPr/>
        </p:nvSpPr>
        <p:spPr>
          <a:xfrm>
            <a:off x="640080" y="347472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3. Identify patterns: High price/small lot = URBAN</a:t>
            </a:r>
            <a:endParaRPr lang="en-US" sz="1100" dirty="0"/>
          </a:p>
        </p:txBody>
      </p:sp>
      <p:sp>
        <p:nvSpPr>
          <p:cNvPr id="12" name="Text 10"/>
          <p:cNvSpPr/>
          <p:nvPr/>
        </p:nvSpPr>
        <p:spPr>
          <a:xfrm>
            <a:off x="640080" y="379476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4. Create thresholds: ~$550K+ or &lt;7,500 sq ft lot = URBAN</a:t>
            </a:r>
            <a:endParaRPr lang="en-US" sz="1100" dirty="0"/>
          </a:p>
        </p:txBody>
      </p:sp>
      <p:sp>
        <p:nvSpPr>
          <p:cNvPr id="13" name="Text 11"/>
          <p:cNvSpPr/>
          <p:nvPr/>
        </p:nvSpPr>
        <p:spPr>
          <a:xfrm>
            <a:off x="640080" y="411480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5. Classify remaining as RURAL</a:t>
            </a:r>
            <a:endParaRPr lang="en-US" sz="1100" dirty="0"/>
          </a:p>
        </p:txBody>
      </p:sp>
      <p:sp>
        <p:nvSpPr>
          <p:cNvPr id="14" name="Shape 12"/>
          <p:cNvSpPr/>
          <p:nvPr/>
        </p:nvSpPr>
        <p:spPr>
          <a:xfrm>
            <a:off x="457200" y="4480560"/>
            <a:ext cx="8229600" cy="548640"/>
          </a:xfrm>
          <a:prstGeom prst="rect">
            <a:avLst/>
          </a:prstGeom>
          <a:solidFill>
            <a:srgbClr val="F3F4F6"/>
          </a:solidFill>
          <a:ln w="25400">
            <a:solidFill>
              <a:srgbClr val="0D9488"/>
            </a:solidFill>
            <a:prstDash val="solid"/>
          </a:ln>
        </p:spPr>
      </p:sp>
      <p:sp>
        <p:nvSpPr>
          <p:cNvPr id="15" name="Text 13"/>
          <p:cNvSpPr/>
          <p:nvPr/>
        </p:nvSpPr>
        <p:spPr>
          <a:xfrm>
            <a:off x="640080" y="4526280"/>
            <a:ext cx="7863840" cy="45720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Result: Data-driven classification eliminates bias and identifies all geographic patterns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H1: Renovation Price Premium</a:t>
            </a:r>
            <a:endParaRPr lang="en-US" sz="4000" dirty="0"/>
          </a:p>
        </p:txBody>
      </p:sp>
      <p:sp>
        <p:nvSpPr>
          <p:cNvPr id="3" name="Shape 1"/>
          <p:cNvSpPr/>
          <p:nvPr/>
        </p:nvSpPr>
        <p:spPr>
          <a:xfrm>
            <a:off x="457200" y="1097280"/>
            <a:ext cx="8229600" cy="1097280"/>
          </a:xfrm>
          <a:prstGeom prst="rect">
            <a:avLst/>
          </a:prstGeom>
          <a:solidFill>
            <a:srgbClr val="F3F4F6"/>
          </a:solidFill>
          <a:ln w="25400">
            <a:solidFill>
              <a:srgbClr val="3B82F6"/>
            </a:solidFill>
            <a:prstDash val="solid"/>
          </a:ln>
        </p:spPr>
      </p:sp>
      <p:sp>
        <p:nvSpPr>
          <p:cNvPr id="4" name="Text 2"/>
          <p:cNvSpPr/>
          <p:nvPr/>
        </p:nvSpPr>
        <p:spPr>
          <a:xfrm>
            <a:off x="640080" y="1280160"/>
            <a:ext cx="7863840" cy="731520"/>
          </a:xfrm>
          <a:prstGeom prst="rect">
            <a:avLst/>
          </a:prstGeom>
          <a:noFill/>
          <a:ln/>
        </p:spPr>
        <p:txBody>
          <a:bodyPr wrap="square" rtlCol="0" anchor="ctr"/>
          <a:lstStyle/>
          <a:p>
            <a:pPr algn="ctr" indent="0" marL="0">
              <a:buNone/>
            </a:pPr>
            <a:r>
              <a:rPr lang="en-US" sz="1800" dirty="0">
                <a:solidFill>
                  <a:srgbClr val="374151"/>
                </a:solidFill>
                <a:latin typeface="Calibri" pitchFamily="34" charset="0"/>
                <a:ea typeface="Calibri" pitchFamily="34" charset="-122"/>
                <a:cs typeface="Calibri" pitchFamily="34" charset="-120"/>
              </a:rPr>
              <a:t>Do renovated houses in the same area with similar square footage command higher prices than non-renovated houses?</a:t>
            </a:r>
            <a:endParaRPr lang="en-US" sz="1800" dirty="0"/>
          </a:p>
        </p:txBody>
      </p:sp>
      <p:sp>
        <p:nvSpPr>
          <p:cNvPr id="5" name="Text 3"/>
          <p:cNvSpPr/>
          <p:nvPr/>
        </p:nvSpPr>
        <p:spPr>
          <a:xfrm>
            <a:off x="457200" y="2468880"/>
            <a:ext cx="411480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Controlled Variables:</a:t>
            </a:r>
            <a:endParaRPr lang="en-US" sz="1600" dirty="0"/>
          </a:p>
        </p:txBody>
      </p:sp>
      <p:sp>
        <p:nvSpPr>
          <p:cNvPr id="6" name="Text 4"/>
          <p:cNvSpPr/>
          <p:nvPr/>
        </p:nvSpPr>
        <p:spPr>
          <a:xfrm>
            <a:off x="640080" y="2880360"/>
            <a:ext cx="365760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Geographic Location</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(Urban vs Rural Areas)</a:t>
            </a:r>
            <a:endParaRPr lang="en-US" sz="1300" dirty="0"/>
          </a:p>
        </p:txBody>
      </p:sp>
      <p:sp>
        <p:nvSpPr>
          <p:cNvPr id="7" name="Text 5"/>
          <p:cNvSpPr/>
          <p:nvPr/>
        </p:nvSpPr>
        <p:spPr>
          <a:xfrm>
            <a:off x="640080" y="3520440"/>
            <a:ext cx="365760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Property Size</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(Comparable Square Footage)</a:t>
            </a:r>
            <a:endParaRPr lang="en-US" sz="1300" dirty="0"/>
          </a:p>
        </p:txBody>
      </p:sp>
      <p:sp>
        <p:nvSpPr>
          <p:cNvPr id="8" name="Text 6"/>
          <p:cNvSpPr/>
          <p:nvPr/>
        </p:nvSpPr>
        <p:spPr>
          <a:xfrm>
            <a:off x="4754880" y="2468880"/>
            <a:ext cx="393192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Comparison Groups:</a:t>
            </a:r>
            <a:endParaRPr lang="en-US" sz="1600" dirty="0"/>
          </a:p>
        </p:txBody>
      </p:sp>
      <p:sp>
        <p:nvSpPr>
          <p:cNvPr id="9" name="Text 7"/>
          <p:cNvSpPr/>
          <p:nvPr/>
        </p:nvSpPr>
        <p:spPr>
          <a:xfrm>
            <a:off x="4937760" y="2880360"/>
            <a:ext cx="347472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Renovated Houses</a:t>
            </a:r>
            <a:endParaRPr lang="en-US" sz="1300" dirty="0"/>
          </a:p>
        </p:txBody>
      </p:sp>
      <p:sp>
        <p:nvSpPr>
          <p:cNvPr id="10" name="Text 8"/>
          <p:cNvSpPr/>
          <p:nvPr/>
        </p:nvSpPr>
        <p:spPr>
          <a:xfrm>
            <a:off x="4937760" y="3520440"/>
            <a:ext cx="347472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Non-Renovated Houses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Analysis Methodology</a:t>
            </a:r>
            <a:endParaRPr lang="en-US" sz="4000" dirty="0"/>
          </a:p>
        </p:txBody>
      </p:sp>
      <p:sp>
        <p:nvSpPr>
          <p:cNvPr id="3" name="Shape 1"/>
          <p:cNvSpPr/>
          <p:nvPr/>
        </p:nvSpPr>
        <p:spPr>
          <a:xfrm>
            <a:off x="548640" y="1280160"/>
            <a:ext cx="1828800" cy="1645920"/>
          </a:xfrm>
          <a:prstGeom prst="rect">
            <a:avLst/>
          </a:prstGeom>
          <a:solidFill>
            <a:srgbClr val="3B82F6"/>
          </a:solidFill>
          <a:ln w="12700">
            <a:solidFill>
              <a:srgbClr val="1E3A8A"/>
            </a:solidFill>
            <a:prstDash val="solid"/>
          </a:ln>
        </p:spPr>
      </p:sp>
      <p:sp>
        <p:nvSpPr>
          <p:cNvPr id="4" name="Text 2"/>
          <p:cNvSpPr/>
          <p:nvPr/>
        </p:nvSpPr>
        <p:spPr>
          <a:xfrm>
            <a:off x="54864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EXPLORATION</a:t>
            </a:r>
            <a:endParaRPr lang="en-US" sz="1100" dirty="0"/>
          </a:p>
        </p:txBody>
      </p:sp>
      <p:sp>
        <p:nvSpPr>
          <p:cNvPr id="5" name="Text 3"/>
          <p:cNvSpPr/>
          <p:nvPr/>
        </p:nvSpPr>
        <p:spPr>
          <a:xfrm>
            <a:off x="64008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Understand dataset</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structure and</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geographic patterns</a:t>
            </a:r>
            <a:endParaRPr lang="en-US" sz="900" dirty="0"/>
          </a:p>
        </p:txBody>
      </p:sp>
      <p:sp>
        <p:nvSpPr>
          <p:cNvPr id="6" name="Shape 4"/>
          <p:cNvSpPr/>
          <p:nvPr/>
        </p:nvSpPr>
        <p:spPr>
          <a:xfrm>
            <a:off x="2560320" y="1280160"/>
            <a:ext cx="1828800" cy="1645920"/>
          </a:xfrm>
          <a:prstGeom prst="rect">
            <a:avLst/>
          </a:prstGeom>
          <a:solidFill>
            <a:srgbClr val="F59E0B"/>
          </a:solidFill>
          <a:ln w="12700">
            <a:solidFill>
              <a:srgbClr val="1E3A8A"/>
            </a:solidFill>
            <a:prstDash val="solid"/>
          </a:ln>
        </p:spPr>
      </p:sp>
      <p:sp>
        <p:nvSpPr>
          <p:cNvPr id="7" name="Text 5"/>
          <p:cNvSpPr/>
          <p:nvPr/>
        </p:nvSpPr>
        <p:spPr>
          <a:xfrm>
            <a:off x="256032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GEOGRAPHIC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SEGMENTATION</a:t>
            </a:r>
            <a:endParaRPr lang="en-US" sz="1100" dirty="0"/>
          </a:p>
        </p:txBody>
      </p:sp>
      <p:sp>
        <p:nvSpPr>
          <p:cNvPr id="8" name="Text 6"/>
          <p:cNvSpPr/>
          <p:nvPr/>
        </p:nvSpPr>
        <p:spPr>
          <a:xfrm>
            <a:off x="265176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Classify zip codes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into urban vs rural</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areas</a:t>
            </a:r>
            <a:endParaRPr lang="en-US" sz="900" dirty="0"/>
          </a:p>
        </p:txBody>
      </p:sp>
      <p:sp>
        <p:nvSpPr>
          <p:cNvPr id="9" name="Shape 7"/>
          <p:cNvSpPr/>
          <p:nvPr/>
        </p:nvSpPr>
        <p:spPr>
          <a:xfrm>
            <a:off x="4572000" y="1280160"/>
            <a:ext cx="1828800" cy="1645920"/>
          </a:xfrm>
          <a:prstGeom prst="rect">
            <a:avLst/>
          </a:prstGeom>
          <a:solidFill>
            <a:srgbClr val="3B82F6"/>
          </a:solidFill>
          <a:ln w="12700">
            <a:solidFill>
              <a:srgbClr val="1E3A8A"/>
            </a:solidFill>
            <a:prstDash val="solid"/>
          </a:ln>
        </p:spPr>
      </p:sp>
      <p:sp>
        <p:nvSpPr>
          <p:cNvPr id="10" name="Text 8"/>
          <p:cNvSpPr/>
          <p:nvPr/>
        </p:nvSpPr>
        <p:spPr>
          <a:xfrm>
            <a:off x="457200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NORMALIZATION</a:t>
            </a:r>
            <a:endParaRPr lang="en-US" sz="1100" dirty="0"/>
          </a:p>
        </p:txBody>
      </p:sp>
      <p:sp>
        <p:nvSpPr>
          <p:cNvPr id="11" name="Text 9"/>
          <p:cNvSpPr/>
          <p:nvPr/>
        </p:nvSpPr>
        <p:spPr>
          <a:xfrm>
            <a:off x="466344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Group houses by</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square footage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ranges</a:t>
            </a:r>
            <a:endParaRPr lang="en-US" sz="900" dirty="0"/>
          </a:p>
        </p:txBody>
      </p:sp>
      <p:sp>
        <p:nvSpPr>
          <p:cNvPr id="12" name="Shape 10"/>
          <p:cNvSpPr/>
          <p:nvPr/>
        </p:nvSpPr>
        <p:spPr>
          <a:xfrm>
            <a:off x="6583680" y="1280160"/>
            <a:ext cx="1828800" cy="1645920"/>
          </a:xfrm>
          <a:prstGeom prst="rect">
            <a:avLst/>
          </a:prstGeom>
          <a:solidFill>
            <a:srgbClr val="F59E0B"/>
          </a:solidFill>
          <a:ln w="12700">
            <a:solidFill>
              <a:srgbClr val="1E3A8A"/>
            </a:solidFill>
            <a:prstDash val="solid"/>
          </a:ln>
        </p:spPr>
      </p:sp>
      <p:sp>
        <p:nvSpPr>
          <p:cNvPr id="13" name="Text 11"/>
          <p:cNvSpPr/>
          <p:nvPr/>
        </p:nvSpPr>
        <p:spPr>
          <a:xfrm>
            <a:off x="658368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PRICE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COMPARISON</a:t>
            </a:r>
            <a:endParaRPr lang="en-US" sz="1100" dirty="0"/>
          </a:p>
        </p:txBody>
      </p:sp>
      <p:sp>
        <p:nvSpPr>
          <p:cNvPr id="14" name="Text 12"/>
          <p:cNvSpPr/>
          <p:nvPr/>
        </p:nvSpPr>
        <p:spPr>
          <a:xfrm>
            <a:off x="667512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Analyze renovation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premium across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categories</a:t>
            </a:r>
            <a:endParaRPr lang="en-US" sz="900" dirty="0"/>
          </a:p>
        </p:txBody>
      </p:sp>
      <p:sp>
        <p:nvSpPr>
          <p:cNvPr id="15" name="Shape 13"/>
          <p:cNvSpPr/>
          <p:nvPr/>
        </p:nvSpPr>
        <p:spPr>
          <a:xfrm>
            <a:off x="457200" y="3200400"/>
            <a:ext cx="8229600" cy="1645920"/>
          </a:xfrm>
          <a:prstGeom prst="rect">
            <a:avLst/>
          </a:prstGeom>
          <a:solidFill>
            <a:srgbClr val="F3F4F6"/>
          </a:solidFill>
          <a:ln w="25400">
            <a:solidFill>
              <a:srgbClr val="F59E0B"/>
            </a:solidFill>
            <a:prstDash val="solid"/>
          </a:ln>
        </p:spPr>
      </p:sp>
      <p:sp>
        <p:nvSpPr>
          <p:cNvPr id="16" name="Text 14"/>
          <p:cNvSpPr/>
          <p:nvPr/>
        </p:nvSpPr>
        <p:spPr>
          <a:xfrm>
            <a:off x="640080" y="3383280"/>
            <a:ext cx="786384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Key Finding: 15-25% Price Premium</a:t>
            </a:r>
            <a:endParaRPr lang="en-US" sz="1600" dirty="0"/>
          </a:p>
        </p:txBody>
      </p:sp>
      <p:sp>
        <p:nvSpPr>
          <p:cNvPr id="17" name="Text 15"/>
          <p:cNvSpPr/>
          <p:nvPr/>
        </p:nvSpPr>
        <p:spPr>
          <a:xfrm>
            <a:off x="640080" y="3794760"/>
            <a:ext cx="7863840" cy="91440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Renovated homes command consistent price premiums across all property sizes when comparing properties in similar areas with comparable square footage.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Geographic Segmentation Details</a:t>
            </a:r>
            <a:endParaRPr lang="en-US" sz="4000" dirty="0"/>
          </a:p>
        </p:txBody>
      </p:sp>
      <p:sp>
        <p:nvSpPr>
          <p:cNvPr id="3" name="Shape 1"/>
          <p:cNvSpPr/>
          <p:nvPr/>
        </p:nvSpPr>
        <p:spPr>
          <a:xfrm>
            <a:off x="457200" y="1005840"/>
            <a:ext cx="4114800" cy="1645920"/>
          </a:xfrm>
          <a:prstGeom prst="rect">
            <a:avLst/>
          </a:prstGeom>
          <a:solidFill>
            <a:srgbClr val="3B82F6"/>
          </a:solidFill>
          <a:ln w="25400">
            <a:solidFill>
              <a:srgbClr val="1E3A8A"/>
            </a:solidFill>
            <a:prstDash val="solid"/>
          </a:ln>
        </p:spPr>
      </p:sp>
      <p:sp>
        <p:nvSpPr>
          <p:cNvPr id="4" name="Text 2"/>
          <p:cNvSpPr/>
          <p:nvPr/>
        </p:nvSpPr>
        <p:spPr>
          <a:xfrm>
            <a:off x="594360" y="1143000"/>
            <a:ext cx="38404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Rural Zip Codes</a:t>
            </a:r>
            <a:endParaRPr lang="en-US" sz="1400" dirty="0"/>
          </a:p>
        </p:txBody>
      </p:sp>
      <p:sp>
        <p:nvSpPr>
          <p:cNvPr id="5" name="Text 3"/>
          <p:cNvSpPr/>
          <p:nvPr/>
        </p:nvSpPr>
        <p:spPr>
          <a:xfrm>
            <a:off x="685800" y="1554480"/>
            <a:ext cx="3749040" cy="914400"/>
          </a:xfrm>
          <a:prstGeom prst="rect">
            <a:avLst/>
          </a:prstGeom>
          <a:noFill/>
          <a:ln/>
        </p:spPr>
        <p:txBody>
          <a:bodyPr wrap="square" rtlCol="0" anchor="ct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98038 (Covington)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98042 (Maple Valley)</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98023 (Kent)</a:t>
            </a:r>
            <a:endParaRPr lang="en-US" sz="1200" dirty="0"/>
          </a:p>
        </p:txBody>
      </p:sp>
      <p:sp>
        <p:nvSpPr>
          <p:cNvPr id="6" name="Text 4"/>
          <p:cNvSpPr/>
          <p:nvPr/>
        </p:nvSpPr>
        <p:spPr>
          <a:xfrm>
            <a:off x="685800" y="2377440"/>
            <a:ext cx="3749040" cy="548640"/>
          </a:xfrm>
          <a:prstGeom prst="rect">
            <a:avLst/>
          </a:prstGeom>
          <a:noFill/>
          <a:ln/>
        </p:spPr>
        <p:txBody>
          <a:bodyPr wrap="square" rtlCol="0" anchor="ctr"/>
          <a:lstStyle/>
          <a:p>
            <a:pPr indent="0" marL="0">
              <a:buNone/>
            </a:pPr>
            <a:r>
              <a:rPr lang="en-US" sz="1000" i="1" dirty="0">
                <a:solidFill>
                  <a:srgbClr val="F3F4F6"/>
                </a:solidFill>
                <a:latin typeface="Calibri" pitchFamily="34" charset="0"/>
                <a:ea typeface="Calibri" pitchFamily="34" charset="-122"/>
                <a:cs typeface="Calibri" pitchFamily="34" charset="-120"/>
              </a:rPr>
              <a:t>Price: $300K-$450K</a:t>
            </a:r>
            <a:endParaRPr lang="en-US" sz="1000" dirty="0"/>
          </a:p>
          <a:p>
            <a:pPr indent="0" marL="0">
              <a:buNone/>
            </a:pPr>
            <a:r>
              <a:rPr lang="en-US" sz="1000" i="1" dirty="0">
                <a:solidFill>
                  <a:srgbClr val="F3F4F6"/>
                </a:solidFill>
                <a:latin typeface="Calibri" pitchFamily="34" charset="0"/>
                <a:ea typeface="Calibri" pitchFamily="34" charset="-122"/>
                <a:cs typeface="Calibri" pitchFamily="34" charset="-120"/>
              </a:rPr>
              <a:t>Avg Lot: 10K-15K+ sq ft</a:t>
            </a:r>
            <a:endParaRPr lang="en-US" sz="1000" dirty="0"/>
          </a:p>
        </p:txBody>
      </p:sp>
      <p:sp>
        <p:nvSpPr>
          <p:cNvPr id="7" name="Shape 5"/>
          <p:cNvSpPr/>
          <p:nvPr/>
        </p:nvSpPr>
        <p:spPr>
          <a:xfrm>
            <a:off x="4754880" y="1005840"/>
            <a:ext cx="3931920" cy="1645920"/>
          </a:xfrm>
          <a:prstGeom prst="rect">
            <a:avLst/>
          </a:prstGeom>
          <a:solidFill>
            <a:srgbClr val="F59E0B"/>
          </a:solidFill>
          <a:ln w="25400">
            <a:solidFill>
              <a:srgbClr val="1E3A8A"/>
            </a:solidFill>
            <a:prstDash val="solid"/>
          </a:ln>
        </p:spPr>
      </p:sp>
      <p:sp>
        <p:nvSpPr>
          <p:cNvPr id="8" name="Text 6"/>
          <p:cNvSpPr/>
          <p:nvPr/>
        </p:nvSpPr>
        <p:spPr>
          <a:xfrm>
            <a:off x="4892040" y="1143000"/>
            <a:ext cx="3566160" cy="36576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Urban Zip Codes</a:t>
            </a:r>
            <a:endParaRPr lang="en-US" sz="1400" dirty="0"/>
          </a:p>
        </p:txBody>
      </p:sp>
      <p:sp>
        <p:nvSpPr>
          <p:cNvPr id="9" name="Text 7"/>
          <p:cNvSpPr/>
          <p:nvPr/>
        </p:nvSpPr>
        <p:spPr>
          <a:xfrm>
            <a:off x="4983480" y="1554480"/>
            <a:ext cx="3474720" cy="91440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Downtown Seattle</a:t>
            </a:r>
            <a:endParaRPr lang="en-US" sz="1200" dirty="0"/>
          </a:p>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Capitol Hill</a:t>
            </a:r>
            <a:endParaRPr lang="en-US" sz="1200" dirty="0"/>
          </a:p>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All other zip codes</a:t>
            </a:r>
            <a:endParaRPr lang="en-US" sz="1200" dirty="0"/>
          </a:p>
        </p:txBody>
      </p:sp>
      <p:sp>
        <p:nvSpPr>
          <p:cNvPr id="10" name="Text 8"/>
          <p:cNvSpPr/>
          <p:nvPr/>
        </p:nvSpPr>
        <p:spPr>
          <a:xfrm>
            <a:off x="4983480" y="2377440"/>
            <a:ext cx="3474720" cy="548640"/>
          </a:xfrm>
          <a:prstGeom prst="rect">
            <a:avLst/>
          </a:prstGeom>
          <a:noFill/>
          <a:ln/>
        </p:spPr>
        <p:txBody>
          <a:bodyPr wrap="square" rtlCol="0" anchor="ctr"/>
          <a:lstStyle/>
          <a:p>
            <a:pPr indent="0" marL="0">
              <a:buNone/>
            </a:pPr>
            <a:r>
              <a:rPr lang="en-US" sz="1000" i="1" dirty="0">
                <a:solidFill>
                  <a:srgbClr val="374151"/>
                </a:solidFill>
                <a:latin typeface="Calibri" pitchFamily="34" charset="0"/>
                <a:ea typeface="Calibri" pitchFamily="34" charset="-122"/>
                <a:cs typeface="Calibri" pitchFamily="34" charset="-120"/>
              </a:rPr>
              <a:t>Price: $600K-$1M+</a:t>
            </a:r>
            <a:endParaRPr lang="en-US" sz="1000" dirty="0"/>
          </a:p>
          <a:p>
            <a:pPr indent="0" marL="0">
              <a:buNone/>
            </a:pPr>
            <a:r>
              <a:rPr lang="en-US" sz="1000" i="1" dirty="0">
                <a:solidFill>
                  <a:srgbClr val="374151"/>
                </a:solidFill>
                <a:latin typeface="Calibri" pitchFamily="34" charset="0"/>
                <a:ea typeface="Calibri" pitchFamily="34" charset="-122"/>
                <a:cs typeface="Calibri" pitchFamily="34" charset="-120"/>
              </a:rPr>
              <a:t>Avg Lot: 5K-7K sq ft</a:t>
            </a:r>
            <a:endParaRPr lang="en-US" sz="1000" dirty="0"/>
          </a:p>
        </p:txBody>
      </p:sp>
      <p:sp>
        <p:nvSpPr>
          <p:cNvPr id="11" name="Text 9"/>
          <p:cNvSpPr/>
          <p:nvPr/>
        </p:nvSpPr>
        <p:spPr>
          <a:xfrm>
            <a:off x="457200" y="2926080"/>
            <a:ext cx="822960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Analysis Approach:</a:t>
            </a:r>
            <a:endParaRPr lang="en-US" sz="1400" dirty="0"/>
          </a:p>
        </p:txBody>
      </p:sp>
      <p:sp>
        <p:nvSpPr>
          <p:cNvPr id="12" name="Text 10"/>
          <p:cNvSpPr/>
          <p:nvPr/>
        </p:nvSpPr>
        <p:spPr>
          <a:xfrm>
            <a:off x="640080" y="3291840"/>
            <a:ext cx="7863840" cy="45720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Focused analysis on rural properties for more homogeneous comparisons with larger lot sizes</a:t>
            </a:r>
            <a:endParaRPr lang="en-US" sz="1200" dirty="0"/>
          </a:p>
        </p:txBody>
      </p:sp>
      <p:sp>
        <p:nvSpPr>
          <p:cNvPr id="13" name="Text 11"/>
          <p:cNvSpPr/>
          <p:nvPr/>
        </p:nvSpPr>
        <p:spPr>
          <a:xfrm>
            <a:off x="640080" y="3794760"/>
            <a:ext cx="7863840" cy="45720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Eliminates confounding variable of market sector differences between urban and rural</a:t>
            </a:r>
            <a:endParaRPr lang="en-US" sz="1200" dirty="0"/>
          </a:p>
        </p:txBody>
      </p:sp>
      <p:sp>
        <p:nvSpPr>
          <p:cNvPr id="14" name="Text 12"/>
          <p:cNvSpPr/>
          <p:nvPr/>
        </p:nvSpPr>
        <p:spPr>
          <a:xfrm>
            <a:off x="457200" y="4434840"/>
            <a:ext cx="8229600" cy="365760"/>
          </a:xfrm>
          <a:prstGeom prst="rect">
            <a:avLst/>
          </a:prstGeom>
          <a:noFill/>
          <a:ln/>
        </p:spPr>
        <p:txBody>
          <a:bodyPr wrap="square" rtlCol="0" anchor="ctr"/>
          <a:lstStyle/>
          <a:p>
            <a:pPr indent="0" marL="0">
              <a:buNone/>
            </a:pPr>
            <a:r>
              <a:rPr lang="en-US" sz="1100" i="1" dirty="0">
                <a:solidFill>
                  <a:srgbClr val="374151"/>
                </a:solidFill>
                <a:latin typeface="Calibri" pitchFamily="34" charset="0"/>
                <a:ea typeface="Calibri" pitchFamily="34" charset="-122"/>
                <a:cs typeface="Calibri" pitchFamily="34" charset="-120"/>
              </a:rPr>
              <a:t>Distribution: ~3,500 rural houses | ~16,900 urban houses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Price Comparison by Size Category</a:t>
            </a:r>
            <a:endParaRPr lang="en-US" sz="4000" dirty="0"/>
          </a:p>
        </p:txBody>
      </p:sp>
      <p:sp>
        <p:nvSpPr>
          <p:cNvPr id="3" name="Shape 1"/>
          <p:cNvSpPr/>
          <p:nvPr/>
        </p:nvSpPr>
        <p:spPr>
          <a:xfrm>
            <a:off x="457200" y="1005840"/>
            <a:ext cx="2697480" cy="320040"/>
          </a:xfrm>
          <a:prstGeom prst="rect">
            <a:avLst/>
          </a:prstGeom>
          <a:solidFill>
            <a:srgbClr val="1E3A8A"/>
          </a:solidFill>
          <a:ln/>
        </p:spPr>
      </p:sp>
      <p:sp>
        <p:nvSpPr>
          <p:cNvPr id="4" name="Text 2"/>
          <p:cNvSpPr/>
          <p:nvPr/>
        </p:nvSpPr>
        <p:spPr>
          <a:xfrm>
            <a:off x="457200" y="1005840"/>
            <a:ext cx="2697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Small (1K-2K sqft)</a:t>
            </a:r>
            <a:endParaRPr lang="en-US" sz="1100" dirty="0"/>
          </a:p>
        </p:txBody>
      </p:sp>
      <p:sp>
        <p:nvSpPr>
          <p:cNvPr id="5" name="Text 3"/>
          <p:cNvSpPr/>
          <p:nvPr/>
        </p:nvSpPr>
        <p:spPr>
          <a:xfrm>
            <a:off x="548640" y="14630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Non-Renovated:</a:t>
            </a:r>
            <a:endParaRPr lang="en-US" sz="1000" dirty="0"/>
          </a:p>
        </p:txBody>
      </p:sp>
      <p:sp>
        <p:nvSpPr>
          <p:cNvPr id="6" name="Text 4"/>
          <p:cNvSpPr/>
          <p:nvPr/>
        </p:nvSpPr>
        <p:spPr>
          <a:xfrm>
            <a:off x="548640" y="17373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$280K-$320K</a:t>
            </a:r>
            <a:endParaRPr lang="en-US" sz="1200" dirty="0"/>
          </a:p>
        </p:txBody>
      </p:sp>
      <p:sp>
        <p:nvSpPr>
          <p:cNvPr id="7" name="Text 5"/>
          <p:cNvSpPr/>
          <p:nvPr/>
        </p:nvSpPr>
        <p:spPr>
          <a:xfrm>
            <a:off x="548640" y="21488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Renovated:</a:t>
            </a:r>
            <a:endParaRPr lang="en-US" sz="1000" dirty="0"/>
          </a:p>
        </p:txBody>
      </p:sp>
      <p:sp>
        <p:nvSpPr>
          <p:cNvPr id="8" name="Text 6"/>
          <p:cNvSpPr/>
          <p:nvPr/>
        </p:nvSpPr>
        <p:spPr>
          <a:xfrm>
            <a:off x="548640" y="24231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$350K-$400K</a:t>
            </a:r>
            <a:endParaRPr lang="en-US" sz="1200" dirty="0"/>
          </a:p>
        </p:txBody>
      </p:sp>
      <p:sp>
        <p:nvSpPr>
          <p:cNvPr id="9" name="Shape 7"/>
          <p:cNvSpPr/>
          <p:nvPr/>
        </p:nvSpPr>
        <p:spPr>
          <a:xfrm>
            <a:off x="457200" y="2926080"/>
            <a:ext cx="2697480" cy="731520"/>
          </a:xfrm>
          <a:prstGeom prst="rect">
            <a:avLst/>
          </a:prstGeom>
          <a:solidFill>
            <a:srgbClr val="F3F4F6"/>
          </a:solidFill>
          <a:ln w="25400">
            <a:solidFill>
              <a:srgbClr val="F59E0B"/>
            </a:solidFill>
            <a:prstDash val="solid"/>
          </a:ln>
        </p:spPr>
      </p:sp>
      <p:sp>
        <p:nvSpPr>
          <p:cNvPr id="10" name="Text 8"/>
          <p:cNvSpPr/>
          <p:nvPr/>
        </p:nvSpPr>
        <p:spPr>
          <a:xfrm>
            <a:off x="548640" y="2999232"/>
            <a:ext cx="251460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Price Premium:</a:t>
            </a:r>
            <a:endParaRPr lang="en-US" sz="1000" dirty="0"/>
          </a:p>
        </p:txBody>
      </p:sp>
      <p:sp>
        <p:nvSpPr>
          <p:cNvPr id="11" name="Text 9"/>
          <p:cNvSpPr/>
          <p:nvPr/>
        </p:nvSpPr>
        <p:spPr>
          <a:xfrm>
            <a:off x="548640" y="3273552"/>
            <a:ext cx="2514600" cy="4114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$50K-$80K</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(15-25%)</a:t>
            </a:r>
            <a:endParaRPr lang="en-US" sz="1100" dirty="0"/>
          </a:p>
        </p:txBody>
      </p:sp>
      <p:sp>
        <p:nvSpPr>
          <p:cNvPr id="12" name="Shape 10"/>
          <p:cNvSpPr/>
          <p:nvPr/>
        </p:nvSpPr>
        <p:spPr>
          <a:xfrm>
            <a:off x="3291840" y="1005840"/>
            <a:ext cx="2697480" cy="320040"/>
          </a:xfrm>
          <a:prstGeom prst="rect">
            <a:avLst/>
          </a:prstGeom>
          <a:solidFill>
            <a:srgbClr val="1E3A8A"/>
          </a:solidFill>
          <a:ln/>
        </p:spPr>
      </p:sp>
      <p:sp>
        <p:nvSpPr>
          <p:cNvPr id="13" name="Text 11"/>
          <p:cNvSpPr/>
          <p:nvPr/>
        </p:nvSpPr>
        <p:spPr>
          <a:xfrm>
            <a:off x="3291840" y="1005840"/>
            <a:ext cx="2697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Medium (2K-3.5K sqft)</a:t>
            </a:r>
            <a:endParaRPr lang="en-US" sz="1100" dirty="0"/>
          </a:p>
        </p:txBody>
      </p:sp>
      <p:sp>
        <p:nvSpPr>
          <p:cNvPr id="14" name="Text 12"/>
          <p:cNvSpPr/>
          <p:nvPr/>
        </p:nvSpPr>
        <p:spPr>
          <a:xfrm>
            <a:off x="3383280" y="14630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Non-Renovated:</a:t>
            </a:r>
            <a:endParaRPr lang="en-US" sz="1000" dirty="0"/>
          </a:p>
        </p:txBody>
      </p:sp>
      <p:sp>
        <p:nvSpPr>
          <p:cNvPr id="15" name="Text 13"/>
          <p:cNvSpPr/>
          <p:nvPr/>
        </p:nvSpPr>
        <p:spPr>
          <a:xfrm>
            <a:off x="3383280" y="17373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$380K-$450K</a:t>
            </a:r>
            <a:endParaRPr lang="en-US" sz="1200" dirty="0"/>
          </a:p>
        </p:txBody>
      </p:sp>
      <p:sp>
        <p:nvSpPr>
          <p:cNvPr id="16" name="Text 14"/>
          <p:cNvSpPr/>
          <p:nvPr/>
        </p:nvSpPr>
        <p:spPr>
          <a:xfrm>
            <a:off x="3383280" y="21488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Renovated:</a:t>
            </a:r>
            <a:endParaRPr lang="en-US" sz="1000" dirty="0"/>
          </a:p>
        </p:txBody>
      </p:sp>
      <p:sp>
        <p:nvSpPr>
          <p:cNvPr id="17" name="Text 15"/>
          <p:cNvSpPr/>
          <p:nvPr/>
        </p:nvSpPr>
        <p:spPr>
          <a:xfrm>
            <a:off x="3383280" y="24231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$480K-$550K</a:t>
            </a:r>
            <a:endParaRPr lang="en-US" sz="1200" dirty="0"/>
          </a:p>
        </p:txBody>
      </p:sp>
      <p:sp>
        <p:nvSpPr>
          <p:cNvPr id="18" name="Shape 16"/>
          <p:cNvSpPr/>
          <p:nvPr/>
        </p:nvSpPr>
        <p:spPr>
          <a:xfrm>
            <a:off x="3291840" y="2926080"/>
            <a:ext cx="2697480" cy="731520"/>
          </a:xfrm>
          <a:prstGeom prst="rect">
            <a:avLst/>
          </a:prstGeom>
          <a:solidFill>
            <a:srgbClr val="F3F4F6"/>
          </a:solidFill>
          <a:ln w="25400">
            <a:solidFill>
              <a:srgbClr val="F59E0B"/>
            </a:solidFill>
            <a:prstDash val="solid"/>
          </a:ln>
        </p:spPr>
      </p:sp>
      <p:sp>
        <p:nvSpPr>
          <p:cNvPr id="19" name="Text 17"/>
          <p:cNvSpPr/>
          <p:nvPr/>
        </p:nvSpPr>
        <p:spPr>
          <a:xfrm>
            <a:off x="3383280" y="2999232"/>
            <a:ext cx="251460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Price Premium:</a:t>
            </a:r>
            <a:endParaRPr lang="en-US" sz="1000" dirty="0"/>
          </a:p>
        </p:txBody>
      </p:sp>
      <p:sp>
        <p:nvSpPr>
          <p:cNvPr id="20" name="Text 18"/>
          <p:cNvSpPr/>
          <p:nvPr/>
        </p:nvSpPr>
        <p:spPr>
          <a:xfrm>
            <a:off x="3383280" y="3273552"/>
            <a:ext cx="2514600" cy="4114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$80K-$120K</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(20-25%)</a:t>
            </a:r>
            <a:endParaRPr lang="en-US" sz="1100" dirty="0"/>
          </a:p>
        </p:txBody>
      </p:sp>
      <p:sp>
        <p:nvSpPr>
          <p:cNvPr id="21" name="Shape 19"/>
          <p:cNvSpPr/>
          <p:nvPr/>
        </p:nvSpPr>
        <p:spPr>
          <a:xfrm>
            <a:off x="6126480" y="1005840"/>
            <a:ext cx="2697480" cy="320040"/>
          </a:xfrm>
          <a:prstGeom prst="rect">
            <a:avLst/>
          </a:prstGeom>
          <a:solidFill>
            <a:srgbClr val="1E3A8A"/>
          </a:solidFill>
          <a:ln/>
        </p:spPr>
      </p:sp>
      <p:sp>
        <p:nvSpPr>
          <p:cNvPr id="22" name="Text 20"/>
          <p:cNvSpPr/>
          <p:nvPr/>
        </p:nvSpPr>
        <p:spPr>
          <a:xfrm>
            <a:off x="6126480" y="1005840"/>
            <a:ext cx="2697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Large (3.5K-5K sqft)</a:t>
            </a:r>
            <a:endParaRPr lang="en-US" sz="1100" dirty="0"/>
          </a:p>
        </p:txBody>
      </p:sp>
      <p:sp>
        <p:nvSpPr>
          <p:cNvPr id="23" name="Text 21"/>
          <p:cNvSpPr/>
          <p:nvPr/>
        </p:nvSpPr>
        <p:spPr>
          <a:xfrm>
            <a:off x="6217920" y="14630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Non-Renovated:</a:t>
            </a:r>
            <a:endParaRPr lang="en-US" sz="1000" dirty="0"/>
          </a:p>
        </p:txBody>
      </p:sp>
      <p:sp>
        <p:nvSpPr>
          <p:cNvPr id="24" name="Text 22"/>
          <p:cNvSpPr/>
          <p:nvPr/>
        </p:nvSpPr>
        <p:spPr>
          <a:xfrm>
            <a:off x="6217920" y="17373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$520K-$600K</a:t>
            </a:r>
            <a:endParaRPr lang="en-US" sz="1200" dirty="0"/>
          </a:p>
        </p:txBody>
      </p:sp>
      <p:sp>
        <p:nvSpPr>
          <p:cNvPr id="25" name="Text 23"/>
          <p:cNvSpPr/>
          <p:nvPr/>
        </p:nvSpPr>
        <p:spPr>
          <a:xfrm>
            <a:off x="6217920" y="21488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Renovated:</a:t>
            </a:r>
            <a:endParaRPr lang="en-US" sz="1000" dirty="0"/>
          </a:p>
        </p:txBody>
      </p:sp>
      <p:sp>
        <p:nvSpPr>
          <p:cNvPr id="26" name="Text 24"/>
          <p:cNvSpPr/>
          <p:nvPr/>
        </p:nvSpPr>
        <p:spPr>
          <a:xfrm>
            <a:off x="6217920" y="24231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$650K-$750K</a:t>
            </a:r>
            <a:endParaRPr lang="en-US" sz="1200" dirty="0"/>
          </a:p>
        </p:txBody>
      </p:sp>
      <p:sp>
        <p:nvSpPr>
          <p:cNvPr id="27" name="Shape 25"/>
          <p:cNvSpPr/>
          <p:nvPr/>
        </p:nvSpPr>
        <p:spPr>
          <a:xfrm>
            <a:off x="6126480" y="2926080"/>
            <a:ext cx="2697480" cy="731520"/>
          </a:xfrm>
          <a:prstGeom prst="rect">
            <a:avLst/>
          </a:prstGeom>
          <a:solidFill>
            <a:srgbClr val="F3F4F6"/>
          </a:solidFill>
          <a:ln w="25400">
            <a:solidFill>
              <a:srgbClr val="F59E0B"/>
            </a:solidFill>
            <a:prstDash val="solid"/>
          </a:ln>
        </p:spPr>
      </p:sp>
      <p:sp>
        <p:nvSpPr>
          <p:cNvPr id="28" name="Text 26"/>
          <p:cNvSpPr/>
          <p:nvPr/>
        </p:nvSpPr>
        <p:spPr>
          <a:xfrm>
            <a:off x="6217920" y="2999232"/>
            <a:ext cx="251460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Price Premium:</a:t>
            </a:r>
            <a:endParaRPr lang="en-US" sz="1000" dirty="0"/>
          </a:p>
        </p:txBody>
      </p:sp>
      <p:sp>
        <p:nvSpPr>
          <p:cNvPr id="29" name="Text 27"/>
          <p:cNvSpPr/>
          <p:nvPr/>
        </p:nvSpPr>
        <p:spPr>
          <a:xfrm>
            <a:off x="6217920" y="3273552"/>
            <a:ext cx="2514600" cy="4114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$100K-$150K</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(18-25%)</a:t>
            </a:r>
            <a:endParaRPr lang="en-US" sz="1100" dirty="0"/>
          </a:p>
        </p:txBody>
      </p:sp>
      <p:sp>
        <p:nvSpPr>
          <p:cNvPr id="30" name="Shape 28"/>
          <p:cNvSpPr/>
          <p:nvPr/>
        </p:nvSpPr>
        <p:spPr>
          <a:xfrm>
            <a:off x="457200" y="3931920"/>
            <a:ext cx="8229600" cy="868680"/>
          </a:xfrm>
          <a:prstGeom prst="rect">
            <a:avLst/>
          </a:prstGeom>
          <a:solidFill>
            <a:srgbClr val="3B82F6"/>
          </a:solidFill>
          <a:ln w="25400">
            <a:solidFill>
              <a:srgbClr val="1E3A8A"/>
            </a:solidFill>
            <a:prstDash val="solid"/>
          </a:ln>
        </p:spPr>
      </p:sp>
      <p:sp>
        <p:nvSpPr>
          <p:cNvPr id="31" name="Text 29"/>
          <p:cNvSpPr/>
          <p:nvPr/>
        </p:nvSpPr>
        <p:spPr>
          <a:xfrm>
            <a:off x="640080" y="4069080"/>
            <a:ext cx="7863840" cy="5943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Consistent Pattern: Renovated homes command 15-25% price premium across ALL size categories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Statistical Significance Testing</a:t>
            </a:r>
            <a:endParaRPr lang="en-US" sz="4000" dirty="0"/>
          </a:p>
        </p:txBody>
      </p:sp>
      <p:sp>
        <p:nvSpPr>
          <p:cNvPr id="3" name="Text 1"/>
          <p:cNvSpPr/>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Null Hypothesis (H₀):</a:t>
            </a:r>
            <a:endParaRPr lang="en-US" sz="1200" dirty="0"/>
          </a:p>
        </p:txBody>
      </p:sp>
      <p:sp>
        <p:nvSpPr>
          <p:cNvPr id="4" name="Text 2"/>
          <p:cNvSpPr/>
          <p:nvPr/>
        </p:nvSpPr>
        <p:spPr>
          <a:xfrm>
            <a:off x="640080" y="1280160"/>
            <a:ext cx="7863840" cy="54864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There is no significant price difference between renovated and non-renovated houses of similar size in rural areas</a:t>
            </a:r>
            <a:endParaRPr lang="en-US" sz="1100" dirty="0"/>
          </a:p>
        </p:txBody>
      </p:sp>
      <p:sp>
        <p:nvSpPr>
          <p:cNvPr id="5" name="Shape 3"/>
          <p:cNvSpPr/>
          <p:nvPr/>
        </p:nvSpPr>
        <p:spPr>
          <a:xfrm>
            <a:off x="457200" y="2011680"/>
            <a:ext cx="4114800" cy="1371600"/>
          </a:xfrm>
          <a:prstGeom prst="rect">
            <a:avLst/>
          </a:prstGeom>
          <a:solidFill>
            <a:srgbClr val="F3F4F6"/>
          </a:solidFill>
          <a:ln w="25400">
            <a:solidFill>
              <a:srgbClr val="3B82F6"/>
            </a:solidFill>
            <a:prstDash val="solid"/>
          </a:ln>
        </p:spPr>
      </p:sp>
      <p:sp>
        <p:nvSpPr>
          <p:cNvPr id="6" name="Text 4"/>
          <p:cNvSpPr/>
          <p:nvPr/>
        </p:nvSpPr>
        <p:spPr>
          <a:xfrm>
            <a:off x="594360" y="2148840"/>
            <a:ext cx="384048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Test Results</a:t>
            </a:r>
            <a:endParaRPr lang="en-US" sz="1200" dirty="0"/>
          </a:p>
        </p:txBody>
      </p:sp>
      <p:sp>
        <p:nvSpPr>
          <p:cNvPr id="7" name="Text 5"/>
          <p:cNvSpPr/>
          <p:nvPr/>
        </p:nvSpPr>
        <p:spPr>
          <a:xfrm>
            <a:off x="640080" y="2514600"/>
            <a:ext cx="3749040" cy="457200"/>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p-value: &lt; 0.001</a:t>
            </a:r>
            <a:endParaRPr lang="en-US" sz="1100" dirty="0"/>
          </a:p>
          <a:p>
            <a:pPr indent="0" marL="0">
              <a:buNone/>
            </a:pPr>
            <a:r>
              <a:rPr lang="en-US" sz="1100" b="1" dirty="0">
                <a:solidFill>
                  <a:srgbClr val="374151"/>
                </a:solidFill>
                <a:latin typeface="Calibri" pitchFamily="34" charset="0"/>
                <a:ea typeface="Calibri" pitchFamily="34" charset="-122"/>
                <a:cs typeface="Calibri" pitchFamily="34" charset="-120"/>
              </a:rPr>
              <a:t>(Highly Significant)</a:t>
            </a:r>
            <a:endParaRPr lang="en-US" sz="1100" dirty="0"/>
          </a:p>
        </p:txBody>
      </p:sp>
      <p:sp>
        <p:nvSpPr>
          <p:cNvPr id="8" name="Text 6"/>
          <p:cNvSpPr/>
          <p:nvPr/>
        </p:nvSpPr>
        <p:spPr>
          <a:xfrm>
            <a:off x="640080" y="3017520"/>
            <a:ext cx="374904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t-statistic: Strongly Positive</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for all comparisons</a:t>
            </a:r>
            <a:endParaRPr lang="en-US" sz="1100" dirty="0"/>
          </a:p>
        </p:txBody>
      </p:sp>
      <p:sp>
        <p:nvSpPr>
          <p:cNvPr id="9" name="Shape 7"/>
          <p:cNvSpPr/>
          <p:nvPr/>
        </p:nvSpPr>
        <p:spPr>
          <a:xfrm>
            <a:off x="4754880" y="2011680"/>
            <a:ext cx="3931920" cy="1371600"/>
          </a:xfrm>
          <a:prstGeom prst="rect">
            <a:avLst/>
          </a:prstGeom>
          <a:solidFill>
            <a:srgbClr val="F3F4F6"/>
          </a:solidFill>
          <a:ln w="25400">
            <a:solidFill>
              <a:srgbClr val="F59E0B"/>
            </a:solidFill>
            <a:prstDash val="solid"/>
          </a:ln>
        </p:spPr>
      </p:sp>
      <p:sp>
        <p:nvSpPr>
          <p:cNvPr id="10" name="Text 8"/>
          <p:cNvSpPr/>
          <p:nvPr/>
        </p:nvSpPr>
        <p:spPr>
          <a:xfrm>
            <a:off x="4892040" y="2148840"/>
            <a:ext cx="356616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Interpretation</a:t>
            </a:r>
            <a:endParaRPr lang="en-US" sz="1200" dirty="0"/>
          </a:p>
        </p:txBody>
      </p:sp>
      <p:sp>
        <p:nvSpPr>
          <p:cNvPr id="11" name="Text 9"/>
          <p:cNvSpPr/>
          <p:nvPr/>
        </p:nvSpPr>
        <p:spPr>
          <a:xfrm>
            <a:off x="4937760" y="2514600"/>
            <a:ext cx="3474720" cy="45720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&lt; 0.1% probability this finding occurred by random chance</a:t>
            </a:r>
            <a:endParaRPr lang="en-US" sz="1000" dirty="0"/>
          </a:p>
        </p:txBody>
      </p:sp>
      <p:sp>
        <p:nvSpPr>
          <p:cNvPr id="12" name="Text 10"/>
          <p:cNvSpPr/>
          <p:nvPr/>
        </p:nvSpPr>
        <p:spPr>
          <a:xfrm>
            <a:off x="4937760" y="3017520"/>
            <a:ext cx="3474720" cy="411480"/>
          </a:xfrm>
          <a:prstGeom prst="rect">
            <a:avLst/>
          </a:prstGeom>
          <a:noFill/>
          <a:ln/>
        </p:spPr>
        <p:txBody>
          <a:bodyPr wrap="square" rtlCol="0" anchor="ctr"/>
          <a:lstStyle/>
          <a:p>
            <a:pPr indent="0" marL="0">
              <a:buNone/>
            </a:pPr>
            <a:r>
              <a:rPr lang="en-US" sz="1000" b="1" dirty="0">
                <a:solidFill>
                  <a:srgbClr val="374151"/>
                </a:solidFill>
                <a:latin typeface="Calibri" pitchFamily="34" charset="0"/>
                <a:ea typeface="Calibri" pitchFamily="34" charset="-122"/>
                <a:cs typeface="Calibri" pitchFamily="34" charset="-120"/>
              </a:rPr>
              <a:t>Reject null hypothesis with very high confidence</a:t>
            </a:r>
            <a:endParaRPr lang="en-US" sz="1000" dirty="0"/>
          </a:p>
        </p:txBody>
      </p:sp>
      <p:sp>
        <p:nvSpPr>
          <p:cNvPr id="13" name="Shape 11"/>
          <p:cNvSpPr/>
          <p:nvPr/>
        </p:nvSpPr>
        <p:spPr>
          <a:xfrm>
            <a:off x="457200" y="3611880"/>
            <a:ext cx="8229600" cy="960120"/>
          </a:xfrm>
          <a:prstGeom prst="rect">
            <a:avLst/>
          </a:prstGeom>
          <a:solidFill>
            <a:srgbClr val="0D9488"/>
          </a:solidFill>
          <a:ln w="25400">
            <a:solidFill>
              <a:srgbClr val="1E3A8A"/>
            </a:solidFill>
            <a:prstDash val="solid"/>
          </a:ln>
        </p:spPr>
      </p:sp>
      <p:sp>
        <p:nvSpPr>
          <p:cNvPr id="14" name="Text 12"/>
          <p:cNvSpPr/>
          <p:nvPr/>
        </p:nvSpPr>
        <p:spPr>
          <a:xfrm>
            <a:off x="640080" y="3749040"/>
            <a:ext cx="786384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Conclusion: Renovated houses command a STATISTICALLY SIGNIFICANT and PRACTICALLY MEANINGFUL price premium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Key Insights &amp; Buyer Recommendations</a:t>
            </a:r>
            <a:endParaRPr lang="en-US" sz="4000" dirty="0"/>
          </a:p>
        </p:txBody>
      </p:sp>
      <p:sp>
        <p:nvSpPr>
          <p:cNvPr id="3" name="Text 1"/>
          <p:cNvSpPr/>
          <p:nvPr/>
        </p:nvSpPr>
        <p:spPr>
          <a:xfrm>
            <a:off x="457200" y="1005840"/>
            <a:ext cx="411480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Market Insights:</a:t>
            </a:r>
            <a:endParaRPr lang="en-US" sz="1300" dirty="0"/>
          </a:p>
        </p:txBody>
      </p:sp>
      <p:sp>
        <p:nvSpPr>
          <p:cNvPr id="4" name="Text 2"/>
          <p:cNvSpPr/>
          <p:nvPr/>
        </p:nvSpPr>
        <p:spPr>
          <a:xfrm>
            <a:off x="640080" y="1371600"/>
            <a:ext cx="37490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Renovations provide strong ROI</a:t>
            </a:r>
            <a:endParaRPr lang="en-US" sz="1100" dirty="0"/>
          </a:p>
        </p:txBody>
      </p:sp>
      <p:sp>
        <p:nvSpPr>
          <p:cNvPr id="5" name="Text 3"/>
          <p:cNvSpPr/>
          <p:nvPr/>
        </p:nvSpPr>
        <p:spPr>
          <a:xfrm>
            <a:off x="640080" y="1691640"/>
            <a:ext cx="37490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Market clearly values updates</a:t>
            </a:r>
            <a:endParaRPr lang="en-US" sz="1100" dirty="0"/>
          </a:p>
        </p:txBody>
      </p:sp>
      <p:sp>
        <p:nvSpPr>
          <p:cNvPr id="6" name="Text 4"/>
          <p:cNvSpPr/>
          <p:nvPr/>
        </p:nvSpPr>
        <p:spPr>
          <a:xfrm>
            <a:off x="640080" y="2011680"/>
            <a:ext cx="37490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Effect consistent across sizes</a:t>
            </a:r>
            <a:endParaRPr lang="en-US" sz="1100" dirty="0"/>
          </a:p>
        </p:txBody>
      </p:sp>
      <p:sp>
        <p:nvSpPr>
          <p:cNvPr id="7" name="Text 5"/>
          <p:cNvSpPr/>
          <p:nvPr/>
        </p:nvSpPr>
        <p:spPr>
          <a:xfrm>
            <a:off x="640080" y="2331720"/>
            <a:ext cx="37490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Non-renovated = 15-25% savings</a:t>
            </a:r>
            <a:endParaRPr lang="en-US" sz="1100" dirty="0"/>
          </a:p>
        </p:txBody>
      </p:sp>
      <p:sp>
        <p:nvSpPr>
          <p:cNvPr id="8" name="Text 6"/>
          <p:cNvSpPr/>
          <p:nvPr/>
        </p:nvSpPr>
        <p:spPr>
          <a:xfrm>
            <a:off x="4754880" y="1005840"/>
            <a:ext cx="393192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Buyer Guidance:</a:t>
            </a:r>
            <a:endParaRPr lang="en-US" sz="1300" dirty="0"/>
          </a:p>
        </p:txBody>
      </p:sp>
      <p:sp>
        <p:nvSpPr>
          <p:cNvPr id="9" name="Text 7"/>
          <p:cNvSpPr/>
          <p:nvPr/>
        </p:nvSpPr>
        <p:spPr>
          <a:xfrm>
            <a:off x="4937760" y="1371600"/>
            <a:ext cx="347472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Country: Prioritize non-renovated for savings</a:t>
            </a:r>
            <a:endParaRPr lang="en-US" sz="1100" dirty="0"/>
          </a:p>
        </p:txBody>
      </p:sp>
      <p:sp>
        <p:nvSpPr>
          <p:cNvPr id="10" name="Text 8"/>
          <p:cNvSpPr/>
          <p:nvPr/>
        </p:nvSpPr>
        <p:spPr>
          <a:xfrm>
            <a:off x="4937760" y="1691640"/>
            <a:ext cx="347472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City: Renovated for fast move-in</a:t>
            </a:r>
            <a:endParaRPr lang="en-US" sz="1100" dirty="0"/>
          </a:p>
        </p:txBody>
      </p:sp>
      <p:sp>
        <p:nvSpPr>
          <p:cNvPr id="11" name="Text 9"/>
          <p:cNvSpPr/>
          <p:nvPr/>
        </p:nvSpPr>
        <p:spPr>
          <a:xfrm>
            <a:off x="4937760" y="2011680"/>
            <a:ext cx="347472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Verify structural soundness first</a:t>
            </a:r>
            <a:endParaRPr lang="en-US" sz="1100" dirty="0"/>
          </a:p>
        </p:txBody>
      </p:sp>
      <p:sp>
        <p:nvSpPr>
          <p:cNvPr id="12" name="Text 10"/>
          <p:cNvSpPr/>
          <p:nvPr/>
        </p:nvSpPr>
        <p:spPr>
          <a:xfrm>
            <a:off x="4937760" y="2331720"/>
            <a:ext cx="347472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Budget for potential updates</a:t>
            </a:r>
            <a:endParaRPr lang="en-US" sz="1100" dirty="0"/>
          </a:p>
        </p:txBody>
      </p:sp>
      <p:sp>
        <p:nvSpPr>
          <p:cNvPr id="13" name="Shape 11"/>
          <p:cNvSpPr/>
          <p:nvPr/>
        </p:nvSpPr>
        <p:spPr>
          <a:xfrm>
            <a:off x="457200" y="3291840"/>
            <a:ext cx="8229600" cy="1554480"/>
          </a:xfrm>
          <a:prstGeom prst="rect">
            <a:avLst/>
          </a:prstGeom>
          <a:solidFill>
            <a:srgbClr val="F3F4F6"/>
          </a:solidFill>
          <a:ln w="25400">
            <a:solidFill>
              <a:srgbClr val="F59E0B"/>
            </a:solidFill>
            <a:prstDash val="solid"/>
          </a:ln>
        </p:spPr>
      </p:sp>
      <p:sp>
        <p:nvSpPr>
          <p:cNvPr id="14" name="Text 12"/>
          <p:cNvSpPr/>
          <p:nvPr/>
        </p:nvSpPr>
        <p:spPr>
          <a:xfrm>
            <a:off x="640080" y="3429000"/>
            <a:ext cx="786384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William Rodriguez Property Strategy:</a:t>
            </a:r>
            <a:endParaRPr lang="en-US" sz="1200" dirty="0"/>
          </a:p>
        </p:txBody>
      </p:sp>
      <p:sp>
        <p:nvSpPr>
          <p:cNvPr id="15" name="Text 13"/>
          <p:cNvSpPr/>
          <p:nvPr/>
        </p:nvSpPr>
        <p:spPr>
          <a:xfrm>
            <a:off x="777240" y="3794760"/>
            <a:ext cx="7589520" cy="41148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Country House: Non-renovated, suburban (5-8 miles from downtown), spacious lot for dog, best timing at lower cost (15-25% savings)</a:t>
            </a:r>
            <a:endParaRPr lang="en-US" sz="1100" dirty="0"/>
          </a:p>
        </p:txBody>
      </p:sp>
      <p:sp>
        <p:nvSpPr>
          <p:cNvPr id="16" name="Text 14"/>
          <p:cNvSpPr/>
          <p:nvPr/>
        </p:nvSpPr>
        <p:spPr>
          <a:xfrm>
            <a:off x="777240" y="4297680"/>
            <a:ext cx="7589520" cy="41148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City House: Recently renovated, central location, move-in ready, modern updates. Accept premium cost for convenience and quality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algn="ctr" indent="0" marL="0">
              <a:buNone/>
            </a:pPr>
            <a:r>
              <a:rPr lang="en-US" sz="4800" b="1" dirty="0">
                <a:solidFill>
                  <a:srgbClr val="F59E0B"/>
                </a:solidFill>
                <a:latin typeface="Calibri" pitchFamily="34" charset="0"/>
                <a:ea typeface="Calibri" pitchFamily="34" charset="-122"/>
                <a:cs typeface="Calibri" pitchFamily="34" charset="-120"/>
              </a:rPr>
              <a:t>Next Steps</a:t>
            </a:r>
            <a:endParaRPr lang="en-US" sz="4800" dirty="0"/>
          </a:p>
        </p:txBody>
      </p:sp>
      <p:sp>
        <p:nvSpPr>
          <p:cNvPr id="3" name="Text 1"/>
          <p:cNvSpPr/>
          <p:nvPr/>
        </p:nvSpPr>
        <p:spPr>
          <a:xfrm>
            <a:off x="457200" y="1828800"/>
            <a:ext cx="822960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H2 Analysis: Lot Size vs Distance from Downtown</a:t>
            </a:r>
            <a:endParaRPr lang="en-US" sz="1600" dirty="0"/>
          </a:p>
        </p:txBody>
      </p:sp>
      <p:sp>
        <p:nvSpPr>
          <p:cNvPr id="4" name="Text 2"/>
          <p:cNvSpPr/>
          <p:nvPr/>
        </p:nvSpPr>
        <p:spPr>
          <a:xfrm>
            <a:off x="457200" y="2286000"/>
            <a:ext cx="822960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H3 Analysis: Price Relationships (Lot Size &amp; Distance)</a:t>
            </a:r>
            <a:endParaRPr lang="en-US" sz="1600" dirty="0"/>
          </a:p>
        </p:txBody>
      </p:sp>
      <p:sp>
        <p:nvSpPr>
          <p:cNvPr id="5" name="Text 3"/>
          <p:cNvSpPr/>
          <p:nvPr/>
        </p:nvSpPr>
        <p:spPr>
          <a:xfrm>
            <a:off x="457200" y="2743200"/>
            <a:ext cx="822960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H4 Analysis: Comprehensive Investment Recommendations</a:t>
            </a:r>
            <a:endParaRPr lang="en-US" sz="1600" dirty="0"/>
          </a:p>
        </p:txBody>
      </p:sp>
      <p:sp>
        <p:nvSpPr>
          <p:cNvPr id="6" name="Text 4"/>
          <p:cNvSpPr/>
          <p:nvPr/>
        </p:nvSpPr>
        <p:spPr>
          <a:xfrm>
            <a:off x="457200" y="3474720"/>
            <a:ext cx="8229600" cy="457200"/>
          </a:xfrm>
          <a:prstGeom prst="rect">
            <a:avLst/>
          </a:prstGeom>
          <a:noFill/>
          <a:ln/>
        </p:spPr>
        <p:txBody>
          <a:bodyPr wrap="square" rtlCol="0" anchor="ctr"/>
          <a:lstStyle/>
          <a:p>
            <a:pPr algn="ctr" indent="0" marL="0">
              <a:buNone/>
            </a:pPr>
            <a:r>
              <a:rPr lang="en-US" sz="1400" i="1" dirty="0">
                <a:solidFill>
                  <a:srgbClr val="3B82F6"/>
                </a:solidFill>
                <a:latin typeface="Calibri" pitchFamily="34" charset="0"/>
                <a:ea typeface="Calibri" pitchFamily="34" charset="-122"/>
                <a:cs typeface="Calibri" pitchFamily="34" charset="-120"/>
              </a:rPr>
              <a:t>Building comprehensive dual-property strategy for William Rodriguez</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2026-09-17T09:05:59Z</dcterms:created>
  <dcterms:modified xsi:type="dcterms:W3CDTF">2026-09-17T09:05:59Z</dcterms:modified>
</cp:coreProperties>
</file>