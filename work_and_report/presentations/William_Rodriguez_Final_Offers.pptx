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b9bffd307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g3fb9bffd307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b9bffd307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9bffd307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b9bffd307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B5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William Rodriguez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Two-House Buyer Recommendations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Data-Driven Home Recommendations Based on Market Hypotheses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715400" y="4640580"/>
            <a:ext cx="2971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Done by Mohammad Bajbouj &amp; Tim Pfeiffer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31520" y="2179593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. Workflow Overview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31520" y="2636793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. Hypothesis 1 Analysis: Price vs Renovation Status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731520" y="3093993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. Hypothesis 2 Analysis: Lot Size vs Distance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31520" y="3551193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. Hypothesis 3 Analysis: Floors vs Lot Size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" y="1722393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1. Persona William Rodriguez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Persona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57200" y="73152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Buyer William Rodriguez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1188720"/>
            <a:ext cx="9144000" cy="13710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Persona Card"/>
          <p:cNvSpPr/>
          <p:nvPr/>
        </p:nvSpPr>
        <p:spPr>
          <a:xfrm>
            <a:off x="457200" y="1425000"/>
            <a:ext cx="8229600" cy="14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" name="Google Shape;41;p5"/>
          <p:cNvSpPr/>
          <p:nvPr/>
        </p:nvSpPr>
        <p:spPr>
          <a:xfrm>
            <a:off x="594360" y="156000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What he wants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94360" y="1925640"/>
            <a:ext cx="795528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William Rodriguez is house-hunting for two people and wants to buy two homes: a non-renovated country house he can purchase at the right time, and a fast-moving, centrally located city house.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Data Analysis Pipeline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274320" y="1645920"/>
            <a:ext cx="1691640" cy="1097280"/>
          </a:xfrm>
          <a:prstGeom prst="roundRect">
            <a:avLst>
              <a:gd fmla="val 8333" name="adj"/>
            </a:avLst>
          </a:prstGeom>
          <a:solidFill>
            <a:srgbClr val="D4E8F7"/>
          </a:solidFill>
          <a:ln cap="flat" cmpd="sng" w="25400">
            <a:solidFill>
              <a:srgbClr val="FF6B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65760" y="16916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365760" y="201168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Data Prep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365760" y="228600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Load King County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~21K properties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057400" y="1645920"/>
            <a:ext cx="1691640" cy="1097280"/>
          </a:xfrm>
          <a:prstGeom prst="roundRect">
            <a:avLst>
              <a:gd fmla="val 8333" name="adj"/>
            </a:avLst>
          </a:prstGeom>
          <a:solidFill>
            <a:srgbClr val="E8E8E8"/>
          </a:solidFill>
          <a:ln cap="flat" cmpd="sng" w="25400">
            <a:solidFill>
              <a:srgbClr val="FF6B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2148840" y="16916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2148840" y="201168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Cleaning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2148840" y="228600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IQR outliers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Duplicate check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3840480" y="1645920"/>
            <a:ext cx="1691640" cy="1097280"/>
          </a:xfrm>
          <a:prstGeom prst="roundRect">
            <a:avLst>
              <a:gd fmla="val 8333" name="adj"/>
            </a:avLst>
          </a:prstGeom>
          <a:solidFill>
            <a:srgbClr val="D4E8F7"/>
          </a:solidFill>
          <a:ln cap="flat" cmpd="sng" w="25400">
            <a:solidFill>
              <a:srgbClr val="FF6B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3931920" y="16916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3931920" y="201168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H1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3931920" y="228600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Renovation status vs price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Rural homes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623560" y="1645920"/>
            <a:ext cx="1691640" cy="1097280"/>
          </a:xfrm>
          <a:prstGeom prst="roundRect">
            <a:avLst>
              <a:gd fmla="val 8333" name="adj"/>
            </a:avLst>
          </a:prstGeom>
          <a:solidFill>
            <a:srgbClr val="E8E0F7"/>
          </a:solidFill>
          <a:ln cap="flat" cmpd="sng" w="25400">
            <a:solidFill>
              <a:srgbClr val="FF6B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715000" y="16916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715000" y="201168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H2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715000" y="228600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Distance vs lot size</a:t>
            </a:r>
            <a:endParaRPr sz="9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Rural homes</a:t>
            </a:r>
            <a:endParaRPr sz="9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7406640" y="1645920"/>
            <a:ext cx="1691640" cy="1097280"/>
          </a:xfrm>
          <a:prstGeom prst="roundRect">
            <a:avLst>
              <a:gd fmla="val 8333" name="adj"/>
            </a:avLst>
          </a:prstGeom>
          <a:solidFill>
            <a:srgbClr val="F7E8D4"/>
          </a:solidFill>
          <a:ln cap="flat" cmpd="sng" w="25400">
            <a:solidFill>
              <a:srgbClr val="FF6B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7498080" y="16916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7498080" y="201168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H3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7498080" y="228600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Floors vs lot size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Urban homes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828800" y="19659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11880" y="19659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394960" y="19659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7178040" y="19659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Our </a:t>
            </a: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Hypotheses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85800" y="3163877"/>
            <a:ext cx="470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H1: The more renovated, the higher the price</a:t>
            </a:r>
            <a:endParaRPr sz="10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3520440"/>
            <a:ext cx="13716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3840480"/>
            <a:ext cx="13716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85800" y="3466087"/>
            <a:ext cx="455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H2: The farther from downtown, the bigger the lot</a:t>
            </a:r>
            <a:endParaRPr sz="10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85800" y="3805638"/>
            <a:ext cx="4558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H3: The more floors, the smaller the lot</a:t>
            </a:r>
            <a:endParaRPr sz="10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B5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H1: Price vs Renovation Status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Country House Analysis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more renovated, the higher the price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H1 Chart</a:t>
            </a: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457200" y="63032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Price by Renovation Status </a:t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457200" y="4565975"/>
            <a:ext cx="822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Key Findings: The more renovated, the higher the price</a:t>
            </a:r>
            <a:endParaRPr sz="10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8280"/>
            <a:ext cx="8839200" cy="275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H1 Analysis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House Selection Criteria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95905" y="1490665"/>
            <a:ext cx="3931800" cy="32004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FF6B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778785" y="167354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Selection Criteria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870225" y="203930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Criteria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2424705" y="203930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870225" y="235934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2424705" y="235934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Rural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870225" y="267938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Renovation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2424705" y="267938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Non-Renovated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870225" y="299942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Size Range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2424705" y="299942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Medium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870225" y="331946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Zipcode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2424705" y="331946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98022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870225" y="363950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Homes Found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2424705" y="363950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/>
        </p:nvSpPr>
        <p:spPr>
          <a:xfrm>
            <a:off x="457200" y="27432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H1 Recommendations</a:t>
            </a:r>
            <a:endParaRPr/>
          </a:p>
        </p:txBody>
      </p:sp>
      <p:sp>
        <p:nvSpPr>
          <p:cNvPr id="125" name="Google Shape;125;p10"/>
          <p:cNvSpPr txBox="1"/>
          <p:nvPr/>
        </p:nvSpPr>
        <p:spPr>
          <a:xfrm>
            <a:off x="457200" y="73152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Two Rural Homes for William</a:t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0" y="1188720"/>
            <a:ext cx="9144000" cy="13710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57200" y="1463040"/>
            <a:ext cx="4046220" cy="34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594360" y="1554480"/>
            <a:ext cx="384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House #1 - Zip 98022</a:t>
            </a:r>
            <a:endParaRPr/>
          </a:p>
        </p:txBody>
      </p:sp>
      <p:sp>
        <p:nvSpPr>
          <p:cNvPr id="129" name="Google Shape;129;p10"/>
          <p:cNvSpPr txBox="1"/>
          <p:nvPr/>
        </p:nvSpPr>
        <p:spPr>
          <a:xfrm>
            <a:off x="594360" y="19202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/>
          </a:p>
        </p:txBody>
      </p:sp>
      <p:sp>
        <p:nvSpPr>
          <p:cNvPr id="130" name="Google Shape;130;p10"/>
          <p:cNvSpPr txBox="1"/>
          <p:nvPr/>
        </p:nvSpPr>
        <p:spPr>
          <a:xfrm>
            <a:off x="2514600" y="19202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$195,000</a:t>
            </a:r>
            <a:endParaRPr/>
          </a:p>
        </p:txBody>
      </p:sp>
      <p:sp>
        <p:nvSpPr>
          <p:cNvPr id="131" name="Google Shape;131;p10"/>
          <p:cNvSpPr txBox="1"/>
          <p:nvPr/>
        </p:nvSpPr>
        <p:spPr>
          <a:xfrm>
            <a:off x="594360" y="21488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Living Area</a:t>
            </a:r>
            <a:endParaRPr/>
          </a:p>
        </p:txBody>
      </p:sp>
      <p:sp>
        <p:nvSpPr>
          <p:cNvPr id="132" name="Google Shape;132;p10"/>
          <p:cNvSpPr txBox="1"/>
          <p:nvPr/>
        </p:nvSpPr>
        <p:spPr>
          <a:xfrm>
            <a:off x="2514600" y="21488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1,580 sqft</a:t>
            </a:r>
            <a:endParaRPr/>
          </a:p>
        </p:txBody>
      </p:sp>
      <p:sp>
        <p:nvSpPr>
          <p:cNvPr id="133" name="Google Shape;133;p10"/>
          <p:cNvSpPr txBox="1"/>
          <p:nvPr/>
        </p:nvSpPr>
        <p:spPr>
          <a:xfrm>
            <a:off x="594360" y="23774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Bed / Bath</a:t>
            </a:r>
            <a:endParaRPr/>
          </a:p>
        </p:txBody>
      </p:sp>
      <p:sp>
        <p:nvSpPr>
          <p:cNvPr id="134" name="Google Shape;134;p10"/>
          <p:cNvSpPr txBox="1"/>
          <p:nvPr/>
        </p:nvSpPr>
        <p:spPr>
          <a:xfrm>
            <a:off x="2514600" y="23774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3 / 1.75</a:t>
            </a:r>
            <a:endParaRPr/>
          </a:p>
        </p:txBody>
      </p:sp>
      <p:sp>
        <p:nvSpPr>
          <p:cNvPr id="135" name="Google Shape;135;p10"/>
          <p:cNvSpPr txBox="1"/>
          <p:nvPr/>
        </p:nvSpPr>
        <p:spPr>
          <a:xfrm>
            <a:off x="594360" y="26060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Year Built</a:t>
            </a: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2514600" y="26060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1979</a:t>
            </a:r>
            <a:endParaRPr/>
          </a:p>
        </p:txBody>
      </p:sp>
      <p:sp>
        <p:nvSpPr>
          <p:cNvPr id="137" name="Google Shape;137;p10"/>
          <p:cNvSpPr txBox="1"/>
          <p:nvPr/>
        </p:nvSpPr>
        <p:spPr>
          <a:xfrm>
            <a:off x="594360" y="28346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Lot Size</a:t>
            </a:r>
            <a:endParaRPr/>
          </a:p>
        </p:txBody>
      </p:sp>
      <p:sp>
        <p:nvSpPr>
          <p:cNvPr id="138" name="Google Shape;138;p10"/>
          <p:cNvSpPr txBox="1"/>
          <p:nvPr/>
        </p:nvSpPr>
        <p:spPr>
          <a:xfrm>
            <a:off x="2514600" y="28346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7,875 sqft</a:t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594360" y="3154680"/>
            <a:ext cx="3840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Why William will love it:</a:t>
            </a: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594360" y="338328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Rural, quiet, no close neighbors</a:t>
            </a:r>
            <a:endParaRPr/>
          </a:p>
        </p:txBody>
      </p:sp>
      <p:sp>
        <p:nvSpPr>
          <p:cNvPr id="141" name="Google Shape;141;p10"/>
          <p:cNvSpPr txBox="1"/>
          <p:nvPr/>
        </p:nvSpPr>
        <p:spPr>
          <a:xfrm>
            <a:off x="594360" y="370332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Non-renovated = lower price</a:t>
            </a:r>
            <a:endParaRPr/>
          </a:p>
        </p:txBody>
      </p:sp>
      <p:sp>
        <p:nvSpPr>
          <p:cNvPr id="142" name="Google Shape;142;p10"/>
          <p:cNvSpPr txBox="1"/>
          <p:nvPr/>
        </p:nvSpPr>
        <p:spPr>
          <a:xfrm>
            <a:off x="594360" y="402336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Tied for lowest price in candidate pool</a:t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4640580" y="1463040"/>
            <a:ext cx="4046220" cy="34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4777740" y="1554480"/>
            <a:ext cx="384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House #2 - Zip 98022</a:t>
            </a:r>
            <a:endParaRPr/>
          </a:p>
        </p:txBody>
      </p:sp>
      <p:sp>
        <p:nvSpPr>
          <p:cNvPr id="145" name="Google Shape;145;p10"/>
          <p:cNvSpPr txBox="1"/>
          <p:nvPr/>
        </p:nvSpPr>
        <p:spPr>
          <a:xfrm>
            <a:off x="4777740" y="19202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/>
          </a:p>
        </p:txBody>
      </p:sp>
      <p:sp>
        <p:nvSpPr>
          <p:cNvPr id="146" name="Google Shape;146;p10"/>
          <p:cNvSpPr txBox="1"/>
          <p:nvPr/>
        </p:nvSpPr>
        <p:spPr>
          <a:xfrm>
            <a:off x="6697980" y="19202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$195,000</a:t>
            </a:r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4777740" y="21488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Living Area</a:t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6697980" y="21488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1,570 sqft</a:t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4777740" y="23774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Bed / Bath</a:t>
            </a: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6697980" y="23774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3 / 1.75</a:t>
            </a:r>
            <a:endParaRPr/>
          </a:p>
        </p:txBody>
      </p:sp>
      <p:sp>
        <p:nvSpPr>
          <p:cNvPr id="151" name="Google Shape;151;p10"/>
          <p:cNvSpPr txBox="1"/>
          <p:nvPr/>
        </p:nvSpPr>
        <p:spPr>
          <a:xfrm>
            <a:off x="4777740" y="26060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Year Built</a:t>
            </a:r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6697980" y="26060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1991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4777740" y="28346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Lot Size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6697980" y="2834640"/>
            <a:ext cx="192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8,459 sqft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4777740" y="3154680"/>
            <a:ext cx="3840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Why William will love it:</a:t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4777740" y="338328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Newer build, slightly larger lot</a:t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4777740" y="370332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Same price as House #1</a:t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4777740" y="402336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Tied for lowest price in candidate pool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H2: Lot Size vs Distance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Downtown Seattle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The farther from downtown, the bigger the lot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H2 Chart</a:t>
            </a:r>
            <a:endParaRPr/>
          </a:p>
        </p:txBody>
      </p:sp>
      <p:sp>
        <p:nvSpPr>
          <p:cNvPr id="171" name="Google Shape;171;p1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Lot Size Grows With Distance (Colored by Price)</a:t>
            </a: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2_plot_lotsize_vs_distance.png"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645" y="1611650"/>
            <a:ext cx="4678056" cy="3310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2"/>
          <p:cNvSpPr txBox="1"/>
          <p:nvPr/>
        </p:nvSpPr>
        <p:spPr>
          <a:xfrm>
            <a:off x="5723300" y="2682700"/>
            <a:ext cx="2843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Key Findings: </a:t>
            </a:r>
            <a:endParaRPr b="1" sz="12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-"/>
            </a:pPr>
            <a:r>
              <a:rPr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The bigger the distance from downtown, the bigger the lot size</a:t>
            </a:r>
            <a:endParaRPr sz="12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-"/>
            </a:pPr>
            <a:r>
              <a:rPr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Trend: +1,446 sqft/mile (avg.)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H2 Analysis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House Selection Criteria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595905" y="1490665"/>
            <a:ext cx="3931800" cy="32004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FF6B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778785" y="167354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Selection Criteria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870225" y="203930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Criteria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2424705" y="203930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870225" y="235934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Suburban Dist.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2424705" y="235934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~14.6 mi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870225" y="267938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Rural Dist.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2424705" y="267938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~29.7 mi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870225" y="299942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Suburban Lot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2424705" y="299942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641,203 sqft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870225" y="3319465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Rural Lot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2424705" y="3319465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1,651,359 sqft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805825" y="3630280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Homes Found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2360305" y="3630280"/>
            <a:ext cx="1828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H2 Recommendations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457200" y="73152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Suburban &amp; Rural Options</a:t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57200" y="1463040"/>
            <a:ext cx="4046220" cy="34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594360" y="1554480"/>
            <a:ext cx="384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Suburban</a:t>
            </a:r>
            <a:r>
              <a:rPr b="1" lang="en-US" sz="15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 - Zip 98070</a:t>
            </a:r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594360" y="19202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2514600" y="19202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$849,900</a:t>
            </a:r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594360" y="21488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2514600" y="21488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14.56 mi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594360" y="23774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Lot Size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2514600" y="23774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641,203 sqft</a:t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>
            <a:off x="594360" y="26060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Living Area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2514600" y="26060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2,280 sqft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594360" y="28346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Bed / Bath</a:t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2514600" y="28346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2 / 2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594360" y="3154680"/>
            <a:ext cx="384048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Why William will love it: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594360" y="338328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Quiet and peaceful, not too far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594360" y="370332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Large lot for outdoor space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594360" y="402336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Confirmed by H2: closer-in large lot</a:t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4640580" y="1463040"/>
            <a:ext cx="4046220" cy="34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4777740" y="1554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Rural - Zip 98022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4777740" y="19202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6697980" y="19202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$700,000</a:t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777740" y="21488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6697980" y="21488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29.66 mi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4777740" y="23774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Lot Size</a:t>
            </a:r>
            <a:endParaRPr/>
          </a:p>
        </p:txBody>
      </p:sp>
      <p:sp>
        <p:nvSpPr>
          <p:cNvPr id="227" name="Google Shape;227;p14"/>
          <p:cNvSpPr txBox="1"/>
          <p:nvPr/>
        </p:nvSpPr>
        <p:spPr>
          <a:xfrm>
            <a:off x="6697980" y="23774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1,651,359 sqft</a:t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4777740" y="26060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Living Area</a:t>
            </a:r>
            <a:endParaRPr/>
          </a:p>
        </p:txBody>
      </p:sp>
      <p:sp>
        <p:nvSpPr>
          <p:cNvPr id="229" name="Google Shape;229;p14"/>
          <p:cNvSpPr txBox="1"/>
          <p:nvPr/>
        </p:nvSpPr>
        <p:spPr>
          <a:xfrm>
            <a:off x="6697980" y="26060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1,300 sqft</a:t>
            </a:r>
            <a:endParaRPr/>
          </a:p>
        </p:txBody>
      </p:sp>
      <p:sp>
        <p:nvSpPr>
          <p:cNvPr id="230" name="Google Shape;230;p14"/>
          <p:cNvSpPr txBox="1"/>
          <p:nvPr/>
        </p:nvSpPr>
        <p:spPr>
          <a:xfrm>
            <a:off x="4777740" y="28346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Bed / Bath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6697980" y="28346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 / 1</a:t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4777740" y="3154680"/>
            <a:ext cx="384048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Why William will love it: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4777740" y="338328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Maximum quiet and solitude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4777740" y="370332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Huge lot: maximum privacy</a:t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4777740" y="402336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Cheaper than the suburban option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B54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H3: Floors vs Lot Size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Urban City House Analysis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more floors, the smaller</a:t>
            </a:r>
            <a:r>
              <a:rPr i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lot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H3 Chart</a:t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Lot Size by Floor Count (Urban Houses)</a:t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3_plot_floors_vs_lotsize.png" id="250" name="Google Shape;2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75" y="1400000"/>
            <a:ext cx="5514424" cy="370654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6"/>
          <p:cNvSpPr txBox="1"/>
          <p:nvPr/>
        </p:nvSpPr>
        <p:spPr>
          <a:xfrm>
            <a:off x="6128150" y="2995525"/>
            <a:ext cx="2843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Key Findings: </a:t>
            </a:r>
            <a:endParaRPr b="1" sz="12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-"/>
            </a:pPr>
            <a:r>
              <a:rPr b="0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The more floors, the smaller the lot </a:t>
            </a:r>
            <a:endParaRPr sz="12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-"/>
            </a:pPr>
            <a:r>
              <a:rPr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Pearson’s r </a:t>
            </a:r>
            <a:r>
              <a:rPr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 = - 0.316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/>
          <p:nvPr/>
        </p:nvSpPr>
        <p:spPr>
          <a:xfrm>
            <a:off x="595905" y="1490665"/>
            <a:ext cx="3931800" cy="32004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H3 Analysis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457200" y="7315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Floors vs Lot Size - Selection Criteria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954750" y="4069293"/>
            <a:ext cx="109800" cy="10980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1183350" y="40693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18,404 Urban houses analyzed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954750" y="4435053"/>
            <a:ext cx="109800" cy="10980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1183350" y="433446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4,706 match criteria; top 2 by price shown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778785" y="167354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Selection Criteria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870225" y="2039305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2607585" y="2039305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≥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870225" y="2386777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Lot Size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2607585" y="2386777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≤ 7,200 sqft (median)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870225" y="2734249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2607585" y="2734249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Urban (RUCA 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870225" y="3081721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Sort Order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2607585" y="3081721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Price descending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870225" y="3429193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Assumption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2607585" y="3429193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Pricier sells faster (proxy for demand)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870225" y="3776665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Homes Found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2607585" y="3776665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✓ 2 (tied at $2.95M)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H3 Recommendations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Two Compact City Homes</a:t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457200" y="1463040"/>
            <a:ext cx="4046220" cy="34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House #1 - Zip 98107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594360" y="19202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2514600" y="19202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$2,950,000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594360" y="21488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Floors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2514600" y="21488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3.0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594360" y="23774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Lot Size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2514600" y="23774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5,722 sqft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594360" y="26060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Living Area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2514600" y="26060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4,340 sqft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594360" y="28346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Bed / Bath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2514600" y="28346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5 / 4.5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594360" y="3154680"/>
            <a:ext cx="384048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Why William will love it: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594360" y="338328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Genuinely vertical, compact footprint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594360" y="370332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Well below the Urban median lot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594360" y="402336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Tied for highest price - assumed fastest sale</a:t>
            </a:r>
            <a:endParaRPr/>
          </a:p>
        </p:txBody>
      </p:sp>
      <p:sp>
        <p:nvSpPr>
          <p:cNvPr id="301" name="Google Shape;301;p18"/>
          <p:cNvSpPr/>
          <p:nvPr/>
        </p:nvSpPr>
        <p:spPr>
          <a:xfrm>
            <a:off x="4640580" y="1463040"/>
            <a:ext cx="4046220" cy="34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4777740" y="1554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6B54"/>
                </a:solidFill>
                <a:latin typeface="Calibri"/>
                <a:ea typeface="Calibri"/>
                <a:cs typeface="Calibri"/>
                <a:sym typeface="Calibri"/>
              </a:rPr>
              <a:t>House #2 - Zip 98199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4777740" y="19202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/>
          </a:p>
        </p:txBody>
      </p:sp>
      <p:sp>
        <p:nvSpPr>
          <p:cNvPr id="304" name="Google Shape;304;p18"/>
          <p:cNvSpPr txBox="1"/>
          <p:nvPr/>
        </p:nvSpPr>
        <p:spPr>
          <a:xfrm>
            <a:off x="6697980" y="19202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$2,950,000</a:t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4777740" y="21488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Floors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6697980" y="21488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4777740" y="23774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Lot Size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6697980" y="23774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5,884 sqft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4777740" y="26060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Living Area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6697980" y="26060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4,470 sqft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4777740" y="28346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Bed / Bath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6697980" y="2834640"/>
            <a:ext cx="192024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 / 4.25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4777740" y="3154680"/>
            <a:ext cx="384048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Why William will love it:</a:t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4777740" y="338328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Slightly larger living area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4777740" y="370332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Well below the Urban median lot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4777740" y="4023360"/>
            <a:ext cx="384048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✓ Tied for highest price - assumed fastest sale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B54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 txBox="1"/>
          <p:nvPr/>
        </p:nvSpPr>
        <p:spPr>
          <a:xfrm>
            <a:off x="457200" y="1971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for listening and paying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