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70" r:id="rId21"/>
    <p:sldId id="268" r:id="rId19"/>
    <p:sldId id="262" r:id="rId8"/>
    <p:sldId id="263" r:id="rId9"/>
    <p:sldId id="264" r:id="rId10"/>
    <p:sldId id="272" r:id="rId23"/>
    <p:sldId id="275" r:id="rId26"/>
    <p:sldId id="277" r:id="rId28"/>
    <p:sldId id="271" r:id="rId22"/>
    <p:sldId id="265" r:id="rId11"/>
    <p:sldId id="266" r:id="rId12"/>
    <p:sldId id="274" r:id="rId25"/>
    <p:sldId id="273" r:id="rId24"/>
    <p:sldId id="267" r:id="rId13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2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6.xml"/><Relationship Id="rId23" Type="http://schemas.openxmlformats.org/officeDocument/2006/relationships/slide" Target="slides/slide13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22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file:///Users/mohammadbajbouj/Desktop/neuefische/learing-material/week4/mohammad-ds-project-template/mohammad-ds-project-template/work_and_report/figures/H2_plot_lotsize_geographic_map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Buyer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Home Recommendations Based on Market Hypotheses</a:t>
            </a:r>
            <a:endParaRPr lang="en-US" sz="1800" dirty="0"/>
          </a:p>
        </p:txBody>
      </p:sp>
      <p:sp>
        <p:nvSpPr>
          <p:cNvPr id="4" name="TextBox 3"/>
          <p:cNvSpPr txBox="1"/>
          <p:nvPr/>
        </p:nvSpPr>
        <p:spPr>
          <a:xfrm>
            <a:off x="5715400" y="464058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i="1">
                <a:solidFill>
                  <a:srgbClr val="FFFFFF"/>
                </a:solidFill>
                <a:latin typeface="Calibri"/>
              </a:rPr>
              <a:t>Done by Mohammad Bajbouj &amp; Tim Pfeifer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Workflow 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H1 Analysis, Recommendations &amp; Charts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H2 Analysis, Recommendations &amp; Charts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H3 Analysis, Recommendations &amp; Charts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Two-House Strategy Summary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King County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~21K properties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8E8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4884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3192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3192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vs price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homes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2356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0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1500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71500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+1,440 sqft/mi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F7E8D4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compact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1188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9496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7804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Targets: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5800" y="3154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Rural, Non-Renovated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2044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34747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10mi+, Large Lot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5800" y="3794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2+ Floors, Urban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Price vs Renovation Status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non-renovated rural homes are cheaper, controlling for size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Renovation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 houses only (3 zip codes)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 direction varies by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homes: $8K cheaper (non-reno)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homes: $21.75K cheaper (non-reno)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homes: $2.5K pricier (non-reno)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 houses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Zips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98038/42/23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Location: Rural (quiet, private)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Renovation: Non-Renovated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Size: Medium (1,677-2,260 sqft)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Sorted by price (best value)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Matches "space over polish"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Rural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Non-Renovated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Range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Medium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98023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(by Size)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_plot_price_by_renov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23763"/>
            <a:ext cx="8686800" cy="27024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Effect direction is mixed across Small / Medium / Large rural homes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(Medium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_plot_price_by_renovation_status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751" y="1400000"/>
            <a:ext cx="4098497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Focus view: the size band actually used for William's two candidates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Rural Homes for William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$182,700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1,740 sqft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/ 2.25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6,650 sqft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Rural, quiet, no close neighbors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Non-renovated = lower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Lowest price in candidate pool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1,990 sqft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27,810 sqft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Much larger lot for the dog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More bedrooms, similar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Second-lowest price in pool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Lot Size vs Distance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lot size grows the farther a home is from downtown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correlation confirmed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Effect: +1,440 sqft/mile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significant (p &lt; 0.001)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~20,900 houses analyzed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H2 hypothesis confirmed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Lot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sqft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~14,400 sqft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~19,000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~23,600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0.2435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Distance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Suburban: ~10-15 miles out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Rural: 15+ miles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Pick largest lot in each band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Non-Renovated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Two distinct price/space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Dist.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~14.6 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~29.7 mi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Lot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641,203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Lot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1,651,359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Grows With Distance (Colored by Price)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lotsiz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50" y="1400000"/>
            <a:ext cx="5016700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An interactive Seattle map version (zoomable) is also available in work_and_report/figures/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vs Distance (Medium Lot-Size Homes)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price_vs_distance_medium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95" y="1400000"/>
            <a:ext cx="4874409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Among similarly-sized lots, price still drops sharply the farther out you 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 -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Explore the Map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600200"/>
            <a:ext cx="5943600" cy="305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  <a:hlinkClick r:id="rId2"/>
              </a:rPr>
              <a:t>H2_plot_lotsize_geographic_map.html</a:t>
            </a:r>
          </a:p>
          <a:p>
            <a:pPr algn="ctr">
              <a:spcBef>
                <a:spcPts val="1800"/>
              </a:spcBef>
            </a:pPr>
            <a:r>
              <a:rPr sz="1100" i="1">
                <a:solidFill>
                  <a:srgbClr val="4A4A4A"/>
                </a:solidFill>
                <a:latin typeface="Calibri"/>
              </a:rPr>
              <a:t>Click to open (works in PowerPoint/Keynote)</a:t>
            </a:r>
          </a:p>
          <a:p>
            <a:pPr algn="ctr">
              <a:spcBef>
                <a:spcPts val="1800"/>
              </a:spcBef>
            </a:pPr>
            <a:r>
              <a:rPr sz="1100">
                <a:solidFill>
                  <a:srgbClr val="4A4A4A"/>
                </a:solidFill>
                <a:latin typeface="Calibri"/>
              </a:rPr>
              <a:t>Every house in Seattle, zoomable and pannable.
Toggle the color between Lot Size and Price.
Hover any point for price, lot size, and distance.</a:t>
            </a:r>
          </a:p>
          <a:p>
            <a:pPr algn="ctr">
              <a:spcBef>
                <a:spcPts val="1600"/>
              </a:spcBef>
            </a:pPr>
            <a:r>
              <a:rPr sz="1050" b="1">
                <a:solidFill>
                  <a:srgbClr val="FF6B54"/>
                </a:solidFill>
                <a:latin typeface="Calibri"/>
              </a:rPr>
              <a:t>If the link doesn't open (common in PDF viewers like Preview):</a:t>
            </a:r>
          </a:p>
          <a:p>
            <a:pPr algn="ctr">
              <a:spcBef>
                <a:spcPts val="600"/>
              </a:spcBef>
            </a:pPr>
            <a:r>
              <a:rPr sz="1050">
                <a:solidFill>
                  <a:srgbClr val="4A4A4A"/>
                </a:solidFill>
                <a:latin typeface="Calibri"/>
              </a:rPr>
              <a:t>Open Finder → navigate to the project folder → work_and_report → figures</a:t>
            </a:r>
          </a:p>
          <a:p>
            <a:pPr algn="ctr">
              <a:spcBef>
                <a:spcPts val="400"/>
              </a:spcBef>
            </a:pPr>
            <a:r>
              <a:rPr sz="1050" i="1">
                <a:solidFill>
                  <a:srgbClr val="4A4A4A"/>
                </a:solidFill>
                <a:latin typeface="Calibri"/>
              </a:rPr>
              <a:t>then double-click H2_plot_lotsize_geographic_map.html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Suburban and Rural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Suburban - Zip 98070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$849,900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14.56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641,203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2,280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Quiet and peaceful, not too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Large lot for outdoor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Confirmed by H2: closer-in large 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Rural - Zip 98022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$700,000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29.66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1,651,359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1,300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Maximum quiet and solitude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Huge lot: maximum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Cheaper than the suburban 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Floors vs Lot Size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City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multi-floor homes sit on smaller, more compact lots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 - Findings &amp;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correlation: r = -0.316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4884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significant: p &lt; 0.0001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51460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18,404 Urban houses analyzed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880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4,706 houses match criteria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1868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24612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lots = vertical living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≥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≤ 7,200 sqft (median)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Urban (RUCA 1)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Order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Price descending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Assumption*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Pricier sells faster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(tied at $2.95M)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by Floor Count (Urban Houses)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3_plot_floors_vs_lo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43" y="1400000"/>
            <a:ext cx="5281514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More floors goes with smaller lots - r = -0.316, p &lt; 0.0001, n = 18,404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Compact City Homes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5,722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4,340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vertical, compact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98199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5,884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4,470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4.25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Slightly larger living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Strategy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E8E0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Country House + City House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F0F8E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Country House - H1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Rural, Non-Renovated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size preferred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$182.7K - $185K range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03120"/>
            <a:ext cx="2651760" cy="2103120"/>
          </a:xfrm>
          <a:prstGeom prst="rect">
            <a:avLst/>
          </a:prstGeom>
          <a:solidFill>
            <a:srgbClr val="F0E8F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House (H3)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2+ floors, compact lot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Urban core (RUCA 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Candidates: tied at $2.95M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FCEAE3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A5F"/>
                </a:solidFill>
                <a:latin typeface="Calibri"/>
              </a:rPr>
              <a:t>📍 Country House - 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10mi+ = bigger 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44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Suburban or Rural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392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$700K - $850K range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71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Thank you for listening and paying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2026-09-17T13:14:00Z</dcterms:created>
  <dcterms:modified xsi:type="dcterms:W3CDTF">2026-09-17T13:14:00Z</dcterms:modified>
</cp:coreProperties>
</file>