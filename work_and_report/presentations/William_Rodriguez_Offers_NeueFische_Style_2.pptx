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20"/>
    <p:sldId id="270" r:id="rId21"/>
    <p:sldId id="268" r:id="rId19"/>
    <p:sldId id="262" r:id="rId8"/>
    <p:sldId id="263" r:id="rId9"/>
    <p:sldId id="264" r:id="rId10"/>
    <p:sldId id="272" r:id="rId23"/>
    <p:sldId id="275" r:id="rId26"/>
    <p:sldId id="277" r:id="rId28"/>
    <p:sldId id="271" r:id="rId22"/>
    <p:sldId id="265" r:id="rId11"/>
    <p:sldId id="266" r:id="rId12"/>
    <p:sldId id="274" r:id="rId25"/>
    <p:sldId id="273" r:id="rId24"/>
    <p:sldId id="267" r:id="rId13"/>
    <p:sldId id="276" r:id="rId27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7.xml"/><Relationship Id="rId12" Type="http://schemas.openxmlformats.org/officeDocument/2006/relationships/slide" Target="slides/slide18.xml"/><Relationship Id="rId13" Type="http://schemas.openxmlformats.org/officeDocument/2006/relationships/slide" Target="slides/slide2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9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16.xml"/><Relationship Id="rId23" Type="http://schemas.openxmlformats.org/officeDocument/2006/relationships/slide" Target="slides/slide13.xml"/><Relationship Id="rId24" Type="http://schemas.openxmlformats.org/officeDocument/2006/relationships/slide" Target="slides/slide20.xml"/><Relationship Id="rId25" Type="http://schemas.openxmlformats.org/officeDocument/2006/relationships/slide" Target="slides/slide19.xml"/><Relationship Id="rId26" Type="http://schemas.openxmlformats.org/officeDocument/2006/relationships/slide" Target="slides/slide14.xml"/><Relationship Id="rId27" Type="http://schemas.openxmlformats.org/officeDocument/2006/relationships/slide" Target="slides/slide22.xml"/><Relationship Id="rId28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file:///Users/mohammadbajbouj/Desktop/neuefische/learing-material/week4/mohammad-ds-project-template/mohammad-ds-project-template/work_and_report/figures/H2_plot_lotsize_geographic_map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Rodriguez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Two-House Buyer Recommendations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Home Recommendations Based on Market Hypotheses</a:t>
            </a: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5715400" y="4640580"/>
            <a:ext cx="32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i="1">
                <a:solidFill>
                  <a:srgbClr val="FFFFFF"/>
                </a:solidFill>
                <a:latin typeface="Calibri"/>
              </a:rPr>
              <a:t>Done by Mohammad Bajbouj &amp; Tim Pfeifer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45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Workflow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H1 Analysis, Recommendations &amp; Charts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H2 Analysis, Recommendations &amp; Charts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H3 Analysis, Recommendations &amp; Charts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Two-House Strategy Summary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D4E8F7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King County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~21K properties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4884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4884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D4E8F7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93192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 vs price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homes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2356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E8E0F7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1500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1500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vs lot size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+1,440 sqft/mi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7E8D4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vs lot size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compact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1188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7804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William's Targets: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13716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85800" y="3154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Rural, Non-Renovated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13716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5800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10mi+, Large Lot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13716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85800" y="3794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2+ Floors, Urban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6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Price vs Renovation Status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House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non-renovated rural homes are cheaper, controlling for size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Renovation -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Rural = RUCA-classified (849 houses, 49 zips)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 direction inconsistent by size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Medium homes: $1.55K cheaper (non-reno)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homes: $12.5K pricier (non-reno)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homes: $5.8K pricier (non-reno)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houses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$1,550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Def.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RUCA codes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Selection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Targets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Location: Rural (quiet, private)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Renovation: Non-Renovated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Size: Medium (1,740-2,550 sqft)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Sorted by price (best value)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Matches "space over polish" persona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Rural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Non-Renovated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Range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Medium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Zipcodes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98014 / 98045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Found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H1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Price by Renovation Status (by Size)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980000"/>
            <a:ext cx="82296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Calibri"/>
              </a:rPr>
              <a:t>Effect direction is mixed across Small / Medium / Large rural homes</a:t>
            </a:r>
          </a:p>
        </p:txBody>
      </p:sp>
      <p:pic>
        <p:nvPicPr>
          <p:cNvPr id="7" name="Picture 6" descr="H1_plot_price_by_renovation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3763"/>
            <a:ext cx="8686800" cy="27024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H1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Price by Renovation Status (Medium 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980000"/>
            <a:ext cx="82296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Calibri"/>
              </a:rPr>
              <a:t>Focus view: the size band actually used for William's two candidates</a:t>
            </a:r>
          </a:p>
        </p:txBody>
      </p:sp>
      <p:pic>
        <p:nvPicPr>
          <p:cNvPr id="7" name="Picture 6" descr="H1_plot_price_by_renovation_status_med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751" y="1400000"/>
            <a:ext cx="4098497" cy="35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H1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Two Rural Homes for William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114800" cy="345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54"/>
                </a:solidFill>
                <a:latin typeface="Calibri"/>
              </a:rPr>
              <a:t>House #1 - Zip 98014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$265,000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Living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1,850 sqft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Bed / Bath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3 /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Year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1992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Lot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16,535 sqft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54680"/>
            <a:ext cx="384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3A5F"/>
                </a:solidFill>
                <a:latin typeface="Calibri"/>
              </a:rPr>
              <a:t>Why William will love it: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8328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Genuinely rural (RUCA-classified)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Non-renovated = lower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Lowest price in candidate pool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463040"/>
            <a:ext cx="4114800" cy="345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54"/>
                </a:solidFill>
                <a:latin typeface="Calibri"/>
              </a:rPr>
              <a:t>House #2 - Zip 98045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$271,000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Living Area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1,800 sqft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Bed / Bath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4 / 1.5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Year Built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1977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Lot Size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9,576 sqft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154680"/>
            <a:ext cx="384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3A5F"/>
                </a:solidFill>
                <a:latin typeface="Calibri"/>
              </a:rPr>
              <a:t>Why William will love it: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38328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More bedrooms, similar price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70332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Genuinely rural (RUCA-classified)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02336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Second-lowest price in pool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Lot Size vs Distance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Downtown Seattle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lot size grows the farther a home is from downtown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vs Lot Size -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Positive correlation confirmed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Effect: +1,440 sqft/mile 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Highly significant (p &lt; 0.001)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~20,900 houses analyzed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H2 hypothesis confirmed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Lot Size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sqft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~14,400 sqft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~19,000 sqft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~23,600 sqft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0.2435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Selection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Distance Tiers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Suburban: ~10-15 miles 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Rural: 15+ miles 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Pick largest lot in each band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Non-Renovated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Two distinct price/space tiers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Dist.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~14.6 mi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Dist.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~29.7 mi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Lot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641,203 sqft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Lot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1,651,359 sqft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Found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H2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Lot Size Grows With Distance (Colored by Price)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2_plot_lotsize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650" y="1400000"/>
            <a:ext cx="5016700" cy="35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980000"/>
            <a:ext cx="82296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Calibri"/>
              </a:rPr>
              <a:t>An interactive Seattle map version (zoomable) is also available in work_and_report/figures/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H2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Price vs Distance (Medium Lot-Size Homes)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2_plot_price_vs_distance_medium_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795" y="1400000"/>
            <a:ext cx="4874409" cy="35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980000"/>
            <a:ext cx="82296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Calibri"/>
              </a:rPr>
              <a:t>Among similarly-sized lots, price still drops sharply the farther out you 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H2 Chart - Interactive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Explore the Map Yourself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0200" y="1600200"/>
            <a:ext cx="5943600" cy="305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  <a:hlinkClick r:id="rId2"/>
              </a:rPr>
              <a:t>H2_plot_lotsize_geographic_map.html</a:t>
            </a:r>
          </a:p>
          <a:p>
            <a:pPr algn="ctr">
              <a:spcBef>
                <a:spcPts val="1800"/>
              </a:spcBef>
            </a:pPr>
            <a:r>
              <a:rPr sz="1100" i="1">
                <a:solidFill>
                  <a:srgbClr val="4A4A4A"/>
                </a:solidFill>
                <a:latin typeface="Calibri"/>
              </a:rPr>
              <a:t>Click to open (works in PowerPoint/Keynote)</a:t>
            </a:r>
          </a:p>
          <a:p>
            <a:pPr algn="ctr">
              <a:spcBef>
                <a:spcPts val="1800"/>
              </a:spcBef>
            </a:pPr>
            <a:r>
              <a:rPr sz="1100">
                <a:solidFill>
                  <a:srgbClr val="4A4A4A"/>
                </a:solidFill>
                <a:latin typeface="Calibri"/>
              </a:rPr>
              <a:t>Every house in Seattle, zoomable and pannable.
Toggle the color between Lot Size and Price.
Hover any point for price, lot size, and distance.</a:t>
            </a:r>
          </a:p>
          <a:p>
            <a:pPr algn="ctr">
              <a:spcBef>
                <a:spcPts val="1600"/>
              </a:spcBef>
            </a:pPr>
            <a:r>
              <a:rPr sz="1050" b="1">
                <a:solidFill>
                  <a:srgbClr val="FF6B54"/>
                </a:solidFill>
                <a:latin typeface="Calibri"/>
              </a:rPr>
              <a:t>If the link doesn't open (common in PDF viewers like Preview):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4A4A4A"/>
                </a:solidFill>
                <a:latin typeface="Calibri"/>
              </a:rPr>
              <a:t>Open Finder → navigate to the project folder → work_and_report → figures</a:t>
            </a:r>
          </a:p>
          <a:p>
            <a:pPr algn="ctr">
              <a:spcBef>
                <a:spcPts val="400"/>
              </a:spcBef>
            </a:pPr>
            <a:r>
              <a:rPr sz="1050" i="1">
                <a:solidFill>
                  <a:srgbClr val="4A4A4A"/>
                </a:solidFill>
                <a:latin typeface="Calibri"/>
              </a:rPr>
              <a:t>then double-click H2_plot_lotsize_geographic_map.html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H2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Suburban and Rural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114800" cy="345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54"/>
                </a:solidFill>
                <a:latin typeface="Calibri"/>
              </a:rPr>
              <a:t>Suburban - Zip 98070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$849,900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14.56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641,203 sqft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Living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2,280 sqft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Bed / Bath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2 /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54680"/>
            <a:ext cx="384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3A5F"/>
                </a:solidFill>
                <a:latin typeface="Calibri"/>
              </a:rPr>
              <a:t>Why William will love it: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8328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Quiet and peaceful, not too far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Large lot for outdoor 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Confirmed by H2: closer-in large lot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463040"/>
            <a:ext cx="4114800" cy="345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54"/>
                </a:solidFill>
                <a:latin typeface="Calibri"/>
              </a:rPr>
              <a:t>Rural - Zip 98022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$700,000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Distance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29.66 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Lot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1,651,359 sqft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Living Area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1,300 sqft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Bed / Bath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4 /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154680"/>
            <a:ext cx="384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3A5F"/>
                </a:solidFill>
                <a:latin typeface="Calibri"/>
              </a:rPr>
              <a:t>Why William will love it: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38328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Maximum quiet and solitude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70332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Huge lot: maximum privacy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02336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Cheaper than the suburban option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Floors vs Lot Size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City House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multi-floor homes sit on smaller, more compact lots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vs Lot Size - Findings &amp;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78308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correlation: r = -0.316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14884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significant: p &lt; 0.0001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251460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18,404 Urban houses analyzed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288036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4,706 houses match criteria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32461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lots = vertical living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0116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≥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3591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Size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3591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≤ 7,200 sqft (median)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7066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7066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Urban (RUCA 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05409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Order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305409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Price descending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4015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Assumption*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34015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Pricier sells faster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7490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Found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7490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 (tied at $2.95M)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H3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Lot Size by Floor Count (Urban Houses)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3_plot_floors_vs_lot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243" y="1400000"/>
            <a:ext cx="5281514" cy="35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980000"/>
            <a:ext cx="82296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4A4A"/>
                </a:solidFill>
                <a:latin typeface="Calibri"/>
              </a:rPr>
              <a:t>More floors goes with smaller lots - r = -0.316, p &lt; 0.0001, n = 18,404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54"/>
                </a:solidFill>
                <a:latin typeface="Calibri"/>
              </a:rPr>
              <a:t>H3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5F"/>
                </a:solidFill>
                <a:latin typeface="Calibri"/>
              </a:rPr>
              <a:t>Two Compact City Homes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114800" cy="345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54"/>
                </a:solidFill>
                <a:latin typeface="Calibri"/>
              </a:rPr>
              <a:t>House #1 - Zip 98107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$2,950,000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Floors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5,722 sqft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Living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4,340 sqft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Bed / Bath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5 / 4.5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54680"/>
            <a:ext cx="384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3A5F"/>
                </a:solidFill>
                <a:latin typeface="Calibri"/>
              </a:rPr>
              <a:t>Why William will love it: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8328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Genuinely vertical, compact footprint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Well below the Urban median 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Tied for highest price - assumed fastest sale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463040"/>
            <a:ext cx="4114800" cy="345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54"/>
                </a:solidFill>
                <a:latin typeface="Calibri"/>
              </a:rPr>
              <a:t>House #2 - Zip 98199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9202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$2,950,000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Floors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1488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Lot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3774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5,884 sqft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Living Area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6060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4,470 sqft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Calibri"/>
              </a:rPr>
              <a:t>Bed / Bath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834640"/>
            <a:ext cx="19202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4 / 4.25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154680"/>
            <a:ext cx="3840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E3A5F"/>
                </a:solidFill>
                <a:latin typeface="Calibri"/>
              </a:rPr>
              <a:t>Why William will love it: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38328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Slightly larger living area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70332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Well below the Urban median 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023360"/>
            <a:ext cx="38404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✓ Tied for highest price - assumed fastest sale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Two-House Strategy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FE8E0"/>
          </a:solidFill>
          <a:ln w="25400">
            <a:solidFill>
              <a:srgbClr val="FF6B5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William's Country House + City House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51760" cy="2103120"/>
          </a:xfrm>
          <a:prstGeom prst="rect">
            <a:avLst/>
          </a:prstGeom>
          <a:solidFill>
            <a:srgbClr val="F0F8E8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Country House - H1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Rural, Non-Renovated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44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Medium size preferred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3924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$265K - $271K range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2103120"/>
            <a:ext cx="2651760" cy="2103120"/>
          </a:xfrm>
          <a:prstGeom prst="rect">
            <a:avLst/>
          </a:prstGeom>
          <a:solidFill>
            <a:srgbClr val="F0E8F8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City House (H3)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2+ floors, compact lot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3044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Urban core (RUCA 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33924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Candidates: tied at $2.95M</a:t>
            </a:r>
            <a:endParaRPr lang="en-US" sz="1000" dirty="0"/>
          </a:p>
        </p:txBody>
      </p:sp>
      <p:sp>
        <p:nvSpPr>
          <p:cNvPr id="19" name="Rectangle 18"/>
          <p:cNvSpPr/>
          <p:nvPr/>
        </p:nvSpPr>
        <p:spPr>
          <a:xfrm>
            <a:off x="3246120" y="2103120"/>
            <a:ext cx="2651760" cy="2103120"/>
          </a:xfrm>
          <a:prstGeom prst="rect">
            <a:avLst/>
          </a:prstGeom>
          <a:solidFill>
            <a:srgbClr val="FCEAE3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286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3A5F"/>
                </a:solidFill>
                <a:latin typeface="Calibri"/>
              </a:rPr>
              <a:t>📍 Country House - H2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974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Calibri"/>
              </a:rPr>
              <a:t>• 10mi+ = bigger 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044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Calibri"/>
              </a:rPr>
              <a:t>• Suburban or Rural tiers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3924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A4A4A"/>
                </a:solidFill>
                <a:latin typeface="Calibri"/>
              </a:rPr>
              <a:t>• $700K - $850K range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54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710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Thank you for listening and paying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2026-09-17T13:14:00Z</dcterms:created>
  <dcterms:modified xsi:type="dcterms:W3CDTF">2026-09-17T13:14:00Z</dcterms:modified>
</cp:coreProperties>
</file>