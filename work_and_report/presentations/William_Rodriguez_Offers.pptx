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 presentation combining H1 (Price vs Living Space), H2 (Renovation Needs vs Price), and H3 (Floors vs Lot Size) analyses for William Rodriguez's dual-property investment strategy.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Optimized presentation combining three hypothesis tests into a concise 12-slide investment framework for William Rodriguez.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H1 analysis: Does house price correlate strongly with living space? Establishes baseline price-per-sqft patterns for budget planning.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H1 combines research question and methodology: Pearson correlation tests whether price scales reliably with living space, enabling budget-per-sqft benchmarks.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H1 confirms reliable price-per-sqft scaling, providing William with benchmarks to identify undervalued properties within his budget constraints.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H1 provides budget foundation: identify price-efficient living space. H2 and H3 refine selection by renovation readiness and urban location.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H2 analysis: Do houses in poor condition command lower prices? Identifies which properties offer renovation value vs. which are already premium-priced.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H2 tests whether condition discounts exist in market pricing. For William's city houses, move-in-ready (high-grade, newer) properties avoid renovation risk and enable faster resale.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H2 validates William's city house preference: move-in-ready properties command premium pricing but avoid renovation risk and enable rapid turnaround.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H2 refines H1 budget strategy: prioritize move-in-ready, avoid renovation risk. H3 will complete the profile with urban/architectural specifications.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H3 analysis: Do urban houses with more floors sit on smaller lots? This defines the geographic/architectural profile of ideal city properties.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H3 uses RUCA codes for objective urban classification and Spearman correlation (appropriate for discrete floor counts) to test relationship.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H3 completes the profile: urban + vertical + compact = optimal city property. Combined with H1 budget and H2 renovation readiness, defines ideal acquisition target.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summary: William's dual-property investment strategy is validated across three dimensions—pricing efficiency (H1), move-in readiness (H2), and urban architecture (H3)—providing complete framework for optimal property acquisition.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 Rodriguez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Analysis &amp; Property Offers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• H2 • H3 Analysis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analysis of price, renovation value, and urban property characteristics for dual-strategy investment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65760" cy="3657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1430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H1: Price vs Living Space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040880" y="1143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3-5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6576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373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H2: Renovation Needs vs Price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040880" y="17373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6-8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36576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3317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H3: Floors vs Lot Size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40880" y="2331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9-11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365760" cy="3657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9260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Strategy Summary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40880" y="2926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H1: Price vs Living Space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Establishing Budget &amp; Size Preferences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H1: Research Question &amp; Methodology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solidFill>
            <a:srgbClr val="3B82F6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0584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Question: Does house price correlate strongly with living space (sqft_living)?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21488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17520" y="2148840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correlation between price and sqft_living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4688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Price-per-sqft Analysis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0" y="2468880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average price per square foot benchmarks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7889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Benchmarking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17520" y="2788920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price ranges for different living space targets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0" y="3108960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patterns across price and size categories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H1: Findings &amp; Market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Baseline (~21,000 properties):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51760" cy="8686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2588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Price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$530K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1234440"/>
            <a:ext cx="2651760" cy="8686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32588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Living Space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91840" y="1600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~2,080 sqft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0" y="1234440"/>
            <a:ext cx="2651760" cy="8686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132588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Price-per-sqft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35040" y="1600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~$255/sqft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22402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2560320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Strong positive correlation between price and living space—enables reliable budget planning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944368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Price-per-sqft benchmarks establish baseline for identifying undervalued properties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328416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Linear relationship suggests efficient market pricing; outliers represent opportunities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H1: Budget Recommendations for William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291840"/>
          </a:xfrm>
          <a:prstGeom prst="rect">
            <a:avLst/>
          </a:prstGeom>
          <a:solidFill>
            <a:srgbClr val="F3F4F6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Approach: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758952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Define target price range and desired living space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Cross-reference with H1 price-per-sqft benchmarks ($255/sqft baseline)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Identify properties priced below market benchmarks (undervalued)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Validate findings with H2 (renovation potential) and H3 (urban location) analyses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Properties where living space value exceeds purchase price, enabling rapid renovation and resale profit margins.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H2: Renovation Needs vs Price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Move-In Ready Value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H2: Research Question &amp; Methodology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solidFill>
            <a:srgbClr val="0D9488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0584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Question: Do houses in poor condition command lower prices, representing renovation opportunities?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21488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Scoring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17520" y="2148840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renovation need from grade, year built, condition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4688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Correlation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0" y="2468880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relationship between condition and price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7889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Identification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17520" y="2788920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undervalued properties with renovation potential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Ranking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0" y="3108960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by renovation upside vs. purchase price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H2: Findings &amp; City House Strategy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Condition discount confirmed: Older, lower-grade homes are significantly undervalued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563624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 premium exists: Newer homes command prices that may exceed post-renovation value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892808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Market inefficiency: Some condition factors not fully reflected in current pricing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William's City House Strategy: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4023360" cy="1188720"/>
          </a:xfrm>
          <a:prstGeom prst="rect">
            <a:avLst/>
          </a:prstGeom>
          <a:solidFill>
            <a:srgbClr val="F3F4F6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74320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Move-In Ready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(Preferred)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Newer, high grade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renovation costs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Quick resale ready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 urban turnover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2651760"/>
            <a:ext cx="4023360" cy="1188720"/>
          </a:xfrm>
          <a:prstGeom prst="rect">
            <a:avLst/>
          </a:prstGeom>
          <a:solidFill>
            <a:srgbClr val="F3F4F6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274320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Older, low grade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Discounted entry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Long-term value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Holds for appreciation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H2: City House Acquisition Profile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291840"/>
          </a:xfrm>
          <a:prstGeom prst="rect">
            <a:avLst/>
          </a:prstGeom>
          <a:solidFill>
            <a:srgbClr val="F3F4F6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5156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Criteria (H1 + H2 Combined):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777240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Price-to-living-space: Within or below H1 market benchmark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Condition: Move-in ready (newer, high grade, recently renovated)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Premium pricing justified: Reduced turnover time offsets higher entry price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H3 adds final layer: Urban location with multi-floor, compact lot profile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Target outcome: Acquire &gt; Hold brief period &gt; Rapid resale at lifestyle premium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H3: Floors vs Lot Size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Property Characteristics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H3: Research Question &amp; Methodology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solidFill>
            <a:srgbClr val="F59E0B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0584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Question: Do houses with more floors tend to sit on smaller lots in urban areas?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21488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Classification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17520" y="2148840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RUCA codes (RUCA 1 = urban core) for objective classification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4688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0" y="2468880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outliers via IQR method, deduplicate sales, validate data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7889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Exploration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17520" y="2788920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Scatterplot and boxplot reveal trend between floors and lot size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Correlation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0" y="3108960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discrete variable relationship (appropriate for floor count)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H3: Findings &amp; Urban Property Profile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Negative correlation confirmed: More floors strongly correlate with smaller lots in urban areas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563624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Vertical development: Urban density forces compact building footprints—multi-floor homes are natural form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892808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Land premium: Urban locations command premium prices for limited land area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Profile (H1 + H2 + H3 Combined):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7863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Urban location (RUCA 1)  ✓ Multi-story: 2+ floors  ✓ Compact lot (≤ ~7,500 sqft)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Move-in ready condition  ✓ Price aligned with H1 benchmarks  ✓ Fast-sale positioning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 Rodriguez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Investment Framework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Dual-Property Strategy: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Houses: Long-term land value &amp; expansion opportunity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Houses: Quick-turnover urban investment with lifestyle appeal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(Budget) + H2 (Condition) + H3 (Location) = Optimal City House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33756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Price-efficient living space • Move-in ready • Urban multi-floor • Compact lot • Fast resale ready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2026-09-17T10:28:51Z</dcterms:created>
  <dcterms:modified xsi:type="dcterms:W3CDTF">2026-09-17T10:28:51Z</dcterms:modified>
</cp:coreProperties>
</file>