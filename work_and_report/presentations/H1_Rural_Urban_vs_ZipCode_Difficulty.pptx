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E3A5F"/>
                </a:solidFill>
                <a:latin typeface="Calibri"/>
              </a:rPr>
              <a:t>Why Rural vs Urban Was Hard to Identify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4A4A4A"/>
                </a:solidFill>
                <a:latin typeface="Calibri"/>
              </a:rPr>
              <a:t>The dataset has no Rural/Urban label, so it had to be derived from housing density (sales per km²) computed directly from each zip code's lat/long coordinates.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74520"/>
            <a:ext cx="4000500" cy="2880000"/>
          </a:xfrm>
          <a:prstGeom prst="rect">
            <a:avLst/>
          </a:prstGeom>
          <a:solidFill>
            <a:srgbClr val="E8E8E8"/>
          </a:solidFill>
          <a:ln w="127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363474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4A4A4A"/>
                </a:solidFill>
                <a:latin typeface="Calibri"/>
              </a:rPr>
              <a:t>What Didn't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87400"/>
            <a:ext cx="3634740" cy="218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4A4A4A"/>
                </a:solidFill>
                <a:latin typeface="Calibri"/>
              </a:rPr>
              <a:t>✗  Lot size alone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4A4A4A"/>
                </a:solidFill>
                <a:latin typeface="Calibri"/>
              </a:rPr>
              <a:t>✗  Distance from downtown alone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4A4A4A"/>
                </a:solidFill>
                <a:latin typeface="Calibri"/>
              </a:rPr>
              <a:t>✗  Sales count per zip alone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4A4A4A"/>
                </a:solidFill>
                <a:latin typeface="Calibri"/>
              </a:rPr>
              <a:t>No single feature gave a reliable Rural/Urban threshold.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86300" y="1874520"/>
            <a:ext cx="4000500" cy="288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69180" y="2057400"/>
            <a:ext cx="363474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E3A5F"/>
                </a:solidFill>
                <a:latin typeface="Calibri"/>
              </a:rPr>
              <a:t>What We Used: Housing Density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9180" y="2387400"/>
            <a:ext cx="3634740" cy="218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0">
                <a:solidFill>
                  <a:srgbClr val="4A4A4A"/>
                </a:solidFill>
                <a:latin typeface="Calibri"/>
              </a:rPr>
              <a:t>Density = sales per km² per zip, from the bounding box of its lat/long</a:t>
            </a:r>
          </a:p>
          <a:p>
            <a:pPr>
              <a:spcAft>
                <a:spcPts val="700"/>
              </a:spcAft>
            </a:pPr>
            <a:r>
              <a:rPr sz="1050" b="0">
                <a:solidFill>
                  <a:srgbClr val="4A4A4A"/>
                </a:solidFill>
                <a:latin typeface="Calibri"/>
              </a:rPr>
              <a:t>Split found automatically at 1.04 houses/km² (largest log-scale gap)</a:t>
            </a:r>
          </a:p>
          <a:p>
            <a:pPr>
              <a:spcAft>
                <a:spcPts val="700"/>
              </a:spcAft>
            </a:pPr>
            <a:r>
              <a:rPr sz="1050" b="0">
                <a:solidFill>
                  <a:srgbClr val="4A4A4A"/>
                </a:solidFill>
                <a:latin typeface="Calibri"/>
              </a:rPr>
              <a:t>7 of 70 zips classified Rural: 98010, 98014, 98019, 98022, 98024, 98045, 98070</a:t>
            </a:r>
          </a:p>
          <a:p>
            <a:pPr>
              <a:spcAft>
                <a:spcPts val="700"/>
              </a:spcAft>
            </a:pPr>
            <a:r>
              <a:rPr sz="1050" b="0">
                <a:solidFill>
                  <a:srgbClr val="2ECC71"/>
                </a:solidFill>
                <a:latin typeface="Calibri"/>
              </a:rPr>
              <a:t>✓ vs RUCA: 4/5 Rural zips matched (80% recall) · 94.3% accuracy (vs 92.9% baseline)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