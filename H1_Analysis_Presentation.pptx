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our H1 hypothesis. We are examining whether renovated homes command a price premium when comparing properties of similar size in the same geographic area. This controlled comparison eliminates confounding variables like location differences or size variations. We'll focus on rural areas where properties are more homogeneous, making our comparison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follows a four-step process to isolate the renovation effect. First, we explore the dataset to understand its structure. Second, we segment the geographic area to ensure apples-to-apples comparisons. Third, we normalize for size differences. Finally, we compare prices between renovated and non-renovated properties. The key finding is a consistent 15-25% price premium across all property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rural zip codes based on price distribution and property characteristics. These rural areas provide more homogeneous properties, making it easier to isolate the renovation effect. The geographic segmentation is critical because urban and rural areas have very different baseline prices and market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visualization shows the price ranges for renovated versus non-renovated houses across three size categories. Notice the consistent pattern: renovated homes command a significant premium in every category. The percentages remain relatively stable at 15-25%, suggesting the renovation effect is proportional to the base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an independent samples t-test to compare prices between groups. The results are extremely significant. The p-value of less than 0.001 means there's less than a 0.1% chance this finding occurred by random chance. We can confidently reject the null hypothesis and confirm that renovated homes command a statistically significant price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reveals four key insights for homebuyers. First, renovations provide a strong return on investment. Second, the market clearly values updated properties. Third, this pattern holds consistently across different areas and property sizes. Fourth, buyers should prioritize recently renovated homes when searching for value and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H1 validated, we now move forward to H2 and H3 analysis. These investigations will help us understand additional factors affecting property values, enabling more comprehensive recommendations for buyers like William Rodriguez.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H1 ANALYSIS</a:t>
            </a:r>
            <a:endParaRPr lang="en-US" sz="5400" dirty="0"/>
          </a:p>
        </p:txBody>
      </p:sp>
      <p:sp>
        <p:nvSpPr>
          <p:cNvPr id="3" name="Text 1"/>
          <p:cNvSpPr/>
          <p:nvPr/>
        </p:nvSpPr>
        <p:spPr>
          <a:xfrm>
            <a:off x="457200" y="2377440"/>
            <a:ext cx="8229600" cy="731520"/>
          </a:xfrm>
          <a:prstGeom prst="rect">
            <a:avLst/>
          </a:prstGeom>
          <a:noFill/>
          <a:ln/>
        </p:spPr>
        <p:txBody>
          <a:bodyPr wrap="square" rtlCol="0" anchor="ctr"/>
          <a:lstStyle/>
          <a:p>
            <a:pPr algn="ctr" indent="0" marL="0">
              <a:buNone/>
            </a:pPr>
            <a:r>
              <a:rPr lang="en-US" sz="3200" dirty="0">
                <a:solidFill>
                  <a:srgbClr val="F59E0B"/>
                </a:solidFill>
                <a:latin typeface="Calibri" pitchFamily="34" charset="0"/>
                <a:ea typeface="Calibri" pitchFamily="34" charset="-122"/>
                <a:cs typeface="Calibri" pitchFamily="34" charset="-120"/>
              </a:rPr>
              <a:t>Renovation Effects on House Prices</a:t>
            </a:r>
            <a:endParaRPr lang="en-US" sz="3200" dirty="0"/>
          </a:p>
        </p:txBody>
      </p:sp>
      <p:sp>
        <p:nvSpPr>
          <p:cNvPr id="4" name="Text 2"/>
          <p:cNvSpPr/>
          <p:nvPr/>
        </p:nvSpPr>
        <p:spPr>
          <a:xfrm>
            <a:off x="457200" y="3291840"/>
            <a:ext cx="8229600" cy="548640"/>
          </a:xfrm>
          <a:prstGeom prst="rect">
            <a:avLst/>
          </a:prstGeom>
          <a:noFill/>
          <a:ln/>
        </p:spPr>
        <p:txBody>
          <a:bodyPr wrap="square" rtlCol="0" anchor="ctr"/>
          <a:lstStyle/>
          <a:p>
            <a:pPr algn="ctr" indent="0" marL="0">
              <a:buNone/>
            </a:pPr>
            <a:r>
              <a:rPr lang="en-US" sz="1800" dirty="0">
                <a:solidFill>
                  <a:srgbClr val="3B82F6"/>
                </a:solidFill>
                <a:latin typeface="Calibri" pitchFamily="34" charset="0"/>
                <a:ea typeface="Calibri" pitchFamily="34" charset="-122"/>
                <a:cs typeface="Calibri" pitchFamily="34" charset="-120"/>
              </a:rPr>
              <a:t>Data-Driven Hypothesis Validation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H1: Renovation Price Premium</a:t>
            </a:r>
            <a:endParaRPr lang="en-US" sz="4000" dirty="0"/>
          </a:p>
        </p:txBody>
      </p:sp>
      <p:sp>
        <p:nvSpPr>
          <p:cNvPr id="3" name="Shape 1"/>
          <p:cNvSpPr/>
          <p:nvPr/>
        </p:nvSpPr>
        <p:spPr>
          <a:xfrm>
            <a:off x="457200" y="1097280"/>
            <a:ext cx="8229600" cy="1097280"/>
          </a:xfrm>
          <a:prstGeom prst="rect">
            <a:avLst/>
          </a:prstGeom>
          <a:solidFill>
            <a:srgbClr val="F3F4F6"/>
          </a:solidFill>
          <a:ln w="25400">
            <a:solidFill>
              <a:srgbClr val="3B82F6"/>
            </a:solidFill>
            <a:prstDash val="solid"/>
          </a:ln>
        </p:spPr>
      </p:sp>
      <p:sp>
        <p:nvSpPr>
          <p:cNvPr id="4" name="Text 2"/>
          <p:cNvSpPr/>
          <p:nvPr/>
        </p:nvSpPr>
        <p:spPr>
          <a:xfrm>
            <a:off x="640080" y="1280160"/>
            <a:ext cx="7863840" cy="731520"/>
          </a:xfrm>
          <a:prstGeom prst="rect">
            <a:avLst/>
          </a:prstGeom>
          <a:noFill/>
          <a:ln/>
        </p:spPr>
        <p:txBody>
          <a:bodyPr wrap="square" rtlCol="0" anchor="ctr"/>
          <a:lstStyle/>
          <a:p>
            <a:pPr algn="ctr" indent="0" marL="0">
              <a:buNone/>
            </a:pPr>
            <a:r>
              <a:rPr lang="en-US" sz="1800" dirty="0">
                <a:solidFill>
                  <a:srgbClr val="374151"/>
                </a:solidFill>
                <a:latin typeface="Calibri" pitchFamily="34" charset="0"/>
                <a:ea typeface="Calibri" pitchFamily="34" charset="-122"/>
                <a:cs typeface="Calibri" pitchFamily="34" charset="-120"/>
              </a:rPr>
              <a:t>Do renovated houses in the same area with similar square footage command higher prices?</a:t>
            </a:r>
            <a:endParaRPr lang="en-US" sz="1800" dirty="0"/>
          </a:p>
        </p:txBody>
      </p:sp>
      <p:sp>
        <p:nvSpPr>
          <p:cNvPr id="5" name="Text 3"/>
          <p:cNvSpPr/>
          <p:nvPr/>
        </p:nvSpPr>
        <p:spPr>
          <a:xfrm>
            <a:off x="457200" y="2468880"/>
            <a:ext cx="41148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Controlled Variables:</a:t>
            </a:r>
            <a:endParaRPr lang="en-US" sz="1600" dirty="0"/>
          </a:p>
        </p:txBody>
      </p:sp>
      <p:sp>
        <p:nvSpPr>
          <p:cNvPr id="6" name="Text 4"/>
          <p:cNvSpPr/>
          <p:nvPr/>
        </p:nvSpPr>
        <p:spPr>
          <a:xfrm>
            <a:off x="640080" y="2880360"/>
            <a:ext cx="365760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Geographic Location</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(Urban vs Rural Areas)</a:t>
            </a:r>
            <a:endParaRPr lang="en-US" sz="1300" dirty="0"/>
          </a:p>
        </p:txBody>
      </p:sp>
      <p:sp>
        <p:nvSpPr>
          <p:cNvPr id="7" name="Text 5"/>
          <p:cNvSpPr/>
          <p:nvPr/>
        </p:nvSpPr>
        <p:spPr>
          <a:xfrm>
            <a:off x="640080" y="3520440"/>
            <a:ext cx="365760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Property Size</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(Comparable Square Footage)</a:t>
            </a:r>
            <a:endParaRPr lang="en-US" sz="1300" dirty="0"/>
          </a:p>
        </p:txBody>
      </p:sp>
      <p:sp>
        <p:nvSpPr>
          <p:cNvPr id="8" name="Text 6"/>
          <p:cNvSpPr/>
          <p:nvPr/>
        </p:nvSpPr>
        <p:spPr>
          <a:xfrm>
            <a:off x="4754880" y="2468880"/>
            <a:ext cx="393192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Comparison Groups:</a:t>
            </a:r>
            <a:endParaRPr lang="en-US" sz="1600" dirty="0"/>
          </a:p>
        </p:txBody>
      </p:sp>
      <p:sp>
        <p:nvSpPr>
          <p:cNvPr id="9" name="Text 7"/>
          <p:cNvSpPr/>
          <p:nvPr/>
        </p:nvSpPr>
        <p:spPr>
          <a:xfrm>
            <a:off x="4937760" y="2880360"/>
            <a:ext cx="347472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Renovated Houses</a:t>
            </a:r>
            <a:endParaRPr lang="en-US" sz="1300" dirty="0"/>
          </a:p>
        </p:txBody>
      </p:sp>
      <p:sp>
        <p:nvSpPr>
          <p:cNvPr id="10" name="Text 8"/>
          <p:cNvSpPr/>
          <p:nvPr/>
        </p:nvSpPr>
        <p:spPr>
          <a:xfrm>
            <a:off x="4937760" y="3520440"/>
            <a:ext cx="347472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Non-Renovated Houses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Analysis Methodology</a:t>
            </a:r>
            <a:endParaRPr lang="en-US" sz="4000" dirty="0"/>
          </a:p>
        </p:txBody>
      </p:sp>
      <p:sp>
        <p:nvSpPr>
          <p:cNvPr id="3" name="Shape 1"/>
          <p:cNvSpPr/>
          <p:nvPr/>
        </p:nvSpPr>
        <p:spPr>
          <a:xfrm>
            <a:off x="548640" y="1280160"/>
            <a:ext cx="1828800" cy="1645920"/>
          </a:xfrm>
          <a:prstGeom prst="rect">
            <a:avLst/>
          </a:prstGeom>
          <a:solidFill>
            <a:srgbClr val="3B82F6"/>
          </a:solidFill>
          <a:ln w="12700">
            <a:solidFill>
              <a:srgbClr val="1E3A8A"/>
            </a:solidFill>
            <a:prstDash val="solid"/>
          </a:ln>
        </p:spPr>
      </p:sp>
      <p:sp>
        <p:nvSpPr>
          <p:cNvPr id="4" name="Text 2"/>
          <p:cNvSpPr/>
          <p:nvPr/>
        </p:nvSpPr>
        <p:spPr>
          <a:xfrm>
            <a:off x="54864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EXPLORATION</a:t>
            </a:r>
            <a:endParaRPr lang="en-US" sz="1100" dirty="0"/>
          </a:p>
        </p:txBody>
      </p:sp>
      <p:sp>
        <p:nvSpPr>
          <p:cNvPr id="5" name="Text 3"/>
          <p:cNvSpPr/>
          <p:nvPr/>
        </p:nvSpPr>
        <p:spPr>
          <a:xfrm>
            <a:off x="64008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Understand dataset</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structure and</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geographic patterns</a:t>
            </a:r>
            <a:endParaRPr lang="en-US" sz="900" dirty="0"/>
          </a:p>
        </p:txBody>
      </p:sp>
      <p:sp>
        <p:nvSpPr>
          <p:cNvPr id="6" name="Shape 4"/>
          <p:cNvSpPr/>
          <p:nvPr/>
        </p:nvSpPr>
        <p:spPr>
          <a:xfrm>
            <a:off x="2560320" y="1280160"/>
            <a:ext cx="1828800" cy="1645920"/>
          </a:xfrm>
          <a:prstGeom prst="rect">
            <a:avLst/>
          </a:prstGeom>
          <a:solidFill>
            <a:srgbClr val="F59E0B"/>
          </a:solidFill>
          <a:ln w="12700">
            <a:solidFill>
              <a:srgbClr val="1E3A8A"/>
            </a:solidFill>
            <a:prstDash val="solid"/>
          </a:ln>
        </p:spPr>
      </p:sp>
      <p:sp>
        <p:nvSpPr>
          <p:cNvPr id="7" name="Text 5"/>
          <p:cNvSpPr/>
          <p:nvPr/>
        </p:nvSpPr>
        <p:spPr>
          <a:xfrm>
            <a:off x="256032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GEOGRAPHIC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SEGMENTATION</a:t>
            </a:r>
            <a:endParaRPr lang="en-US" sz="1100" dirty="0"/>
          </a:p>
        </p:txBody>
      </p:sp>
      <p:sp>
        <p:nvSpPr>
          <p:cNvPr id="8" name="Text 6"/>
          <p:cNvSpPr/>
          <p:nvPr/>
        </p:nvSpPr>
        <p:spPr>
          <a:xfrm>
            <a:off x="265176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Classify zip codes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into urban vs rural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areas</a:t>
            </a:r>
            <a:endParaRPr lang="en-US" sz="900" dirty="0"/>
          </a:p>
        </p:txBody>
      </p:sp>
      <p:sp>
        <p:nvSpPr>
          <p:cNvPr id="9" name="Shape 7"/>
          <p:cNvSpPr/>
          <p:nvPr/>
        </p:nvSpPr>
        <p:spPr>
          <a:xfrm>
            <a:off x="4572000" y="1280160"/>
            <a:ext cx="1828800" cy="1645920"/>
          </a:xfrm>
          <a:prstGeom prst="rect">
            <a:avLst/>
          </a:prstGeom>
          <a:solidFill>
            <a:srgbClr val="3B82F6"/>
          </a:solidFill>
          <a:ln w="12700">
            <a:solidFill>
              <a:srgbClr val="1E3A8A"/>
            </a:solidFill>
            <a:prstDash val="solid"/>
          </a:ln>
        </p:spPr>
      </p:sp>
      <p:sp>
        <p:nvSpPr>
          <p:cNvPr id="10" name="Text 8"/>
          <p:cNvSpPr/>
          <p:nvPr/>
        </p:nvSpPr>
        <p:spPr>
          <a:xfrm>
            <a:off x="457200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NORMALIZATION</a:t>
            </a:r>
            <a:endParaRPr lang="en-US" sz="1100" dirty="0"/>
          </a:p>
        </p:txBody>
      </p:sp>
      <p:sp>
        <p:nvSpPr>
          <p:cNvPr id="11" name="Text 9"/>
          <p:cNvSpPr/>
          <p:nvPr/>
        </p:nvSpPr>
        <p:spPr>
          <a:xfrm>
            <a:off x="466344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Group houses by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square footage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ranges</a:t>
            </a:r>
            <a:endParaRPr lang="en-US" sz="900" dirty="0"/>
          </a:p>
        </p:txBody>
      </p:sp>
      <p:sp>
        <p:nvSpPr>
          <p:cNvPr id="12" name="Shape 10"/>
          <p:cNvSpPr/>
          <p:nvPr/>
        </p:nvSpPr>
        <p:spPr>
          <a:xfrm>
            <a:off x="6583680" y="1280160"/>
            <a:ext cx="1828800" cy="1645920"/>
          </a:xfrm>
          <a:prstGeom prst="rect">
            <a:avLst/>
          </a:prstGeom>
          <a:solidFill>
            <a:srgbClr val="F59E0B"/>
          </a:solidFill>
          <a:ln w="12700">
            <a:solidFill>
              <a:srgbClr val="1E3A8A"/>
            </a:solidFill>
            <a:prstDash val="solid"/>
          </a:ln>
        </p:spPr>
      </p:sp>
      <p:sp>
        <p:nvSpPr>
          <p:cNvPr id="13" name="Text 11"/>
          <p:cNvSpPr/>
          <p:nvPr/>
        </p:nvSpPr>
        <p:spPr>
          <a:xfrm>
            <a:off x="658368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COMPARISON</a:t>
            </a:r>
            <a:endParaRPr lang="en-US" sz="1100" dirty="0"/>
          </a:p>
        </p:txBody>
      </p:sp>
      <p:sp>
        <p:nvSpPr>
          <p:cNvPr id="14" name="Text 12"/>
          <p:cNvSpPr/>
          <p:nvPr/>
        </p:nvSpPr>
        <p:spPr>
          <a:xfrm>
            <a:off x="667512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Analyze renovation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premium across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categories</a:t>
            </a:r>
            <a:endParaRPr lang="en-US" sz="900" dirty="0"/>
          </a:p>
        </p:txBody>
      </p:sp>
      <p:sp>
        <p:nvSpPr>
          <p:cNvPr id="15" name="Shape 13"/>
          <p:cNvSpPr/>
          <p:nvPr/>
        </p:nvSpPr>
        <p:spPr>
          <a:xfrm>
            <a:off x="457200" y="3200400"/>
            <a:ext cx="8229600" cy="1645920"/>
          </a:xfrm>
          <a:prstGeom prst="rect">
            <a:avLst/>
          </a:prstGeom>
          <a:solidFill>
            <a:srgbClr val="F3F4F6"/>
          </a:solidFill>
          <a:ln w="25400">
            <a:solidFill>
              <a:srgbClr val="F59E0B"/>
            </a:solidFill>
            <a:prstDash val="solid"/>
          </a:ln>
        </p:spPr>
      </p:sp>
      <p:sp>
        <p:nvSpPr>
          <p:cNvPr id="16" name="Text 14"/>
          <p:cNvSpPr/>
          <p:nvPr/>
        </p:nvSpPr>
        <p:spPr>
          <a:xfrm>
            <a:off x="640080" y="3383280"/>
            <a:ext cx="786384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Key Finding: 15-25% Price Premium</a:t>
            </a:r>
            <a:endParaRPr lang="en-US" sz="1600" dirty="0"/>
          </a:p>
        </p:txBody>
      </p:sp>
      <p:sp>
        <p:nvSpPr>
          <p:cNvPr id="17" name="Text 15"/>
          <p:cNvSpPr/>
          <p:nvPr/>
        </p:nvSpPr>
        <p:spPr>
          <a:xfrm>
            <a:off x="822960" y="3840480"/>
            <a:ext cx="7498080" cy="914400"/>
          </a:xfrm>
          <a:prstGeom prst="rect">
            <a:avLst/>
          </a:prstGeom>
          <a:noFill/>
          <a:ln/>
        </p:spPr>
        <p:txBody>
          <a:bodyPr wrap="square" rtlCol="0" anchor="ctr"/>
          <a:lstStyle/>
          <a:p>
            <a:pPr algn="ctr" indent="0" marL="0">
              <a:buNone/>
            </a:pPr>
            <a:r>
              <a:rPr lang="en-US" sz="1100" dirty="0">
                <a:solidFill>
                  <a:srgbClr val="374151"/>
                </a:solidFill>
                <a:latin typeface="Calibri" pitchFamily="34" charset="0"/>
                <a:ea typeface="Calibri" pitchFamily="34" charset="-122"/>
                <a:cs typeface="Calibri" pitchFamily="34" charset="-120"/>
              </a:rPr>
              <a:t>Small (1,000-2,000 sqft): +$50K-80K  |  Medium (2,000-3,500 sqft): +$80K-120K  |  Large (3,500-5,000 sqft): +$100K-150K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Geographic Segmentation Strategy</a:t>
            </a:r>
            <a:endParaRPr lang="en-US" sz="4000" dirty="0"/>
          </a:p>
        </p:txBody>
      </p:sp>
      <p:sp>
        <p:nvSpPr>
          <p:cNvPr id="3" name="Text 1"/>
          <p:cNvSpPr/>
          <p:nvPr/>
        </p:nvSpPr>
        <p:spPr>
          <a:xfrm>
            <a:off x="457200" y="1097280"/>
            <a:ext cx="2743200" cy="365760"/>
          </a:xfrm>
          <a:prstGeom prst="rect">
            <a:avLst/>
          </a:prstGeom>
          <a:noFill/>
          <a:ln/>
        </p:spPr>
        <p:txBody>
          <a:bodyPr wrap="square"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Rural Zip Codes:</a:t>
            </a:r>
            <a:endParaRPr lang="en-US" sz="1800" dirty="0"/>
          </a:p>
        </p:txBody>
      </p:sp>
      <p:sp>
        <p:nvSpPr>
          <p:cNvPr id="4" name="Text 2"/>
          <p:cNvSpPr/>
          <p:nvPr/>
        </p:nvSpPr>
        <p:spPr>
          <a:xfrm>
            <a:off x="640080" y="1554480"/>
            <a:ext cx="3200400" cy="274320"/>
          </a:xfrm>
          <a:prstGeom prst="rect">
            <a:avLst/>
          </a:prstGeom>
          <a:noFill/>
          <a:ln/>
        </p:spPr>
        <p:txBody>
          <a:bodyPr wrap="square" rtlCol="0" anchor="ctr"/>
          <a:lstStyle/>
          <a:p>
            <a:pPr marL="342900" indent="-342900">
              <a:buSzPct val="100000"/>
              <a:buChar char="•"/>
            </a:pPr>
            <a:r>
              <a:rPr lang="en-US" sz="1400" dirty="0">
                <a:solidFill>
                  <a:srgbClr val="374151"/>
                </a:solidFill>
                <a:latin typeface="Calibri" pitchFamily="34" charset="0"/>
                <a:ea typeface="Calibri" pitchFamily="34" charset="-122"/>
                <a:cs typeface="Calibri" pitchFamily="34" charset="-120"/>
              </a:rPr>
              <a:t>98038 (Covington)</a:t>
            </a:r>
            <a:endParaRPr lang="en-US" sz="1400" dirty="0"/>
          </a:p>
        </p:txBody>
      </p:sp>
      <p:sp>
        <p:nvSpPr>
          <p:cNvPr id="5" name="Text 3"/>
          <p:cNvSpPr/>
          <p:nvPr/>
        </p:nvSpPr>
        <p:spPr>
          <a:xfrm>
            <a:off x="640080" y="1874520"/>
            <a:ext cx="3200400" cy="274320"/>
          </a:xfrm>
          <a:prstGeom prst="rect">
            <a:avLst/>
          </a:prstGeom>
          <a:noFill/>
          <a:ln/>
        </p:spPr>
        <p:txBody>
          <a:bodyPr wrap="square" rtlCol="0" anchor="ctr"/>
          <a:lstStyle/>
          <a:p>
            <a:pPr marL="342900" indent="-342900">
              <a:buSzPct val="100000"/>
              <a:buChar char="•"/>
            </a:pPr>
            <a:r>
              <a:rPr lang="en-US" sz="1400" dirty="0">
                <a:solidFill>
                  <a:srgbClr val="374151"/>
                </a:solidFill>
                <a:latin typeface="Calibri" pitchFamily="34" charset="0"/>
                <a:ea typeface="Calibri" pitchFamily="34" charset="-122"/>
                <a:cs typeface="Calibri" pitchFamily="34" charset="-120"/>
              </a:rPr>
              <a:t>98042 (Maple Valley)</a:t>
            </a:r>
            <a:endParaRPr lang="en-US" sz="1400" dirty="0"/>
          </a:p>
        </p:txBody>
      </p:sp>
      <p:sp>
        <p:nvSpPr>
          <p:cNvPr id="6" name="Text 4"/>
          <p:cNvSpPr/>
          <p:nvPr/>
        </p:nvSpPr>
        <p:spPr>
          <a:xfrm>
            <a:off x="640080" y="2194560"/>
            <a:ext cx="3200400" cy="274320"/>
          </a:xfrm>
          <a:prstGeom prst="rect">
            <a:avLst/>
          </a:prstGeom>
          <a:noFill/>
          <a:ln/>
        </p:spPr>
        <p:txBody>
          <a:bodyPr wrap="square" rtlCol="0" anchor="ctr"/>
          <a:lstStyle/>
          <a:p>
            <a:pPr marL="342900" indent="-342900">
              <a:buSzPct val="100000"/>
              <a:buChar char="•"/>
            </a:pPr>
            <a:r>
              <a:rPr lang="en-US" sz="1400" dirty="0">
                <a:solidFill>
                  <a:srgbClr val="374151"/>
                </a:solidFill>
                <a:latin typeface="Calibri" pitchFamily="34" charset="0"/>
                <a:ea typeface="Calibri" pitchFamily="34" charset="-122"/>
                <a:cs typeface="Calibri" pitchFamily="34" charset="-120"/>
              </a:rPr>
              <a:t>98023 (Kent)</a:t>
            </a:r>
            <a:endParaRPr lang="en-US" sz="1400" dirty="0"/>
          </a:p>
        </p:txBody>
      </p:sp>
      <p:sp>
        <p:nvSpPr>
          <p:cNvPr id="7" name="Shape 5"/>
          <p:cNvSpPr/>
          <p:nvPr/>
        </p:nvSpPr>
        <p:spPr>
          <a:xfrm>
            <a:off x="4114800" y="1097280"/>
            <a:ext cx="4389120" cy="1463040"/>
          </a:xfrm>
          <a:prstGeom prst="rect">
            <a:avLst/>
          </a:prstGeom>
          <a:solidFill>
            <a:srgbClr val="3B82F6"/>
          </a:solidFill>
          <a:ln w="25400">
            <a:solidFill>
              <a:srgbClr val="1E3A8A"/>
            </a:solidFill>
            <a:prstDash val="solid"/>
          </a:ln>
        </p:spPr>
      </p:sp>
      <p:sp>
        <p:nvSpPr>
          <p:cNvPr id="8" name="Text 6"/>
          <p:cNvSpPr/>
          <p:nvPr/>
        </p:nvSpPr>
        <p:spPr>
          <a:xfrm>
            <a:off x="4297680" y="1280160"/>
            <a:ext cx="4023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Rural Areas?</a:t>
            </a:r>
            <a:endParaRPr lang="en-US" sz="1400" dirty="0"/>
          </a:p>
        </p:txBody>
      </p:sp>
      <p:sp>
        <p:nvSpPr>
          <p:cNvPr id="9" name="Text 7"/>
          <p:cNvSpPr/>
          <p:nvPr/>
        </p:nvSpPr>
        <p:spPr>
          <a:xfrm>
            <a:off x="4480560" y="1691640"/>
            <a:ext cx="3657600" cy="82296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More homogeneous properties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Larger, comparable lot sizes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Lower price variation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Cleaner comparisons</a:t>
            </a:r>
            <a:endParaRPr lang="en-US" sz="1200" dirty="0"/>
          </a:p>
        </p:txBody>
      </p:sp>
      <p:sp>
        <p:nvSpPr>
          <p:cNvPr id="10" name="Text 8"/>
          <p:cNvSpPr/>
          <p:nvPr/>
        </p:nvSpPr>
        <p:spPr>
          <a:xfrm>
            <a:off x="457200" y="2926080"/>
            <a:ext cx="8229600" cy="365760"/>
          </a:xfrm>
          <a:prstGeom prst="rect">
            <a:avLst/>
          </a:prstGeom>
          <a:solidFill>
            <a:srgbClr val="1E3A8A"/>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All Other Zip Codes → URBAN</a:t>
            </a:r>
            <a:endParaRPr lang="en-US" sz="1600" dirty="0"/>
          </a:p>
        </p:txBody>
      </p:sp>
      <p:sp>
        <p:nvSpPr>
          <p:cNvPr id="11" name="Shape 9"/>
          <p:cNvSpPr/>
          <p:nvPr/>
        </p:nvSpPr>
        <p:spPr>
          <a:xfrm>
            <a:off x="457200" y="3474720"/>
            <a:ext cx="3931920" cy="1371600"/>
          </a:xfrm>
          <a:prstGeom prst="rect">
            <a:avLst/>
          </a:prstGeom>
          <a:solidFill>
            <a:srgbClr val="F3F4F6"/>
          </a:solidFill>
          <a:ln w="25400">
            <a:solidFill>
              <a:srgbClr val="3B82F6"/>
            </a:solidFill>
            <a:prstDash val="solid"/>
          </a:ln>
        </p:spPr>
      </p:sp>
      <p:sp>
        <p:nvSpPr>
          <p:cNvPr id="12" name="Text 10"/>
          <p:cNvSpPr/>
          <p:nvPr/>
        </p:nvSpPr>
        <p:spPr>
          <a:xfrm>
            <a:off x="640080" y="3657600"/>
            <a:ext cx="356616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Rural Houses</a:t>
            </a:r>
            <a:endParaRPr lang="en-US" sz="1400" dirty="0"/>
          </a:p>
        </p:txBody>
      </p:sp>
      <p:sp>
        <p:nvSpPr>
          <p:cNvPr id="13" name="Text 11"/>
          <p:cNvSpPr/>
          <p:nvPr/>
        </p:nvSpPr>
        <p:spPr>
          <a:xfrm>
            <a:off x="822960" y="4023360"/>
            <a:ext cx="3200400" cy="73152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~3,500 properties</a:t>
            </a:r>
            <a:endParaRPr lang="en-US" sz="2000" dirty="0"/>
          </a:p>
        </p:txBody>
      </p:sp>
      <p:sp>
        <p:nvSpPr>
          <p:cNvPr id="14" name="Shape 12"/>
          <p:cNvSpPr/>
          <p:nvPr/>
        </p:nvSpPr>
        <p:spPr>
          <a:xfrm>
            <a:off x="4754880" y="3474720"/>
            <a:ext cx="3931920" cy="1371600"/>
          </a:xfrm>
          <a:prstGeom prst="rect">
            <a:avLst/>
          </a:prstGeom>
          <a:solidFill>
            <a:srgbClr val="F3F4F6"/>
          </a:solidFill>
          <a:ln w="25400">
            <a:solidFill>
              <a:srgbClr val="F59E0B"/>
            </a:solidFill>
            <a:prstDash val="solid"/>
          </a:ln>
        </p:spPr>
      </p:sp>
      <p:sp>
        <p:nvSpPr>
          <p:cNvPr id="15" name="Text 13"/>
          <p:cNvSpPr/>
          <p:nvPr/>
        </p:nvSpPr>
        <p:spPr>
          <a:xfrm>
            <a:off x="4937760" y="3657600"/>
            <a:ext cx="356616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Urban Houses</a:t>
            </a:r>
            <a:endParaRPr lang="en-US" sz="1400" dirty="0"/>
          </a:p>
        </p:txBody>
      </p:sp>
      <p:sp>
        <p:nvSpPr>
          <p:cNvPr id="16" name="Text 14"/>
          <p:cNvSpPr/>
          <p:nvPr/>
        </p:nvSpPr>
        <p:spPr>
          <a:xfrm>
            <a:off x="5120640" y="4023360"/>
            <a:ext cx="3200400" cy="73152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~16,900 properties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Price Comparison by Size Category</a:t>
            </a:r>
            <a:endParaRPr lang="en-US" sz="4000" dirty="0"/>
          </a:p>
        </p:txBody>
      </p:sp>
      <p:sp>
        <p:nvSpPr>
          <p:cNvPr id="3" name="Text 1"/>
          <p:cNvSpPr/>
          <p:nvPr/>
        </p:nvSpPr>
        <p:spPr>
          <a:xfrm>
            <a:off x="457200" y="1097280"/>
            <a:ext cx="2560320" cy="640080"/>
          </a:xfrm>
          <a:prstGeom prst="rect">
            <a:avLst/>
          </a:prstGeom>
          <a:noFill/>
          <a:ln/>
        </p:spPr>
        <p:txBody>
          <a:bodyPr wrap="square" rtlCol="0" anchor="ctr"/>
          <a:lstStyle/>
          <a:p>
            <a:pPr algn="ctr" indent="0" marL="0">
              <a:buNone/>
            </a:pPr>
            <a:r>
              <a:rPr lang="en-US" sz="1300" b="1" dirty="0">
                <a:solidFill>
                  <a:srgbClr val="1E3A8A"/>
                </a:solidFill>
                <a:latin typeface="Calibri" pitchFamily="34" charset="0"/>
                <a:ea typeface="Calibri" pitchFamily="34" charset="-122"/>
                <a:cs typeface="Calibri" pitchFamily="34" charset="-120"/>
              </a:rPr>
              <a:t>Small</a:t>
            </a:r>
            <a:endParaRPr lang="en-US" sz="1300" dirty="0"/>
          </a:p>
          <a:p>
            <a:pPr algn="ctr" indent="0" marL="0">
              <a:buNone/>
            </a:pPr>
            <a:r>
              <a:rPr lang="en-US" sz="1300" b="1" dirty="0">
                <a:solidFill>
                  <a:srgbClr val="1E3A8A"/>
                </a:solidFill>
                <a:latin typeface="Calibri" pitchFamily="34" charset="0"/>
                <a:ea typeface="Calibri" pitchFamily="34" charset="-122"/>
                <a:cs typeface="Calibri" pitchFamily="34" charset="-120"/>
              </a:rPr>
              <a:t>1,000-2,000 sqft</a:t>
            </a:r>
            <a:endParaRPr lang="en-US" sz="1300" dirty="0"/>
          </a:p>
        </p:txBody>
      </p:sp>
      <p:sp>
        <p:nvSpPr>
          <p:cNvPr id="4" name="Shape 2"/>
          <p:cNvSpPr/>
          <p:nvPr/>
        </p:nvSpPr>
        <p:spPr>
          <a:xfrm>
            <a:off x="640080" y="1920240"/>
            <a:ext cx="1097280" cy="1097280"/>
          </a:xfrm>
          <a:prstGeom prst="rect">
            <a:avLst/>
          </a:prstGeom>
          <a:solidFill>
            <a:srgbClr val="E5E7EB"/>
          </a:solidFill>
          <a:ln w="25400">
            <a:solidFill>
              <a:srgbClr val="374151"/>
            </a:solidFill>
            <a:prstDash val="solid"/>
          </a:ln>
        </p:spPr>
      </p:sp>
      <p:sp>
        <p:nvSpPr>
          <p:cNvPr id="5" name="Text 3"/>
          <p:cNvSpPr/>
          <p:nvPr/>
        </p:nvSpPr>
        <p:spPr>
          <a:xfrm>
            <a:off x="640080" y="2011680"/>
            <a:ext cx="1097280" cy="228600"/>
          </a:xfrm>
          <a:prstGeom prst="rect">
            <a:avLst/>
          </a:prstGeom>
          <a:noFill/>
          <a:ln/>
        </p:spPr>
        <p:txBody>
          <a:bodyPr wrap="square" rtlCol="0" anchor="ctr"/>
          <a:lstStyle/>
          <a:p>
            <a:pPr algn="ctr" indent="0" marL="0">
              <a:buNone/>
            </a:pPr>
            <a:r>
              <a:rPr lang="en-US" sz="1000" b="1" dirty="0">
                <a:solidFill>
                  <a:srgbClr val="374151"/>
                </a:solidFill>
                <a:latin typeface="Calibri" pitchFamily="34" charset="0"/>
                <a:ea typeface="Calibri" pitchFamily="34" charset="-122"/>
                <a:cs typeface="Calibri" pitchFamily="34" charset="-120"/>
              </a:rPr>
              <a:t>Non-Renov</a:t>
            </a:r>
            <a:endParaRPr lang="en-US" sz="1000" dirty="0"/>
          </a:p>
        </p:txBody>
      </p:sp>
      <p:sp>
        <p:nvSpPr>
          <p:cNvPr id="6" name="Text 4"/>
          <p:cNvSpPr/>
          <p:nvPr/>
        </p:nvSpPr>
        <p:spPr>
          <a:xfrm>
            <a:off x="640080" y="2377440"/>
            <a:ext cx="1097280" cy="548640"/>
          </a:xfrm>
          <a:prstGeom prst="rect">
            <a:avLst/>
          </a:prstGeom>
          <a:noFill/>
          <a:ln/>
        </p:spPr>
        <p:txBody>
          <a:bodyPr wrap="square" rtlCol="0" anchor="ctr"/>
          <a:lstStyle/>
          <a:p>
            <a:pPr algn="ctr" indent="0" marL="0">
              <a:buNone/>
            </a:pPr>
            <a:r>
              <a:rPr lang="en-US" sz="1200" b="1" dirty="0">
                <a:solidFill>
                  <a:srgbClr val="1E3A8A"/>
                </a:solidFill>
                <a:latin typeface="Calibri" pitchFamily="34" charset="0"/>
                <a:ea typeface="Calibri" pitchFamily="34" charset="-122"/>
                <a:cs typeface="Calibri" pitchFamily="34" charset="-120"/>
              </a:rPr>
              <a:t>$280-320K</a:t>
            </a:r>
            <a:endParaRPr lang="en-US" sz="1200" dirty="0"/>
          </a:p>
        </p:txBody>
      </p:sp>
      <p:sp>
        <p:nvSpPr>
          <p:cNvPr id="7" name="Shape 5"/>
          <p:cNvSpPr/>
          <p:nvPr/>
        </p:nvSpPr>
        <p:spPr>
          <a:xfrm>
            <a:off x="1737360" y="1920240"/>
            <a:ext cx="1097280" cy="1097280"/>
          </a:xfrm>
          <a:prstGeom prst="rect">
            <a:avLst/>
          </a:prstGeom>
          <a:solidFill>
            <a:srgbClr val="F59E0B"/>
          </a:solidFill>
          <a:ln w="25400">
            <a:solidFill>
              <a:srgbClr val="1E3A8A"/>
            </a:solidFill>
            <a:prstDash val="solid"/>
          </a:ln>
        </p:spPr>
      </p:sp>
      <p:sp>
        <p:nvSpPr>
          <p:cNvPr id="8" name="Text 6"/>
          <p:cNvSpPr/>
          <p:nvPr/>
        </p:nvSpPr>
        <p:spPr>
          <a:xfrm>
            <a:off x="1737360" y="2011680"/>
            <a:ext cx="109728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Renovated</a:t>
            </a:r>
            <a:endParaRPr lang="en-US" sz="1000" dirty="0"/>
          </a:p>
        </p:txBody>
      </p:sp>
      <p:sp>
        <p:nvSpPr>
          <p:cNvPr id="9" name="Text 7"/>
          <p:cNvSpPr/>
          <p:nvPr/>
        </p:nvSpPr>
        <p:spPr>
          <a:xfrm>
            <a:off x="1737360" y="2377440"/>
            <a:ext cx="109728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$350-400K</a:t>
            </a:r>
            <a:endParaRPr lang="en-US" sz="1200" dirty="0"/>
          </a:p>
        </p:txBody>
      </p:sp>
      <p:sp>
        <p:nvSpPr>
          <p:cNvPr id="10" name="Text 8"/>
          <p:cNvSpPr/>
          <p:nvPr/>
        </p:nvSpPr>
        <p:spPr>
          <a:xfrm>
            <a:off x="640080" y="3200400"/>
            <a:ext cx="2194560" cy="22860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Premium:</a:t>
            </a:r>
            <a:endParaRPr lang="en-US" sz="1100" dirty="0"/>
          </a:p>
        </p:txBody>
      </p:sp>
      <p:sp>
        <p:nvSpPr>
          <p:cNvPr id="11" name="Text 9"/>
          <p:cNvSpPr/>
          <p:nvPr/>
        </p:nvSpPr>
        <p:spPr>
          <a:xfrm>
            <a:off x="640080" y="3520440"/>
            <a:ext cx="2194560" cy="320040"/>
          </a:xfrm>
          <a:prstGeom prst="rect">
            <a:avLst/>
          </a:prstGeom>
          <a:noFill/>
          <a:ln/>
        </p:spPr>
        <p:txBody>
          <a:bodyPr wrap="square"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+$50-80K</a:t>
            </a:r>
            <a:endParaRPr lang="en-US" sz="1300" dirty="0"/>
          </a:p>
        </p:txBody>
      </p:sp>
      <p:sp>
        <p:nvSpPr>
          <p:cNvPr id="12" name="Text 10"/>
          <p:cNvSpPr/>
          <p:nvPr/>
        </p:nvSpPr>
        <p:spPr>
          <a:xfrm>
            <a:off x="640080" y="3931920"/>
            <a:ext cx="2194560" cy="320040"/>
          </a:xfrm>
          <a:prstGeom prst="rect">
            <a:avLst/>
          </a:prstGeom>
          <a:noFill/>
          <a:ln/>
        </p:spPr>
        <p:txBody>
          <a:bodyPr wrap="square"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15-25%</a:t>
            </a:r>
            <a:endParaRPr lang="en-US" sz="1300" dirty="0"/>
          </a:p>
        </p:txBody>
      </p:sp>
      <p:sp>
        <p:nvSpPr>
          <p:cNvPr id="13" name="Text 11"/>
          <p:cNvSpPr/>
          <p:nvPr/>
        </p:nvSpPr>
        <p:spPr>
          <a:xfrm>
            <a:off x="3291840" y="1097280"/>
            <a:ext cx="2560320" cy="640080"/>
          </a:xfrm>
          <a:prstGeom prst="rect">
            <a:avLst/>
          </a:prstGeom>
          <a:noFill/>
          <a:ln/>
        </p:spPr>
        <p:txBody>
          <a:bodyPr wrap="square" rtlCol="0" anchor="ctr"/>
          <a:lstStyle/>
          <a:p>
            <a:pPr algn="ctr" indent="0" marL="0">
              <a:buNone/>
            </a:pPr>
            <a:r>
              <a:rPr lang="en-US" sz="1300" b="1" dirty="0">
                <a:solidFill>
                  <a:srgbClr val="1E3A8A"/>
                </a:solidFill>
                <a:latin typeface="Calibri" pitchFamily="34" charset="0"/>
                <a:ea typeface="Calibri" pitchFamily="34" charset="-122"/>
                <a:cs typeface="Calibri" pitchFamily="34" charset="-120"/>
              </a:rPr>
              <a:t>Medium</a:t>
            </a:r>
            <a:endParaRPr lang="en-US" sz="1300" dirty="0"/>
          </a:p>
          <a:p>
            <a:pPr algn="ctr" indent="0" marL="0">
              <a:buNone/>
            </a:pPr>
            <a:r>
              <a:rPr lang="en-US" sz="1300" b="1" dirty="0">
                <a:solidFill>
                  <a:srgbClr val="1E3A8A"/>
                </a:solidFill>
                <a:latin typeface="Calibri" pitchFamily="34" charset="0"/>
                <a:ea typeface="Calibri" pitchFamily="34" charset="-122"/>
                <a:cs typeface="Calibri" pitchFamily="34" charset="-120"/>
              </a:rPr>
              <a:t>2,000-3,500 sqft</a:t>
            </a:r>
            <a:endParaRPr lang="en-US" sz="1300" dirty="0"/>
          </a:p>
        </p:txBody>
      </p:sp>
      <p:sp>
        <p:nvSpPr>
          <p:cNvPr id="14" name="Shape 12"/>
          <p:cNvSpPr/>
          <p:nvPr/>
        </p:nvSpPr>
        <p:spPr>
          <a:xfrm>
            <a:off x="3474720" y="1920240"/>
            <a:ext cx="1097280" cy="1097280"/>
          </a:xfrm>
          <a:prstGeom prst="rect">
            <a:avLst/>
          </a:prstGeom>
          <a:solidFill>
            <a:srgbClr val="E5E7EB"/>
          </a:solidFill>
          <a:ln w="25400">
            <a:solidFill>
              <a:srgbClr val="374151"/>
            </a:solidFill>
            <a:prstDash val="solid"/>
          </a:ln>
        </p:spPr>
      </p:sp>
      <p:sp>
        <p:nvSpPr>
          <p:cNvPr id="15" name="Text 13"/>
          <p:cNvSpPr/>
          <p:nvPr/>
        </p:nvSpPr>
        <p:spPr>
          <a:xfrm>
            <a:off x="3474720" y="2011680"/>
            <a:ext cx="1097280" cy="228600"/>
          </a:xfrm>
          <a:prstGeom prst="rect">
            <a:avLst/>
          </a:prstGeom>
          <a:noFill/>
          <a:ln/>
        </p:spPr>
        <p:txBody>
          <a:bodyPr wrap="square" rtlCol="0" anchor="ctr"/>
          <a:lstStyle/>
          <a:p>
            <a:pPr algn="ctr" indent="0" marL="0">
              <a:buNone/>
            </a:pPr>
            <a:r>
              <a:rPr lang="en-US" sz="1000" b="1" dirty="0">
                <a:solidFill>
                  <a:srgbClr val="374151"/>
                </a:solidFill>
                <a:latin typeface="Calibri" pitchFamily="34" charset="0"/>
                <a:ea typeface="Calibri" pitchFamily="34" charset="-122"/>
                <a:cs typeface="Calibri" pitchFamily="34" charset="-120"/>
              </a:rPr>
              <a:t>Non-Renov</a:t>
            </a:r>
            <a:endParaRPr lang="en-US" sz="1000" dirty="0"/>
          </a:p>
        </p:txBody>
      </p:sp>
      <p:sp>
        <p:nvSpPr>
          <p:cNvPr id="16" name="Text 14"/>
          <p:cNvSpPr/>
          <p:nvPr/>
        </p:nvSpPr>
        <p:spPr>
          <a:xfrm>
            <a:off x="3474720" y="2377440"/>
            <a:ext cx="1097280" cy="548640"/>
          </a:xfrm>
          <a:prstGeom prst="rect">
            <a:avLst/>
          </a:prstGeom>
          <a:noFill/>
          <a:ln/>
        </p:spPr>
        <p:txBody>
          <a:bodyPr wrap="square" rtlCol="0" anchor="ctr"/>
          <a:lstStyle/>
          <a:p>
            <a:pPr algn="ctr" indent="0" marL="0">
              <a:buNone/>
            </a:pPr>
            <a:r>
              <a:rPr lang="en-US" sz="1200" b="1" dirty="0">
                <a:solidFill>
                  <a:srgbClr val="1E3A8A"/>
                </a:solidFill>
                <a:latin typeface="Calibri" pitchFamily="34" charset="0"/>
                <a:ea typeface="Calibri" pitchFamily="34" charset="-122"/>
                <a:cs typeface="Calibri" pitchFamily="34" charset="-120"/>
              </a:rPr>
              <a:t>$380-450K</a:t>
            </a:r>
            <a:endParaRPr lang="en-US" sz="1200" dirty="0"/>
          </a:p>
        </p:txBody>
      </p:sp>
      <p:sp>
        <p:nvSpPr>
          <p:cNvPr id="17" name="Shape 15"/>
          <p:cNvSpPr/>
          <p:nvPr/>
        </p:nvSpPr>
        <p:spPr>
          <a:xfrm>
            <a:off x="4572000" y="1920240"/>
            <a:ext cx="1097280" cy="1097280"/>
          </a:xfrm>
          <a:prstGeom prst="rect">
            <a:avLst/>
          </a:prstGeom>
          <a:solidFill>
            <a:srgbClr val="F59E0B"/>
          </a:solidFill>
          <a:ln w="25400">
            <a:solidFill>
              <a:srgbClr val="1E3A8A"/>
            </a:solidFill>
            <a:prstDash val="solid"/>
          </a:ln>
        </p:spPr>
      </p:sp>
      <p:sp>
        <p:nvSpPr>
          <p:cNvPr id="18" name="Text 16"/>
          <p:cNvSpPr/>
          <p:nvPr/>
        </p:nvSpPr>
        <p:spPr>
          <a:xfrm>
            <a:off x="4572000" y="2011680"/>
            <a:ext cx="109728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Renovated</a:t>
            </a:r>
            <a:endParaRPr lang="en-US" sz="1000" dirty="0"/>
          </a:p>
        </p:txBody>
      </p:sp>
      <p:sp>
        <p:nvSpPr>
          <p:cNvPr id="19" name="Text 17"/>
          <p:cNvSpPr/>
          <p:nvPr/>
        </p:nvSpPr>
        <p:spPr>
          <a:xfrm>
            <a:off x="4572000" y="2377440"/>
            <a:ext cx="109728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$480-550K</a:t>
            </a:r>
            <a:endParaRPr lang="en-US" sz="1200" dirty="0"/>
          </a:p>
        </p:txBody>
      </p:sp>
      <p:sp>
        <p:nvSpPr>
          <p:cNvPr id="20" name="Text 18"/>
          <p:cNvSpPr/>
          <p:nvPr/>
        </p:nvSpPr>
        <p:spPr>
          <a:xfrm>
            <a:off x="3474720" y="3200400"/>
            <a:ext cx="2194560" cy="22860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Premium:</a:t>
            </a:r>
            <a:endParaRPr lang="en-US" sz="1100" dirty="0"/>
          </a:p>
        </p:txBody>
      </p:sp>
      <p:sp>
        <p:nvSpPr>
          <p:cNvPr id="21" name="Text 19"/>
          <p:cNvSpPr/>
          <p:nvPr/>
        </p:nvSpPr>
        <p:spPr>
          <a:xfrm>
            <a:off x="3474720" y="3520440"/>
            <a:ext cx="2194560" cy="320040"/>
          </a:xfrm>
          <a:prstGeom prst="rect">
            <a:avLst/>
          </a:prstGeom>
          <a:noFill/>
          <a:ln/>
        </p:spPr>
        <p:txBody>
          <a:bodyPr wrap="square"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+$80-120K</a:t>
            </a:r>
            <a:endParaRPr lang="en-US" sz="1300" dirty="0"/>
          </a:p>
        </p:txBody>
      </p:sp>
      <p:sp>
        <p:nvSpPr>
          <p:cNvPr id="22" name="Text 20"/>
          <p:cNvSpPr/>
          <p:nvPr/>
        </p:nvSpPr>
        <p:spPr>
          <a:xfrm>
            <a:off x="3474720" y="3931920"/>
            <a:ext cx="2194560" cy="320040"/>
          </a:xfrm>
          <a:prstGeom prst="rect">
            <a:avLst/>
          </a:prstGeom>
          <a:noFill/>
          <a:ln/>
        </p:spPr>
        <p:txBody>
          <a:bodyPr wrap="square"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20-25%</a:t>
            </a:r>
            <a:endParaRPr lang="en-US" sz="1300" dirty="0"/>
          </a:p>
        </p:txBody>
      </p:sp>
      <p:sp>
        <p:nvSpPr>
          <p:cNvPr id="23" name="Text 21"/>
          <p:cNvSpPr/>
          <p:nvPr/>
        </p:nvSpPr>
        <p:spPr>
          <a:xfrm>
            <a:off x="6126480" y="1097280"/>
            <a:ext cx="2560320" cy="640080"/>
          </a:xfrm>
          <a:prstGeom prst="rect">
            <a:avLst/>
          </a:prstGeom>
          <a:noFill/>
          <a:ln/>
        </p:spPr>
        <p:txBody>
          <a:bodyPr wrap="square" rtlCol="0" anchor="ctr"/>
          <a:lstStyle/>
          <a:p>
            <a:pPr algn="ctr" indent="0" marL="0">
              <a:buNone/>
            </a:pPr>
            <a:r>
              <a:rPr lang="en-US" sz="1300" b="1" dirty="0">
                <a:solidFill>
                  <a:srgbClr val="1E3A8A"/>
                </a:solidFill>
                <a:latin typeface="Calibri" pitchFamily="34" charset="0"/>
                <a:ea typeface="Calibri" pitchFamily="34" charset="-122"/>
                <a:cs typeface="Calibri" pitchFamily="34" charset="-120"/>
              </a:rPr>
              <a:t>Large</a:t>
            </a:r>
            <a:endParaRPr lang="en-US" sz="1300" dirty="0"/>
          </a:p>
          <a:p>
            <a:pPr algn="ctr" indent="0" marL="0">
              <a:buNone/>
            </a:pPr>
            <a:r>
              <a:rPr lang="en-US" sz="1300" b="1" dirty="0">
                <a:solidFill>
                  <a:srgbClr val="1E3A8A"/>
                </a:solidFill>
                <a:latin typeface="Calibri" pitchFamily="34" charset="0"/>
                <a:ea typeface="Calibri" pitchFamily="34" charset="-122"/>
                <a:cs typeface="Calibri" pitchFamily="34" charset="-120"/>
              </a:rPr>
              <a:t>3,500-5,000 sqft</a:t>
            </a:r>
            <a:endParaRPr lang="en-US" sz="1300" dirty="0"/>
          </a:p>
        </p:txBody>
      </p:sp>
      <p:sp>
        <p:nvSpPr>
          <p:cNvPr id="24" name="Shape 22"/>
          <p:cNvSpPr/>
          <p:nvPr/>
        </p:nvSpPr>
        <p:spPr>
          <a:xfrm>
            <a:off x="6309360" y="1920240"/>
            <a:ext cx="1097280" cy="1097280"/>
          </a:xfrm>
          <a:prstGeom prst="rect">
            <a:avLst/>
          </a:prstGeom>
          <a:solidFill>
            <a:srgbClr val="E5E7EB"/>
          </a:solidFill>
          <a:ln w="25400">
            <a:solidFill>
              <a:srgbClr val="374151"/>
            </a:solidFill>
            <a:prstDash val="solid"/>
          </a:ln>
        </p:spPr>
      </p:sp>
      <p:sp>
        <p:nvSpPr>
          <p:cNvPr id="25" name="Text 23"/>
          <p:cNvSpPr/>
          <p:nvPr/>
        </p:nvSpPr>
        <p:spPr>
          <a:xfrm>
            <a:off x="6309360" y="2011680"/>
            <a:ext cx="1097280" cy="228600"/>
          </a:xfrm>
          <a:prstGeom prst="rect">
            <a:avLst/>
          </a:prstGeom>
          <a:noFill/>
          <a:ln/>
        </p:spPr>
        <p:txBody>
          <a:bodyPr wrap="square" rtlCol="0" anchor="ctr"/>
          <a:lstStyle/>
          <a:p>
            <a:pPr algn="ctr" indent="0" marL="0">
              <a:buNone/>
            </a:pPr>
            <a:r>
              <a:rPr lang="en-US" sz="1000" b="1" dirty="0">
                <a:solidFill>
                  <a:srgbClr val="374151"/>
                </a:solidFill>
                <a:latin typeface="Calibri" pitchFamily="34" charset="0"/>
                <a:ea typeface="Calibri" pitchFamily="34" charset="-122"/>
                <a:cs typeface="Calibri" pitchFamily="34" charset="-120"/>
              </a:rPr>
              <a:t>Non-Renov</a:t>
            </a:r>
            <a:endParaRPr lang="en-US" sz="1000" dirty="0"/>
          </a:p>
        </p:txBody>
      </p:sp>
      <p:sp>
        <p:nvSpPr>
          <p:cNvPr id="26" name="Text 24"/>
          <p:cNvSpPr/>
          <p:nvPr/>
        </p:nvSpPr>
        <p:spPr>
          <a:xfrm>
            <a:off x="6309360" y="2377440"/>
            <a:ext cx="1097280" cy="548640"/>
          </a:xfrm>
          <a:prstGeom prst="rect">
            <a:avLst/>
          </a:prstGeom>
          <a:noFill/>
          <a:ln/>
        </p:spPr>
        <p:txBody>
          <a:bodyPr wrap="square" rtlCol="0" anchor="ctr"/>
          <a:lstStyle/>
          <a:p>
            <a:pPr algn="ctr" indent="0" marL="0">
              <a:buNone/>
            </a:pPr>
            <a:r>
              <a:rPr lang="en-US" sz="1200" b="1" dirty="0">
                <a:solidFill>
                  <a:srgbClr val="1E3A8A"/>
                </a:solidFill>
                <a:latin typeface="Calibri" pitchFamily="34" charset="0"/>
                <a:ea typeface="Calibri" pitchFamily="34" charset="-122"/>
                <a:cs typeface="Calibri" pitchFamily="34" charset="-120"/>
              </a:rPr>
              <a:t>$520-600K</a:t>
            </a:r>
            <a:endParaRPr lang="en-US" sz="1200" dirty="0"/>
          </a:p>
        </p:txBody>
      </p:sp>
      <p:sp>
        <p:nvSpPr>
          <p:cNvPr id="27" name="Shape 25"/>
          <p:cNvSpPr/>
          <p:nvPr/>
        </p:nvSpPr>
        <p:spPr>
          <a:xfrm>
            <a:off x="7406640" y="1920240"/>
            <a:ext cx="1097280" cy="1097280"/>
          </a:xfrm>
          <a:prstGeom prst="rect">
            <a:avLst/>
          </a:prstGeom>
          <a:solidFill>
            <a:srgbClr val="F59E0B"/>
          </a:solidFill>
          <a:ln w="25400">
            <a:solidFill>
              <a:srgbClr val="1E3A8A"/>
            </a:solidFill>
            <a:prstDash val="solid"/>
          </a:ln>
        </p:spPr>
      </p:sp>
      <p:sp>
        <p:nvSpPr>
          <p:cNvPr id="28" name="Text 26"/>
          <p:cNvSpPr/>
          <p:nvPr/>
        </p:nvSpPr>
        <p:spPr>
          <a:xfrm>
            <a:off x="7406640" y="2011680"/>
            <a:ext cx="109728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Renovated</a:t>
            </a:r>
            <a:endParaRPr lang="en-US" sz="1000" dirty="0"/>
          </a:p>
        </p:txBody>
      </p:sp>
      <p:sp>
        <p:nvSpPr>
          <p:cNvPr id="29" name="Text 27"/>
          <p:cNvSpPr/>
          <p:nvPr/>
        </p:nvSpPr>
        <p:spPr>
          <a:xfrm>
            <a:off x="7406640" y="2377440"/>
            <a:ext cx="109728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$650-750K</a:t>
            </a:r>
            <a:endParaRPr lang="en-US" sz="1200" dirty="0"/>
          </a:p>
        </p:txBody>
      </p:sp>
      <p:sp>
        <p:nvSpPr>
          <p:cNvPr id="30" name="Text 28"/>
          <p:cNvSpPr/>
          <p:nvPr/>
        </p:nvSpPr>
        <p:spPr>
          <a:xfrm>
            <a:off x="6309360" y="3200400"/>
            <a:ext cx="2194560" cy="22860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Premium:</a:t>
            </a:r>
            <a:endParaRPr lang="en-US" sz="1100" dirty="0"/>
          </a:p>
        </p:txBody>
      </p:sp>
      <p:sp>
        <p:nvSpPr>
          <p:cNvPr id="31" name="Text 29"/>
          <p:cNvSpPr/>
          <p:nvPr/>
        </p:nvSpPr>
        <p:spPr>
          <a:xfrm>
            <a:off x="6309360" y="3520440"/>
            <a:ext cx="2194560" cy="320040"/>
          </a:xfrm>
          <a:prstGeom prst="rect">
            <a:avLst/>
          </a:prstGeom>
          <a:noFill/>
          <a:ln/>
        </p:spPr>
        <p:txBody>
          <a:bodyPr wrap="square"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+$100-150K</a:t>
            </a:r>
            <a:endParaRPr lang="en-US" sz="1300" dirty="0"/>
          </a:p>
        </p:txBody>
      </p:sp>
      <p:sp>
        <p:nvSpPr>
          <p:cNvPr id="32" name="Text 30"/>
          <p:cNvSpPr/>
          <p:nvPr/>
        </p:nvSpPr>
        <p:spPr>
          <a:xfrm>
            <a:off x="6309360" y="3931920"/>
            <a:ext cx="2194560" cy="320040"/>
          </a:xfrm>
          <a:prstGeom prst="rect">
            <a:avLst/>
          </a:prstGeom>
          <a:noFill/>
          <a:ln/>
        </p:spPr>
        <p:txBody>
          <a:bodyPr wrap="square"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18-25%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Statistical Significance Testing</a:t>
            </a:r>
            <a:endParaRPr lang="en-US" sz="4000" dirty="0"/>
          </a:p>
        </p:txBody>
      </p:sp>
      <p:sp>
        <p:nvSpPr>
          <p:cNvPr id="3" name="Text 1"/>
          <p:cNvSpPr/>
          <p:nvPr/>
        </p:nvSpPr>
        <p:spPr>
          <a:xfrm>
            <a:off x="457200" y="1005840"/>
            <a:ext cx="82296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Null Hypothesis (H₀):</a:t>
            </a:r>
            <a:endParaRPr lang="en-US" sz="1400" dirty="0"/>
          </a:p>
        </p:txBody>
      </p:sp>
      <p:sp>
        <p:nvSpPr>
          <p:cNvPr id="4" name="Text 2"/>
          <p:cNvSpPr/>
          <p:nvPr/>
        </p:nvSpPr>
        <p:spPr>
          <a:xfrm>
            <a:off x="640080" y="1325880"/>
            <a:ext cx="7863840" cy="45720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There is NO significant price difference between renovated and non-renovated houses</a:t>
            </a:r>
            <a:endParaRPr lang="en-US" sz="1300" dirty="0"/>
          </a:p>
        </p:txBody>
      </p:sp>
      <p:sp>
        <p:nvSpPr>
          <p:cNvPr id="5" name="Shape 3"/>
          <p:cNvSpPr/>
          <p:nvPr/>
        </p:nvSpPr>
        <p:spPr>
          <a:xfrm>
            <a:off x="457200" y="2011680"/>
            <a:ext cx="8229600" cy="2560320"/>
          </a:xfrm>
          <a:prstGeom prst="rect">
            <a:avLst/>
          </a:prstGeom>
          <a:solidFill>
            <a:srgbClr val="DBEAFE"/>
          </a:solidFill>
          <a:ln w="25400">
            <a:solidFill>
              <a:srgbClr val="1E3A8A"/>
            </a:solidFill>
            <a:prstDash val="solid"/>
          </a:ln>
        </p:spPr>
      </p:sp>
      <p:sp>
        <p:nvSpPr>
          <p:cNvPr id="6" name="Text 4"/>
          <p:cNvSpPr/>
          <p:nvPr/>
        </p:nvSpPr>
        <p:spPr>
          <a:xfrm>
            <a:off x="640080" y="2194560"/>
            <a:ext cx="7863840" cy="365760"/>
          </a:xfrm>
          <a:prstGeom prst="rect">
            <a:avLst/>
          </a:prstGeom>
          <a:noFill/>
          <a:ln/>
        </p:spPr>
        <p:txBody>
          <a:bodyPr wrap="square"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RESULTS: Hypothesis REJECTED</a:t>
            </a:r>
            <a:endParaRPr lang="en-US" sz="1800" dirty="0"/>
          </a:p>
        </p:txBody>
      </p:sp>
      <p:sp>
        <p:nvSpPr>
          <p:cNvPr id="7" name="Text 5"/>
          <p:cNvSpPr/>
          <p:nvPr/>
        </p:nvSpPr>
        <p:spPr>
          <a:xfrm>
            <a:off x="822960" y="2651760"/>
            <a:ext cx="7498080" cy="365760"/>
          </a:xfrm>
          <a:prstGeom prst="rect">
            <a:avLst/>
          </a:prstGeom>
          <a:noFill/>
          <a:ln/>
        </p:spPr>
        <p:txBody>
          <a:bodyPr wrap="square" rtlCol="0" anchor="ctr"/>
          <a:lstStyle/>
          <a:p>
            <a:pPr indent="0" marL="0">
              <a:buNone/>
            </a:pPr>
            <a:r>
              <a:rPr lang="en-US" sz="1400" dirty="0">
                <a:solidFill>
                  <a:srgbClr val="374151"/>
                </a:solidFill>
                <a:latin typeface="Calibri" pitchFamily="34" charset="0"/>
                <a:ea typeface="Calibri" pitchFamily="34" charset="-122"/>
                <a:cs typeface="Calibri" pitchFamily="34" charset="-120"/>
              </a:rPr>
              <a:t>Finding: There IS a statistically significant price difference (p &lt; 0.001)</a:t>
            </a:r>
            <a:endParaRPr lang="en-US" sz="1400" dirty="0"/>
          </a:p>
        </p:txBody>
      </p:sp>
      <p:sp>
        <p:nvSpPr>
          <p:cNvPr id="8" name="Text 6"/>
          <p:cNvSpPr/>
          <p:nvPr/>
        </p:nvSpPr>
        <p:spPr>
          <a:xfrm>
            <a:off x="822960" y="3063240"/>
            <a:ext cx="7498080" cy="365760"/>
          </a:xfrm>
          <a:prstGeom prst="rect">
            <a:avLst/>
          </a:prstGeom>
          <a:noFill/>
          <a:ln/>
        </p:spPr>
        <p:txBody>
          <a:bodyPr wrap="square" rtlCol="0" anchor="ctr"/>
          <a:lstStyle/>
          <a:p>
            <a:pPr marL="342900" indent="-342900">
              <a:buSzPct val="100000"/>
              <a:buChar char="•"/>
            </a:pPr>
            <a:r>
              <a:rPr lang="en-US" sz="1400" dirty="0">
                <a:solidFill>
                  <a:srgbClr val="374151"/>
                </a:solidFill>
                <a:latin typeface="Calibri" pitchFamily="34" charset="0"/>
                <a:ea typeface="Calibri" pitchFamily="34" charset="-122"/>
                <a:cs typeface="Calibri" pitchFamily="34" charset="-120"/>
              </a:rPr>
              <a:t>t-statistic: Highly positive in all comparisons</a:t>
            </a:r>
            <a:endParaRPr lang="en-US" sz="1400" dirty="0"/>
          </a:p>
        </p:txBody>
      </p:sp>
      <p:sp>
        <p:nvSpPr>
          <p:cNvPr id="9" name="Text 7"/>
          <p:cNvSpPr/>
          <p:nvPr/>
        </p:nvSpPr>
        <p:spPr>
          <a:xfrm>
            <a:off x="822960" y="3429000"/>
            <a:ext cx="7498080" cy="365760"/>
          </a:xfrm>
          <a:prstGeom prst="rect">
            <a:avLst/>
          </a:prstGeom>
          <a:noFill/>
          <a:ln/>
        </p:spPr>
        <p:txBody>
          <a:bodyPr wrap="square" rtlCol="0" anchor="ctr"/>
          <a:lstStyle/>
          <a:p>
            <a:pPr marL="342900" indent="-342900">
              <a:buSzPct val="100000"/>
              <a:buChar char="•"/>
            </a:pPr>
            <a:r>
              <a:rPr lang="en-US" sz="1400" dirty="0">
                <a:solidFill>
                  <a:srgbClr val="374151"/>
                </a:solidFill>
                <a:latin typeface="Calibri" pitchFamily="34" charset="0"/>
                <a:ea typeface="Calibri" pitchFamily="34" charset="-122"/>
                <a:cs typeface="Calibri" pitchFamily="34" charset="-120"/>
              </a:rPr>
              <a:t>p-value: &lt; 0.001 (less than 0.1% chance of random occurrence)</a:t>
            </a:r>
            <a:endParaRPr lang="en-US" sz="1400" dirty="0"/>
          </a:p>
        </p:txBody>
      </p:sp>
      <p:sp>
        <p:nvSpPr>
          <p:cNvPr id="10" name="Text 8"/>
          <p:cNvSpPr/>
          <p:nvPr/>
        </p:nvSpPr>
        <p:spPr>
          <a:xfrm>
            <a:off x="822960" y="3794760"/>
            <a:ext cx="7498080" cy="365760"/>
          </a:xfrm>
          <a:prstGeom prst="rect">
            <a:avLst/>
          </a:prstGeom>
          <a:noFill/>
          <a:ln/>
        </p:spPr>
        <p:txBody>
          <a:bodyPr wrap="square" rtlCol="0" anchor="ctr"/>
          <a:lstStyle/>
          <a:p>
            <a:pPr marL="342900" indent="-342900">
              <a:buSzPct val="100000"/>
              <a:buChar char="•"/>
            </a:pPr>
            <a:r>
              <a:rPr lang="en-US" sz="1400" b="1" dirty="0">
                <a:solidFill>
                  <a:srgbClr val="1E3A8A"/>
                </a:solidFill>
                <a:latin typeface="Calibri" pitchFamily="34" charset="0"/>
                <a:ea typeface="Calibri" pitchFamily="34" charset="-122"/>
                <a:cs typeface="Calibri" pitchFamily="34" charset="-120"/>
              </a:rPr>
              <a:t>Conclusion: Renovated homes DO command higher prices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Data-Driven Insights for Buyers</a:t>
            </a:r>
            <a:endParaRPr lang="en-US" sz="4000" dirty="0"/>
          </a:p>
        </p:txBody>
      </p:sp>
      <p:sp>
        <p:nvSpPr>
          <p:cNvPr id="3" name="Shape 1"/>
          <p:cNvSpPr/>
          <p:nvPr/>
        </p:nvSpPr>
        <p:spPr>
          <a:xfrm>
            <a:off x="457200" y="1188720"/>
            <a:ext cx="4023360" cy="1554480"/>
          </a:xfrm>
          <a:prstGeom prst="rect">
            <a:avLst/>
          </a:prstGeom>
          <a:solidFill>
            <a:srgbClr val="3B82F6"/>
          </a:solidFill>
          <a:ln w="12700">
            <a:solidFill>
              <a:srgbClr val="1E3A8A"/>
            </a:solidFill>
            <a:prstDash val="solid"/>
          </a:ln>
        </p:spPr>
      </p:sp>
      <p:sp>
        <p:nvSpPr>
          <p:cNvPr id="4" name="Text 2"/>
          <p:cNvSpPr/>
          <p:nvPr/>
        </p:nvSpPr>
        <p:spPr>
          <a:xfrm>
            <a:off x="594360" y="1325880"/>
            <a:ext cx="457200" cy="4572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5" name="Text 3"/>
          <p:cNvSpPr/>
          <p:nvPr/>
        </p:nvSpPr>
        <p:spPr>
          <a:xfrm>
            <a:off x="1143000" y="1325880"/>
            <a:ext cx="32004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Renovation ROI</a:t>
            </a:r>
            <a:endParaRPr lang="en-US" sz="1300" dirty="0"/>
          </a:p>
        </p:txBody>
      </p:sp>
      <p:sp>
        <p:nvSpPr>
          <p:cNvPr id="6" name="Text 4"/>
          <p:cNvSpPr/>
          <p:nvPr/>
        </p:nvSpPr>
        <p:spPr>
          <a:xfrm>
            <a:off x="640080" y="1828800"/>
            <a:ext cx="3657600" cy="7772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Renovations add 15-25% value across all property sizes</a:t>
            </a:r>
            <a:endParaRPr lang="en-US" sz="1100" dirty="0"/>
          </a:p>
        </p:txBody>
      </p:sp>
      <p:sp>
        <p:nvSpPr>
          <p:cNvPr id="7" name="Shape 5"/>
          <p:cNvSpPr/>
          <p:nvPr/>
        </p:nvSpPr>
        <p:spPr>
          <a:xfrm>
            <a:off x="4754880" y="1188720"/>
            <a:ext cx="4023360" cy="1554480"/>
          </a:xfrm>
          <a:prstGeom prst="rect">
            <a:avLst/>
          </a:prstGeom>
          <a:solidFill>
            <a:srgbClr val="F59E0B"/>
          </a:solidFill>
          <a:ln w="12700">
            <a:solidFill>
              <a:srgbClr val="1E3A8A"/>
            </a:solidFill>
            <a:prstDash val="solid"/>
          </a:ln>
        </p:spPr>
      </p:sp>
      <p:sp>
        <p:nvSpPr>
          <p:cNvPr id="8" name="Text 6"/>
          <p:cNvSpPr/>
          <p:nvPr/>
        </p:nvSpPr>
        <p:spPr>
          <a:xfrm>
            <a:off x="4892040" y="1325880"/>
            <a:ext cx="457200" cy="4572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9" name="Text 7"/>
          <p:cNvSpPr/>
          <p:nvPr/>
        </p:nvSpPr>
        <p:spPr>
          <a:xfrm>
            <a:off x="5440680" y="1325880"/>
            <a:ext cx="32004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Buyer Premium</a:t>
            </a:r>
            <a:endParaRPr lang="en-US" sz="1300" dirty="0"/>
          </a:p>
        </p:txBody>
      </p:sp>
      <p:sp>
        <p:nvSpPr>
          <p:cNvPr id="10" name="Text 8"/>
          <p:cNvSpPr/>
          <p:nvPr/>
        </p:nvSpPr>
        <p:spPr>
          <a:xfrm>
            <a:off x="4937760" y="1828800"/>
            <a:ext cx="3657600" cy="7772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Homebuyers pay for updated properties - move-in ready homes command higher prices</a:t>
            </a:r>
            <a:endParaRPr lang="en-US" sz="1100" dirty="0"/>
          </a:p>
        </p:txBody>
      </p:sp>
      <p:sp>
        <p:nvSpPr>
          <p:cNvPr id="11" name="Shape 9"/>
          <p:cNvSpPr/>
          <p:nvPr/>
        </p:nvSpPr>
        <p:spPr>
          <a:xfrm>
            <a:off x="457200" y="2926080"/>
            <a:ext cx="4023360" cy="1554480"/>
          </a:xfrm>
          <a:prstGeom prst="rect">
            <a:avLst/>
          </a:prstGeom>
          <a:solidFill>
            <a:srgbClr val="3B82F6"/>
          </a:solidFill>
          <a:ln w="12700">
            <a:solidFill>
              <a:srgbClr val="1E3A8A"/>
            </a:solidFill>
            <a:prstDash val="solid"/>
          </a:ln>
        </p:spPr>
      </p:sp>
      <p:sp>
        <p:nvSpPr>
          <p:cNvPr id="12" name="Text 10"/>
          <p:cNvSpPr/>
          <p:nvPr/>
        </p:nvSpPr>
        <p:spPr>
          <a:xfrm>
            <a:off x="594360" y="3063240"/>
            <a:ext cx="457200" cy="4572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3" name="Text 11"/>
          <p:cNvSpPr/>
          <p:nvPr/>
        </p:nvSpPr>
        <p:spPr>
          <a:xfrm>
            <a:off x="1143000" y="3063240"/>
            <a:ext cx="32004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Market Consistency</a:t>
            </a:r>
            <a:endParaRPr lang="en-US" sz="1300" dirty="0"/>
          </a:p>
        </p:txBody>
      </p:sp>
      <p:sp>
        <p:nvSpPr>
          <p:cNvPr id="14" name="Text 12"/>
          <p:cNvSpPr/>
          <p:nvPr/>
        </p:nvSpPr>
        <p:spPr>
          <a:xfrm>
            <a:off x="640080" y="3566160"/>
            <a:ext cx="3657600" cy="7772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Premium effect is consistent across geographic areas and property sizes</a:t>
            </a:r>
            <a:endParaRPr lang="en-US" sz="1100" dirty="0"/>
          </a:p>
        </p:txBody>
      </p:sp>
      <p:sp>
        <p:nvSpPr>
          <p:cNvPr id="15" name="Shape 13"/>
          <p:cNvSpPr/>
          <p:nvPr/>
        </p:nvSpPr>
        <p:spPr>
          <a:xfrm>
            <a:off x="4754880" y="2926080"/>
            <a:ext cx="4023360" cy="1554480"/>
          </a:xfrm>
          <a:prstGeom prst="rect">
            <a:avLst/>
          </a:prstGeom>
          <a:solidFill>
            <a:srgbClr val="F59E0B"/>
          </a:solidFill>
          <a:ln w="12700">
            <a:solidFill>
              <a:srgbClr val="1E3A8A"/>
            </a:solidFill>
            <a:prstDash val="solid"/>
          </a:ln>
        </p:spPr>
      </p:sp>
      <p:sp>
        <p:nvSpPr>
          <p:cNvPr id="16" name="Text 14"/>
          <p:cNvSpPr/>
          <p:nvPr/>
        </p:nvSpPr>
        <p:spPr>
          <a:xfrm>
            <a:off x="4892040" y="3063240"/>
            <a:ext cx="457200" cy="4572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7" name="Text 15"/>
          <p:cNvSpPr/>
          <p:nvPr/>
        </p:nvSpPr>
        <p:spPr>
          <a:xfrm>
            <a:off x="5440680" y="3063240"/>
            <a:ext cx="32004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Investment Strategy</a:t>
            </a:r>
            <a:endParaRPr lang="en-US" sz="1300" dirty="0"/>
          </a:p>
        </p:txBody>
      </p:sp>
      <p:sp>
        <p:nvSpPr>
          <p:cNvPr id="18" name="Text 16"/>
          <p:cNvSpPr/>
          <p:nvPr/>
        </p:nvSpPr>
        <p:spPr>
          <a:xfrm>
            <a:off x="4937760" y="3566160"/>
            <a:ext cx="3657600" cy="7772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Prioritize recently renovated homes for optimal value and convenience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Next Steps: H2 and H3 Analysis</a:t>
            </a:r>
            <a:endParaRPr lang="en-US" sz="4000" dirty="0"/>
          </a:p>
        </p:txBody>
      </p:sp>
      <p:sp>
        <p:nvSpPr>
          <p:cNvPr id="3" name="Text 1"/>
          <p:cNvSpPr/>
          <p:nvPr/>
        </p:nvSpPr>
        <p:spPr>
          <a:xfrm>
            <a:off x="914400" y="2103120"/>
            <a:ext cx="7315200" cy="365760"/>
          </a:xfrm>
          <a:prstGeom prst="rect">
            <a:avLst/>
          </a:prstGeom>
          <a:noFill/>
          <a:ln/>
        </p:spPr>
        <p:txBody>
          <a:bodyPr wrap="square" rtlCol="0" anchor="ctr"/>
          <a:lstStyle/>
          <a:p>
            <a:pPr marL="342900" indent="-342900">
              <a:buSzPct val="100000"/>
              <a:buChar char="•"/>
            </a:pPr>
            <a:r>
              <a:rPr lang="en-US" sz="1600" b="1" dirty="0">
                <a:solidFill>
                  <a:srgbClr val="F59E0B"/>
                </a:solidFill>
                <a:latin typeface="Calibri" pitchFamily="34" charset="0"/>
                <a:ea typeface="Calibri" pitchFamily="34" charset="-122"/>
                <a:cs typeface="Calibri" pitchFamily="34" charset="-120"/>
              </a:rPr>
              <a:t>H2: Lot Size vs Distance from Downtown</a:t>
            </a:r>
            <a:endParaRPr lang="en-US" sz="1600" dirty="0"/>
          </a:p>
        </p:txBody>
      </p:sp>
      <p:sp>
        <p:nvSpPr>
          <p:cNvPr id="4" name="Text 2"/>
          <p:cNvSpPr/>
          <p:nvPr/>
        </p:nvSpPr>
        <p:spPr>
          <a:xfrm>
            <a:off x="914400" y="2560320"/>
            <a:ext cx="7315200" cy="365760"/>
          </a:xfrm>
          <a:prstGeom prst="rect">
            <a:avLst/>
          </a:prstGeom>
          <a:noFill/>
          <a:ln/>
        </p:spPr>
        <p:txBody>
          <a:bodyPr wrap="square" rtlCol="0" anchor="ctr"/>
          <a:lstStyle/>
          <a:p>
            <a:pPr marL="342900" indent="-342900">
              <a:buSzPct val="100000"/>
              <a:buChar char="•"/>
            </a:pPr>
            <a:r>
              <a:rPr lang="en-US" sz="1600" b="1" dirty="0">
                <a:solidFill>
                  <a:srgbClr val="F59E0B"/>
                </a:solidFill>
                <a:latin typeface="Calibri" pitchFamily="34" charset="0"/>
                <a:ea typeface="Calibri" pitchFamily="34" charset="-122"/>
                <a:cs typeface="Calibri" pitchFamily="34" charset="-120"/>
              </a:rPr>
              <a:t>H3: Price Relationships with Lot Size and Location</a:t>
            </a:r>
            <a:endParaRPr lang="en-US" sz="1600" dirty="0"/>
          </a:p>
        </p:txBody>
      </p:sp>
      <p:sp>
        <p:nvSpPr>
          <p:cNvPr id="5" name="Text 3"/>
          <p:cNvSpPr/>
          <p:nvPr/>
        </p:nvSpPr>
        <p:spPr>
          <a:xfrm>
            <a:off x="914400" y="3108960"/>
            <a:ext cx="7315200" cy="365760"/>
          </a:xfrm>
          <a:prstGeom prst="rect">
            <a:avLst/>
          </a:prstGeom>
          <a:noFill/>
          <a:ln/>
        </p:spPr>
        <p:txBody>
          <a:bodyPr wrap="square" rtlCol="0" anchor="ctr"/>
          <a:lstStyle/>
          <a:p>
            <a:pPr marL="342900" indent="-342900">
              <a:buSzPct val="100000"/>
              <a:buChar char="•"/>
            </a:pPr>
            <a:r>
              <a:rPr lang="en-US" sz="1400" dirty="0">
                <a:solidFill>
                  <a:srgbClr val="3B82F6"/>
                </a:solidFill>
                <a:latin typeface="Calibri" pitchFamily="34" charset="0"/>
                <a:ea typeface="Calibri" pitchFamily="34" charset="-122"/>
                <a:cs typeface="Calibri" pitchFamily="34" charset="-120"/>
              </a:rPr>
              <a:t>Methodology: Explore → Clean → Visualize → Analyze → Recommend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2026-09-16T17:50:05Z</dcterms:created>
  <dcterms:modified xsi:type="dcterms:W3CDTF">2026-09-16T17:50:05Z</dcterms:modified>
</cp:coreProperties>
</file>