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examines the relationship between a house's distance from downtown Seattle and its lot size. We expect to find a positive correlation: as you move farther from the urban core, properties should have larger lot sizes due to lower urban density and increased land availability. This is a fundamental geographic pattern in most metropolitan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six-step methodology systematically analyzes the relationship between lot size and distance. We start by exploring the data, then clean it, calculate distances using the Haversine formula (which accounts for Earth's curvature), visualize the patterns, and finally test for statistical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removed 692 records with invalid coordinates outside the Seattle metropolitan area. This ensures our analysis focuses on genuine Seattle properties. The lot sizes show a wide range from tiny urban properties to large suburban estates, with a mean around 7,600 square feet.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Haversine formula is the mathematically precise way to calculate distances on a sphere. Unlike simple Pythagorean calculations on a flat surface, this accounts for Earth's curvature and gives us accurate distances in miles between each property and downtown Seattle.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Pearson correlation of 0.2435 indicates a moderate positive relationship. While not perfectly linear, the relationship is strong enough to be practically meaningful. The p-value confirms this isn't by chance. The effect size shows the practical impact: each additional mile adds about 1,440 square feet to the expected lot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confirms a fundamental geographic pattern in Seattle real estate. The city exhibits typical metropolitan structure with dense urban core (small lots) and expanding suburbs (large lots). This information is valuable for buyers like William Rodriguez who prioritize spacious lots for entertaining and family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H1 and H2 insights gives us a complete picture. William should target suburban areas 5-8 miles from downtown where he can find recently renovated homes with spacious lots. This sweet spot balances his desire for entertaining space with property quality 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H2 confirmed, we now move to H3 which examines price relationships. These analyses will help us understand the market value of the characteristics we've identified, enabling comprehensive recommendations for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H2 ANALYSIS</a:t>
            </a:r>
            <a:endParaRPr lang="en-US" sz="5400" dirty="0"/>
          </a:p>
        </p:txBody>
      </p:sp>
      <p:sp>
        <p:nvSpPr>
          <p:cNvPr id="3" name="Text 1"/>
          <p:cNvSpPr/>
          <p:nvPr/>
        </p:nvSpPr>
        <p:spPr>
          <a:xfrm>
            <a:off x="457200" y="2377440"/>
            <a:ext cx="8229600" cy="731520"/>
          </a:xfrm>
          <a:prstGeom prst="rect">
            <a:avLst/>
          </a:prstGeom>
          <a:noFill/>
          <a:ln/>
        </p:spPr>
        <p:txBody>
          <a:bodyPr wrap="square" rtlCol="0" anchor="ctr"/>
          <a:lstStyle/>
          <a:p>
            <a:pPr algn="ctr" indent="0" marL="0">
              <a:buNone/>
            </a:pPr>
            <a:r>
              <a:rPr lang="en-US" sz="3200" dirty="0">
                <a:solidFill>
                  <a:srgbClr val="F59E0B"/>
                </a:solidFill>
                <a:latin typeface="Calibri" pitchFamily="34" charset="0"/>
                <a:ea typeface="Calibri" pitchFamily="34" charset="-122"/>
                <a:cs typeface="Calibri" pitchFamily="34" charset="-120"/>
              </a:rPr>
              <a:t>Lot Size vs Distance from Downtown</a:t>
            </a:r>
            <a:endParaRPr lang="en-US" sz="3200" dirty="0"/>
          </a:p>
        </p:txBody>
      </p:sp>
      <p:sp>
        <p:nvSpPr>
          <p:cNvPr id="4" name="Text 2"/>
          <p:cNvSpPr/>
          <p:nvPr/>
        </p:nvSpPr>
        <p:spPr>
          <a:xfrm>
            <a:off x="457200" y="3291840"/>
            <a:ext cx="8229600" cy="548640"/>
          </a:xfrm>
          <a:prstGeom prst="rect">
            <a:avLst/>
          </a:prstGeom>
          <a:noFill/>
          <a:ln/>
        </p:spPr>
        <p:txBody>
          <a:bodyPr wrap="square" rtlCol="0" anchor="ctr"/>
          <a:lstStyle/>
          <a:p>
            <a:pPr algn="ctr" indent="0" marL="0">
              <a:buNone/>
            </a:pPr>
            <a:r>
              <a:rPr lang="en-US" sz="1800" dirty="0">
                <a:solidFill>
                  <a:srgbClr val="3B82F6"/>
                </a:solidFill>
                <a:latin typeface="Calibri" pitchFamily="34" charset="0"/>
                <a:ea typeface="Calibri" pitchFamily="34" charset="-122"/>
                <a:cs typeface="Calibri" pitchFamily="34" charset="-120"/>
              </a:rPr>
              <a:t>Geographic Patterns in Seattle Real Estate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H2: Geographic Lot Size Patterns</a:t>
            </a:r>
            <a:endParaRPr lang="en-US" sz="4000" dirty="0"/>
          </a:p>
        </p:txBody>
      </p:sp>
      <p:sp>
        <p:nvSpPr>
          <p:cNvPr id="3" name="Shape 1"/>
          <p:cNvSpPr/>
          <p:nvPr/>
        </p:nvSpPr>
        <p:spPr>
          <a:xfrm>
            <a:off x="457200" y="1097280"/>
            <a:ext cx="8229600" cy="1097280"/>
          </a:xfrm>
          <a:prstGeom prst="rect">
            <a:avLst/>
          </a:prstGeom>
          <a:solidFill>
            <a:srgbClr val="F3F4F6"/>
          </a:solidFill>
          <a:ln w="25400">
            <a:solidFill>
              <a:srgbClr val="0D9488"/>
            </a:solidFill>
            <a:prstDash val="solid"/>
          </a:ln>
        </p:spPr>
      </p:sp>
      <p:sp>
        <p:nvSpPr>
          <p:cNvPr id="4" name="Text 2"/>
          <p:cNvSpPr/>
          <p:nvPr/>
        </p:nvSpPr>
        <p:spPr>
          <a:xfrm>
            <a:off x="640080" y="1280160"/>
            <a:ext cx="7863840" cy="731520"/>
          </a:xfrm>
          <a:prstGeom prst="rect">
            <a:avLst/>
          </a:prstGeom>
          <a:noFill/>
          <a:ln/>
        </p:spPr>
        <p:txBody>
          <a:bodyPr wrap="square" rtlCol="0" anchor="ctr"/>
          <a:lstStyle/>
          <a:p>
            <a:pPr algn="ctr" indent="0" marL="0">
              <a:buNone/>
            </a:pPr>
            <a:r>
              <a:rPr lang="en-US" sz="1800" dirty="0">
                <a:solidFill>
                  <a:srgbClr val="374151"/>
                </a:solidFill>
                <a:latin typeface="Calibri" pitchFamily="34" charset="0"/>
                <a:ea typeface="Calibri" pitchFamily="34" charset="-122"/>
                <a:cs typeface="Calibri" pitchFamily="34" charset="-120"/>
              </a:rPr>
              <a:t>Do houses farther from downtown Seattle have larger lot sizes?</a:t>
            </a:r>
            <a:endParaRPr lang="en-US" sz="1800" dirty="0"/>
          </a:p>
        </p:txBody>
      </p:sp>
      <p:sp>
        <p:nvSpPr>
          <p:cNvPr id="5" name="Text 3"/>
          <p:cNvSpPr/>
          <p:nvPr/>
        </p:nvSpPr>
        <p:spPr>
          <a:xfrm>
            <a:off x="457200" y="2468880"/>
            <a:ext cx="41148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Key Variables:</a:t>
            </a:r>
            <a:endParaRPr lang="en-US" sz="1600" dirty="0"/>
          </a:p>
        </p:txBody>
      </p:sp>
      <p:sp>
        <p:nvSpPr>
          <p:cNvPr id="6" name="Text 4"/>
          <p:cNvSpPr/>
          <p:nvPr/>
        </p:nvSpPr>
        <p:spPr>
          <a:xfrm>
            <a:off x="640080" y="2880360"/>
            <a:ext cx="3657600" cy="54864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Lot Size (sqft_lot)</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Measures property land area</a:t>
            </a:r>
            <a:endParaRPr lang="en-US" sz="1200" dirty="0"/>
          </a:p>
        </p:txBody>
      </p:sp>
      <p:sp>
        <p:nvSpPr>
          <p:cNvPr id="7" name="Text 5"/>
          <p:cNvSpPr/>
          <p:nvPr/>
        </p:nvSpPr>
        <p:spPr>
          <a:xfrm>
            <a:off x="640080" y="3520440"/>
            <a:ext cx="3657600" cy="54864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Distance from Downtown</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Geographic proximity to Seattle center</a:t>
            </a:r>
            <a:endParaRPr lang="en-US" sz="1200" dirty="0"/>
          </a:p>
        </p:txBody>
      </p:sp>
      <p:sp>
        <p:nvSpPr>
          <p:cNvPr id="8" name="Text 6"/>
          <p:cNvSpPr/>
          <p:nvPr/>
        </p:nvSpPr>
        <p:spPr>
          <a:xfrm>
            <a:off x="4754880" y="2468880"/>
            <a:ext cx="393192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Expected Relationship:</a:t>
            </a:r>
            <a:endParaRPr lang="en-US" sz="1600" dirty="0"/>
          </a:p>
        </p:txBody>
      </p:sp>
      <p:sp>
        <p:nvSpPr>
          <p:cNvPr id="9" name="Text 7"/>
          <p:cNvSpPr/>
          <p:nvPr/>
        </p:nvSpPr>
        <p:spPr>
          <a:xfrm>
            <a:off x="4937760" y="2880360"/>
            <a:ext cx="3474720" cy="54864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Positive Correlation</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Larger lots in suburbs</a:t>
            </a:r>
            <a:endParaRPr lang="en-US" sz="1200" dirty="0"/>
          </a:p>
        </p:txBody>
      </p:sp>
      <p:sp>
        <p:nvSpPr>
          <p:cNvPr id="10" name="Text 8"/>
          <p:cNvSpPr/>
          <p:nvPr/>
        </p:nvSpPr>
        <p:spPr>
          <a:xfrm>
            <a:off x="4937760" y="3520440"/>
            <a:ext cx="3474720" cy="54864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Smaller lots downtown</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Urban density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Analysis Methodology</a:t>
            </a:r>
            <a:endParaRPr lang="en-US" sz="4000" dirty="0"/>
          </a:p>
        </p:txBody>
      </p:sp>
      <p:sp>
        <p:nvSpPr>
          <p:cNvPr id="3" name="Shape 1"/>
          <p:cNvSpPr/>
          <p:nvPr/>
        </p:nvSpPr>
        <p:spPr>
          <a:xfrm>
            <a:off x="457200" y="1188720"/>
            <a:ext cx="1325880" cy="1463040"/>
          </a:xfrm>
          <a:prstGeom prst="rect">
            <a:avLst/>
          </a:prstGeom>
          <a:solidFill>
            <a:srgbClr val="3B82F6"/>
          </a:solidFill>
          <a:ln w="12700">
            <a:solidFill>
              <a:srgbClr val="1E3A8A"/>
            </a:solidFill>
            <a:prstDash val="solid"/>
          </a:ln>
        </p:spPr>
      </p:sp>
      <p:sp>
        <p:nvSpPr>
          <p:cNvPr id="4" name="Text 2"/>
          <p:cNvSpPr/>
          <p:nvPr/>
        </p:nvSpPr>
        <p:spPr>
          <a:xfrm>
            <a:off x="457200" y="12801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EXPLORATION</a:t>
            </a:r>
            <a:endParaRPr lang="en-US" sz="1000" dirty="0"/>
          </a:p>
        </p:txBody>
      </p:sp>
      <p:sp>
        <p:nvSpPr>
          <p:cNvPr id="5" name="Text 3"/>
          <p:cNvSpPr/>
          <p:nvPr/>
        </p:nvSpPr>
        <p:spPr>
          <a:xfrm>
            <a:off x="502920" y="18288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Lot size ranges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and distributions</a:t>
            </a:r>
            <a:endParaRPr lang="en-US" sz="900" dirty="0"/>
          </a:p>
        </p:txBody>
      </p:sp>
      <p:sp>
        <p:nvSpPr>
          <p:cNvPr id="6" name="Shape 4"/>
          <p:cNvSpPr/>
          <p:nvPr/>
        </p:nvSpPr>
        <p:spPr>
          <a:xfrm>
            <a:off x="3291840" y="1188720"/>
            <a:ext cx="1325880" cy="1463040"/>
          </a:xfrm>
          <a:prstGeom prst="rect">
            <a:avLst/>
          </a:prstGeom>
          <a:solidFill>
            <a:srgbClr val="0D9488"/>
          </a:solidFill>
          <a:ln w="12700">
            <a:solidFill>
              <a:srgbClr val="1E3A8A"/>
            </a:solidFill>
            <a:prstDash val="solid"/>
          </a:ln>
        </p:spPr>
      </p:sp>
      <p:sp>
        <p:nvSpPr>
          <p:cNvPr id="7" name="Text 5"/>
          <p:cNvSpPr/>
          <p:nvPr/>
        </p:nvSpPr>
        <p:spPr>
          <a:xfrm>
            <a:off x="3291840" y="12801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GEOGRAPHIC</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8" name="Text 6"/>
          <p:cNvSpPr/>
          <p:nvPr/>
        </p:nvSpPr>
        <p:spPr>
          <a:xfrm>
            <a:off x="3337560" y="18288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Map coordinates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across Seattle</a:t>
            </a:r>
            <a:endParaRPr lang="en-US" sz="900" dirty="0"/>
          </a:p>
        </p:txBody>
      </p:sp>
      <p:sp>
        <p:nvSpPr>
          <p:cNvPr id="9" name="Shape 7"/>
          <p:cNvSpPr/>
          <p:nvPr/>
        </p:nvSpPr>
        <p:spPr>
          <a:xfrm>
            <a:off x="6126480" y="1188720"/>
            <a:ext cx="1325880" cy="1463040"/>
          </a:xfrm>
          <a:prstGeom prst="rect">
            <a:avLst/>
          </a:prstGeom>
          <a:solidFill>
            <a:srgbClr val="3B82F6"/>
          </a:solidFill>
          <a:ln w="12700">
            <a:solidFill>
              <a:srgbClr val="1E3A8A"/>
            </a:solidFill>
            <a:prstDash val="solid"/>
          </a:ln>
        </p:spPr>
      </p:sp>
      <p:sp>
        <p:nvSpPr>
          <p:cNvPr id="10" name="Text 8"/>
          <p:cNvSpPr/>
          <p:nvPr/>
        </p:nvSpPr>
        <p:spPr>
          <a:xfrm>
            <a:off x="6126480" y="12801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CLEANING</a:t>
            </a:r>
            <a:endParaRPr lang="en-US" sz="1000" dirty="0"/>
          </a:p>
        </p:txBody>
      </p:sp>
      <p:sp>
        <p:nvSpPr>
          <p:cNvPr id="11" name="Text 9"/>
          <p:cNvSpPr/>
          <p:nvPr/>
        </p:nvSpPr>
        <p:spPr>
          <a:xfrm>
            <a:off x="6172200" y="18288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Remove invalid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locations</a:t>
            </a:r>
            <a:endParaRPr lang="en-US" sz="900" dirty="0"/>
          </a:p>
        </p:txBody>
      </p:sp>
      <p:sp>
        <p:nvSpPr>
          <p:cNvPr id="12" name="Shape 10"/>
          <p:cNvSpPr/>
          <p:nvPr/>
        </p:nvSpPr>
        <p:spPr>
          <a:xfrm>
            <a:off x="457200" y="3017520"/>
            <a:ext cx="1325880" cy="1463040"/>
          </a:xfrm>
          <a:prstGeom prst="rect">
            <a:avLst/>
          </a:prstGeom>
          <a:solidFill>
            <a:srgbClr val="0D9488"/>
          </a:solidFill>
          <a:ln w="12700">
            <a:solidFill>
              <a:srgbClr val="1E3A8A"/>
            </a:solidFill>
            <a:prstDash val="solid"/>
          </a:ln>
        </p:spPr>
      </p:sp>
      <p:sp>
        <p:nvSpPr>
          <p:cNvPr id="13" name="Text 11"/>
          <p:cNvSpPr/>
          <p:nvPr/>
        </p:nvSpPr>
        <p:spPr>
          <a:xfrm>
            <a:off x="457200" y="31089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DISTANCE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CALCULATION</a:t>
            </a:r>
            <a:endParaRPr lang="en-US" sz="1000" dirty="0"/>
          </a:p>
        </p:txBody>
      </p:sp>
      <p:sp>
        <p:nvSpPr>
          <p:cNvPr id="14" name="Text 12"/>
          <p:cNvSpPr/>
          <p:nvPr/>
        </p:nvSpPr>
        <p:spPr>
          <a:xfrm>
            <a:off x="502920" y="36576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Haversine formula</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to downtown</a:t>
            </a:r>
            <a:endParaRPr lang="en-US" sz="900" dirty="0"/>
          </a:p>
        </p:txBody>
      </p:sp>
      <p:sp>
        <p:nvSpPr>
          <p:cNvPr id="15" name="Shape 13"/>
          <p:cNvSpPr/>
          <p:nvPr/>
        </p:nvSpPr>
        <p:spPr>
          <a:xfrm>
            <a:off x="3291840" y="3017520"/>
            <a:ext cx="1325880" cy="1463040"/>
          </a:xfrm>
          <a:prstGeom prst="rect">
            <a:avLst/>
          </a:prstGeom>
          <a:solidFill>
            <a:srgbClr val="3B82F6"/>
          </a:solidFill>
          <a:ln w="12700">
            <a:solidFill>
              <a:srgbClr val="1E3A8A"/>
            </a:solidFill>
            <a:prstDash val="solid"/>
          </a:ln>
        </p:spPr>
      </p:sp>
      <p:sp>
        <p:nvSpPr>
          <p:cNvPr id="16" name="Text 14"/>
          <p:cNvSpPr/>
          <p:nvPr/>
        </p:nvSpPr>
        <p:spPr>
          <a:xfrm>
            <a:off x="3291840" y="31089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VISUALIZE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PATTERNS</a:t>
            </a:r>
            <a:endParaRPr lang="en-US" sz="1000" dirty="0"/>
          </a:p>
        </p:txBody>
      </p:sp>
      <p:sp>
        <p:nvSpPr>
          <p:cNvPr id="17" name="Text 15"/>
          <p:cNvSpPr/>
          <p:nvPr/>
        </p:nvSpPr>
        <p:spPr>
          <a:xfrm>
            <a:off x="3337560" y="36576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Plots and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scatter analysis</a:t>
            </a:r>
            <a:endParaRPr lang="en-US" sz="900" dirty="0"/>
          </a:p>
        </p:txBody>
      </p:sp>
      <p:sp>
        <p:nvSpPr>
          <p:cNvPr id="18" name="Shape 16"/>
          <p:cNvSpPr/>
          <p:nvPr/>
        </p:nvSpPr>
        <p:spPr>
          <a:xfrm>
            <a:off x="6126480" y="3017520"/>
            <a:ext cx="1325880" cy="1463040"/>
          </a:xfrm>
          <a:prstGeom prst="rect">
            <a:avLst/>
          </a:prstGeom>
          <a:solidFill>
            <a:srgbClr val="0D9488"/>
          </a:solidFill>
          <a:ln w="12700">
            <a:solidFill>
              <a:srgbClr val="1E3A8A"/>
            </a:solidFill>
            <a:prstDash val="solid"/>
          </a:ln>
        </p:spPr>
      </p:sp>
      <p:sp>
        <p:nvSpPr>
          <p:cNvPr id="19" name="Text 17"/>
          <p:cNvSpPr/>
          <p:nvPr/>
        </p:nvSpPr>
        <p:spPr>
          <a:xfrm>
            <a:off x="6126480" y="3108960"/>
            <a:ext cx="13258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STATISTICAL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20" name="Text 18"/>
          <p:cNvSpPr/>
          <p:nvPr/>
        </p:nvSpPr>
        <p:spPr>
          <a:xfrm>
            <a:off x="6172200" y="3657600"/>
            <a:ext cx="1234440" cy="7315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Correlation &amp;</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significance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Data Exploration &amp; Cleaning</a:t>
            </a:r>
            <a:endParaRPr lang="en-US" sz="4000" dirty="0"/>
          </a:p>
        </p:txBody>
      </p:sp>
      <p:sp>
        <p:nvSpPr>
          <p:cNvPr id="3" name="Shape 1"/>
          <p:cNvSpPr/>
          <p:nvPr/>
        </p:nvSpPr>
        <p:spPr>
          <a:xfrm>
            <a:off x="457200" y="1097280"/>
            <a:ext cx="2743200" cy="822960"/>
          </a:xfrm>
          <a:prstGeom prst="rect">
            <a:avLst/>
          </a:prstGeom>
          <a:solidFill>
            <a:srgbClr val="F3F4F6"/>
          </a:solidFill>
          <a:ln w="25400">
            <a:solidFill>
              <a:srgbClr val="1E3A8A"/>
            </a:solidFill>
            <a:prstDash val="solid"/>
          </a:ln>
        </p:spPr>
      </p:sp>
      <p:sp>
        <p:nvSpPr>
          <p:cNvPr id="4" name="Text 2"/>
          <p:cNvSpPr/>
          <p:nvPr/>
        </p:nvSpPr>
        <p:spPr>
          <a:xfrm>
            <a:off x="640080" y="1188720"/>
            <a:ext cx="237744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Starting Dataset</a:t>
            </a:r>
            <a:endParaRPr lang="en-US" sz="1200" dirty="0"/>
          </a:p>
        </p:txBody>
      </p:sp>
      <p:sp>
        <p:nvSpPr>
          <p:cNvPr id="5" name="Text 3"/>
          <p:cNvSpPr/>
          <p:nvPr/>
        </p:nvSpPr>
        <p:spPr>
          <a:xfrm>
            <a:off x="640080" y="1554480"/>
            <a:ext cx="2377440" cy="274320"/>
          </a:xfrm>
          <a:prstGeom prst="rect">
            <a:avLst/>
          </a:prstGeom>
          <a:noFill/>
          <a:ln/>
        </p:spPr>
        <p:txBody>
          <a:bodyPr wrap="square"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20,439 houses</a:t>
            </a:r>
            <a:endParaRPr lang="en-US" sz="1800" dirty="0"/>
          </a:p>
        </p:txBody>
      </p:sp>
      <p:sp>
        <p:nvSpPr>
          <p:cNvPr id="6" name="Text 4"/>
          <p:cNvSpPr/>
          <p:nvPr/>
        </p:nvSpPr>
        <p:spPr>
          <a:xfrm>
            <a:off x="3383280" y="1371600"/>
            <a:ext cx="548640" cy="457200"/>
          </a:xfrm>
          <a:prstGeom prst="rect">
            <a:avLst/>
          </a:prstGeom>
          <a:noFill/>
          <a:ln/>
        </p:spPr>
        <p:txBody>
          <a:bodyPr wrap="square" rtlCol="0" anchor="ctr"/>
          <a:lstStyle/>
          <a:p>
            <a:pPr algn="ctr" indent="0" marL="0">
              <a:buNone/>
            </a:pPr>
            <a:r>
              <a:rPr lang="en-US" sz="2800" dirty="0">
                <a:solidFill>
                  <a:srgbClr val="0D9488"/>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4114800" y="1097280"/>
            <a:ext cx="2743200" cy="822960"/>
          </a:xfrm>
          <a:prstGeom prst="rect">
            <a:avLst/>
          </a:prstGeom>
          <a:solidFill>
            <a:srgbClr val="F3F4F6"/>
          </a:solidFill>
          <a:ln w="25400">
            <a:solidFill>
              <a:srgbClr val="0D9488"/>
            </a:solidFill>
            <a:prstDash val="solid"/>
          </a:ln>
        </p:spPr>
      </p:sp>
      <p:sp>
        <p:nvSpPr>
          <p:cNvPr id="8" name="Text 6"/>
          <p:cNvSpPr/>
          <p:nvPr/>
        </p:nvSpPr>
        <p:spPr>
          <a:xfrm>
            <a:off x="4297680" y="1188720"/>
            <a:ext cx="237744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After Cleaning</a:t>
            </a:r>
            <a:endParaRPr lang="en-US" sz="1200" dirty="0"/>
          </a:p>
        </p:txBody>
      </p:sp>
      <p:sp>
        <p:nvSpPr>
          <p:cNvPr id="9" name="Text 7"/>
          <p:cNvSpPr/>
          <p:nvPr/>
        </p:nvSpPr>
        <p:spPr>
          <a:xfrm>
            <a:off x="4297680" y="1554480"/>
            <a:ext cx="2377440" cy="274320"/>
          </a:xfrm>
          <a:prstGeom prst="rect">
            <a:avLst/>
          </a:prstGeom>
          <a:noFill/>
          <a:ln/>
        </p:spPr>
        <p:txBody>
          <a:bodyPr wrap="square"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19,747 houses</a:t>
            </a:r>
            <a:endParaRPr lang="en-US" sz="1800" dirty="0"/>
          </a:p>
        </p:txBody>
      </p:sp>
      <p:sp>
        <p:nvSpPr>
          <p:cNvPr id="10" name="Shape 8"/>
          <p:cNvSpPr/>
          <p:nvPr/>
        </p:nvSpPr>
        <p:spPr>
          <a:xfrm>
            <a:off x="7315200" y="1097280"/>
            <a:ext cx="1371600" cy="822960"/>
          </a:xfrm>
          <a:prstGeom prst="rect">
            <a:avLst/>
          </a:prstGeom>
          <a:solidFill>
            <a:srgbClr val="FEE2E2"/>
          </a:solidFill>
          <a:ln w="25400">
            <a:solidFill>
              <a:srgbClr val="DC2626"/>
            </a:solidFill>
            <a:prstDash val="solid"/>
          </a:ln>
        </p:spPr>
      </p:sp>
      <p:sp>
        <p:nvSpPr>
          <p:cNvPr id="11" name="Text 9"/>
          <p:cNvSpPr/>
          <p:nvPr/>
        </p:nvSpPr>
        <p:spPr>
          <a:xfrm>
            <a:off x="7406640" y="1188720"/>
            <a:ext cx="11887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Removed</a:t>
            </a:r>
            <a:endParaRPr lang="en-US" sz="1100" dirty="0"/>
          </a:p>
        </p:txBody>
      </p:sp>
      <p:sp>
        <p:nvSpPr>
          <p:cNvPr id="12" name="Text 10"/>
          <p:cNvSpPr/>
          <p:nvPr/>
        </p:nvSpPr>
        <p:spPr>
          <a:xfrm>
            <a:off x="7406640" y="1554480"/>
            <a:ext cx="1188720" cy="274320"/>
          </a:xfrm>
          <a:prstGeom prst="rect">
            <a:avLst/>
          </a:prstGeom>
          <a:noFill/>
          <a:ln/>
        </p:spPr>
        <p:txBody>
          <a:bodyPr wrap="square"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692 (3.39%)</a:t>
            </a:r>
            <a:endParaRPr lang="en-US" sz="1400" dirty="0"/>
          </a:p>
        </p:txBody>
      </p:sp>
      <p:sp>
        <p:nvSpPr>
          <p:cNvPr id="13" name="Text 11"/>
          <p:cNvSpPr/>
          <p:nvPr/>
        </p:nvSpPr>
        <p:spPr>
          <a:xfrm>
            <a:off x="457200" y="2194560"/>
            <a:ext cx="41148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Lot Size Distribution:</a:t>
            </a:r>
            <a:endParaRPr lang="en-US" sz="1400" dirty="0"/>
          </a:p>
        </p:txBody>
      </p:sp>
      <p:sp>
        <p:nvSpPr>
          <p:cNvPr id="14" name="Text 12"/>
          <p:cNvSpPr/>
          <p:nvPr/>
        </p:nvSpPr>
        <p:spPr>
          <a:xfrm>
            <a:off x="640080" y="2560320"/>
            <a:ext cx="3657600" cy="27432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Min: 520 sq ft</a:t>
            </a:r>
            <a:endParaRPr lang="en-US" sz="1200" dirty="0"/>
          </a:p>
        </p:txBody>
      </p:sp>
      <p:sp>
        <p:nvSpPr>
          <p:cNvPr id="15" name="Text 13"/>
          <p:cNvSpPr/>
          <p:nvPr/>
        </p:nvSpPr>
        <p:spPr>
          <a:xfrm>
            <a:off x="640080" y="2880360"/>
            <a:ext cx="3657600" cy="27432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Max: 1.65M sq ft</a:t>
            </a:r>
            <a:endParaRPr lang="en-US" sz="1200" dirty="0"/>
          </a:p>
        </p:txBody>
      </p:sp>
      <p:sp>
        <p:nvSpPr>
          <p:cNvPr id="16" name="Text 14"/>
          <p:cNvSpPr/>
          <p:nvPr/>
        </p:nvSpPr>
        <p:spPr>
          <a:xfrm>
            <a:off x="640080" y="3200400"/>
            <a:ext cx="3657600" cy="27432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Mean: ~7,600 sq ft</a:t>
            </a:r>
            <a:endParaRPr lang="en-US" sz="1200" dirty="0"/>
          </a:p>
        </p:txBody>
      </p:sp>
      <p:sp>
        <p:nvSpPr>
          <p:cNvPr id="17" name="Text 15"/>
          <p:cNvSpPr/>
          <p:nvPr/>
        </p:nvSpPr>
        <p:spPr>
          <a:xfrm>
            <a:off x="640080" y="3520440"/>
            <a:ext cx="3657600" cy="27432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Right-skewed distribution</a:t>
            </a:r>
            <a:endParaRPr lang="en-US" sz="1200" dirty="0"/>
          </a:p>
        </p:txBody>
      </p:sp>
      <p:sp>
        <p:nvSpPr>
          <p:cNvPr id="18" name="Text 16"/>
          <p:cNvSpPr/>
          <p:nvPr/>
        </p:nvSpPr>
        <p:spPr>
          <a:xfrm>
            <a:off x="4754880" y="2194560"/>
            <a:ext cx="393192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Geographic Coverage:</a:t>
            </a:r>
            <a:endParaRPr lang="en-US" sz="1400" dirty="0"/>
          </a:p>
        </p:txBody>
      </p:sp>
      <p:sp>
        <p:nvSpPr>
          <p:cNvPr id="19" name="Text 17"/>
          <p:cNvSpPr/>
          <p:nvPr/>
        </p:nvSpPr>
        <p:spPr>
          <a:xfrm>
            <a:off x="4937760" y="2560320"/>
            <a:ext cx="3474720" cy="5486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Downtown Reference:</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(47.6062, -122.3321)</a:t>
            </a:r>
            <a:endParaRPr lang="en-US" sz="1100" dirty="0"/>
          </a:p>
        </p:txBody>
      </p:sp>
      <p:sp>
        <p:nvSpPr>
          <p:cNvPr id="20" name="Text 18"/>
          <p:cNvSpPr/>
          <p:nvPr/>
        </p:nvSpPr>
        <p:spPr>
          <a:xfrm>
            <a:off x="4937760" y="3200400"/>
            <a:ext cx="347472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Latitude range: 47.15 to 47.73</a:t>
            </a:r>
            <a:endParaRPr lang="en-US" sz="1100" dirty="0"/>
          </a:p>
        </p:txBody>
      </p:sp>
      <p:sp>
        <p:nvSpPr>
          <p:cNvPr id="21" name="Text 19"/>
          <p:cNvSpPr/>
          <p:nvPr/>
        </p:nvSpPr>
        <p:spPr>
          <a:xfrm>
            <a:off x="4937760" y="3520440"/>
            <a:ext cx="347472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Longitude range: -122.52 to -121.99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Haversine Formula: Distance Calculation</a:t>
            </a:r>
            <a:endParaRPr lang="en-US" sz="4000" dirty="0"/>
          </a:p>
        </p:txBody>
      </p:sp>
      <p:sp>
        <p:nvSpPr>
          <p:cNvPr id="3" name="Shape 1"/>
          <p:cNvSpPr/>
          <p:nvPr/>
        </p:nvSpPr>
        <p:spPr>
          <a:xfrm>
            <a:off x="457200" y="1005840"/>
            <a:ext cx="8229600" cy="822960"/>
          </a:xfrm>
          <a:prstGeom prst="rect">
            <a:avLst/>
          </a:prstGeom>
          <a:solidFill>
            <a:srgbClr val="F3F4F6"/>
          </a:solidFill>
          <a:ln w="25400">
            <a:solidFill>
              <a:srgbClr val="0D9488"/>
            </a:solidFill>
            <a:prstDash val="solid"/>
          </a:ln>
        </p:spPr>
      </p:sp>
      <p:sp>
        <p:nvSpPr>
          <p:cNvPr id="4" name="Text 2"/>
          <p:cNvSpPr/>
          <p:nvPr/>
        </p:nvSpPr>
        <p:spPr>
          <a:xfrm>
            <a:off x="640080" y="1143000"/>
            <a:ext cx="7863840" cy="54864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Calculates great-circle distance between two points on Earth, accounting for curvature</a:t>
            </a:r>
            <a:endParaRPr lang="en-US" sz="1300" dirty="0"/>
          </a:p>
        </p:txBody>
      </p:sp>
      <p:sp>
        <p:nvSpPr>
          <p:cNvPr id="5" name="Shape 3"/>
          <p:cNvSpPr/>
          <p:nvPr/>
        </p:nvSpPr>
        <p:spPr>
          <a:xfrm>
            <a:off x="457200" y="2011680"/>
            <a:ext cx="8229600" cy="1280160"/>
          </a:xfrm>
          <a:prstGeom prst="rect">
            <a:avLst/>
          </a:prstGeom>
          <a:solidFill>
            <a:srgbClr val="F0F9FF"/>
          </a:solidFill>
          <a:ln w="12700">
            <a:solidFill>
              <a:srgbClr val="3B82F6"/>
            </a:solidFill>
            <a:prstDash val="solid"/>
          </a:ln>
        </p:spPr>
      </p:sp>
      <p:sp>
        <p:nvSpPr>
          <p:cNvPr id="6" name="Text 4"/>
          <p:cNvSpPr/>
          <p:nvPr/>
        </p:nvSpPr>
        <p:spPr>
          <a:xfrm>
            <a:off x="640080" y="2148840"/>
            <a:ext cx="7863840" cy="2286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Mathematical Formula:</a:t>
            </a:r>
            <a:endParaRPr lang="en-US" sz="1200" dirty="0"/>
          </a:p>
        </p:txBody>
      </p:sp>
      <p:sp>
        <p:nvSpPr>
          <p:cNvPr id="7" name="Text 5"/>
          <p:cNvSpPr/>
          <p:nvPr/>
        </p:nvSpPr>
        <p:spPr>
          <a:xfrm>
            <a:off x="822960" y="2468880"/>
            <a:ext cx="7498080" cy="2286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 = sin²(Δlat/2) + cos(lat1) × cos(lat2) × sin²(Δlon/2)</a:t>
            </a:r>
            <a:endParaRPr lang="en-US" sz="1100" dirty="0"/>
          </a:p>
        </p:txBody>
      </p:sp>
      <p:sp>
        <p:nvSpPr>
          <p:cNvPr id="8" name="Text 6"/>
          <p:cNvSpPr/>
          <p:nvPr/>
        </p:nvSpPr>
        <p:spPr>
          <a:xfrm>
            <a:off x="822960" y="2743200"/>
            <a:ext cx="7498080" cy="2286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c = 2 × arcsin(√a)</a:t>
            </a:r>
            <a:endParaRPr lang="en-US" sz="1100" dirty="0"/>
          </a:p>
        </p:txBody>
      </p:sp>
      <p:sp>
        <p:nvSpPr>
          <p:cNvPr id="9" name="Text 7"/>
          <p:cNvSpPr/>
          <p:nvPr/>
        </p:nvSpPr>
        <p:spPr>
          <a:xfrm>
            <a:off x="822960" y="3017520"/>
            <a:ext cx="7498080" cy="2286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 = R × c  (where R = 3,959 miles)</a:t>
            </a:r>
            <a:endParaRPr lang="en-US" sz="1100" dirty="0"/>
          </a:p>
        </p:txBody>
      </p:sp>
      <p:sp>
        <p:nvSpPr>
          <p:cNvPr id="10" name="Text 8"/>
          <p:cNvSpPr/>
          <p:nvPr/>
        </p:nvSpPr>
        <p:spPr>
          <a:xfrm>
            <a:off x="457200" y="3520440"/>
            <a:ext cx="8229600" cy="2286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Application:</a:t>
            </a:r>
            <a:endParaRPr lang="en-US" sz="1200" dirty="0"/>
          </a:p>
        </p:txBody>
      </p:sp>
      <p:sp>
        <p:nvSpPr>
          <p:cNvPr id="11" name="Text 9"/>
          <p:cNvSpPr/>
          <p:nvPr/>
        </p:nvSpPr>
        <p:spPr>
          <a:xfrm>
            <a:off x="640080" y="3794760"/>
            <a:ext cx="7863840" cy="54864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Applied to all 19,747 houses to calculate distance from downtown Seattle (47.6062, -122.3321)</a:t>
            </a:r>
            <a:endParaRPr lang="en-US" sz="1200" dirty="0"/>
          </a:p>
        </p:txBody>
      </p:sp>
      <p:sp>
        <p:nvSpPr>
          <p:cNvPr id="12" name="Text 10"/>
          <p:cNvSpPr/>
          <p:nvPr/>
        </p:nvSpPr>
        <p:spPr>
          <a:xfrm>
            <a:off x="640080" y="4389120"/>
            <a:ext cx="7863840" cy="274320"/>
          </a:xfrm>
          <a:prstGeom prst="rect">
            <a:avLst/>
          </a:prstGeom>
          <a:noFill/>
          <a:ln/>
        </p:spPr>
        <p:txBody>
          <a:bodyPr wrap="square"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Result: Distance ranges from 0.5 to 15+ miles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Statistical Analysis: Correlation &amp; Effect Size</a:t>
            </a:r>
            <a:endParaRPr lang="en-US" sz="4000" dirty="0"/>
          </a:p>
        </p:txBody>
      </p:sp>
      <p:sp>
        <p:nvSpPr>
          <p:cNvPr id="3" name="Shape 1"/>
          <p:cNvSpPr/>
          <p:nvPr/>
        </p:nvSpPr>
        <p:spPr>
          <a:xfrm>
            <a:off x="457200" y="1097280"/>
            <a:ext cx="3931920" cy="1463040"/>
          </a:xfrm>
          <a:prstGeom prst="rect">
            <a:avLst/>
          </a:prstGeom>
          <a:solidFill>
            <a:srgbClr val="0D9488"/>
          </a:solidFill>
          <a:ln w="25400">
            <a:solidFill>
              <a:srgbClr val="1E3A8A"/>
            </a:solidFill>
            <a:prstDash val="solid"/>
          </a:ln>
        </p:spPr>
      </p:sp>
      <p:sp>
        <p:nvSpPr>
          <p:cNvPr id="4" name="Text 2"/>
          <p:cNvSpPr/>
          <p:nvPr/>
        </p:nvSpPr>
        <p:spPr>
          <a:xfrm>
            <a:off x="640080" y="1234440"/>
            <a:ext cx="35661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Pearson Correlation</a:t>
            </a:r>
            <a:endParaRPr lang="en-US" sz="1200" dirty="0"/>
          </a:p>
        </p:txBody>
      </p:sp>
      <p:sp>
        <p:nvSpPr>
          <p:cNvPr id="5" name="Text 3"/>
          <p:cNvSpPr/>
          <p:nvPr/>
        </p:nvSpPr>
        <p:spPr>
          <a:xfrm>
            <a:off x="640080" y="1645920"/>
            <a:ext cx="3566160" cy="457200"/>
          </a:xfrm>
          <a:prstGeom prst="rect">
            <a:avLst/>
          </a:prstGeom>
          <a:noFill/>
          <a:ln/>
        </p:spPr>
        <p:txBody>
          <a:bodyPr wrap="square" rtlCol="0" anchor="ctr"/>
          <a:lstStyle/>
          <a:p>
            <a:pPr algn="ctr" indent="0" marL="0">
              <a:buNone/>
            </a:pPr>
            <a:r>
              <a:rPr lang="en-US" sz="2400" b="1" dirty="0">
                <a:solidFill>
                  <a:srgbClr val="F59E0B"/>
                </a:solidFill>
                <a:latin typeface="Calibri" pitchFamily="34" charset="0"/>
                <a:ea typeface="Calibri" pitchFamily="34" charset="-122"/>
                <a:cs typeface="Calibri" pitchFamily="34" charset="-120"/>
              </a:rPr>
              <a:t>r = 0.2435</a:t>
            </a:r>
            <a:endParaRPr lang="en-US" sz="2400" dirty="0"/>
          </a:p>
        </p:txBody>
      </p:sp>
      <p:sp>
        <p:nvSpPr>
          <p:cNvPr id="6" name="Text 4"/>
          <p:cNvSpPr/>
          <p:nvPr/>
        </p:nvSpPr>
        <p:spPr>
          <a:xfrm>
            <a:off x="822960" y="2194560"/>
            <a:ext cx="3200400" cy="3200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Moderate positive correlation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farther from downtown → larger lots</a:t>
            </a:r>
            <a:endParaRPr lang="en-US" sz="1000" dirty="0"/>
          </a:p>
        </p:txBody>
      </p:sp>
      <p:sp>
        <p:nvSpPr>
          <p:cNvPr id="7" name="Shape 5"/>
          <p:cNvSpPr/>
          <p:nvPr/>
        </p:nvSpPr>
        <p:spPr>
          <a:xfrm>
            <a:off x="4754880" y="1097280"/>
            <a:ext cx="3931920" cy="1463040"/>
          </a:xfrm>
          <a:prstGeom prst="rect">
            <a:avLst/>
          </a:prstGeom>
          <a:solidFill>
            <a:srgbClr val="3B82F6"/>
          </a:solidFill>
          <a:ln w="25400">
            <a:solidFill>
              <a:srgbClr val="1E3A8A"/>
            </a:solidFill>
            <a:prstDash val="solid"/>
          </a:ln>
        </p:spPr>
      </p:sp>
      <p:sp>
        <p:nvSpPr>
          <p:cNvPr id="8" name="Text 6"/>
          <p:cNvSpPr/>
          <p:nvPr/>
        </p:nvSpPr>
        <p:spPr>
          <a:xfrm>
            <a:off x="4937760" y="1234440"/>
            <a:ext cx="35661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Statistical Significance</a:t>
            </a:r>
            <a:endParaRPr lang="en-US" sz="1200" dirty="0"/>
          </a:p>
        </p:txBody>
      </p:sp>
      <p:sp>
        <p:nvSpPr>
          <p:cNvPr id="9" name="Text 7"/>
          <p:cNvSpPr/>
          <p:nvPr/>
        </p:nvSpPr>
        <p:spPr>
          <a:xfrm>
            <a:off x="4937760" y="1645920"/>
            <a:ext cx="3566160" cy="457200"/>
          </a:xfrm>
          <a:prstGeom prst="rect">
            <a:avLst/>
          </a:prstGeom>
          <a:noFill/>
          <a:ln/>
        </p:spPr>
        <p:txBody>
          <a:bodyPr wrap="square" rtlCol="0" anchor="ctr"/>
          <a:lstStyle/>
          <a:p>
            <a:pPr algn="ctr" indent="0" marL="0">
              <a:buNone/>
            </a:pPr>
            <a:r>
              <a:rPr lang="en-US" sz="2400" b="1" dirty="0">
                <a:solidFill>
                  <a:srgbClr val="1E3A8A"/>
                </a:solidFill>
                <a:latin typeface="Calibri" pitchFamily="34" charset="0"/>
                <a:ea typeface="Calibri" pitchFamily="34" charset="-122"/>
                <a:cs typeface="Calibri" pitchFamily="34" charset="-120"/>
              </a:rPr>
              <a:t>p &lt; 0.001</a:t>
            </a:r>
            <a:endParaRPr lang="en-US" sz="2400" dirty="0"/>
          </a:p>
        </p:txBody>
      </p:sp>
      <p:sp>
        <p:nvSpPr>
          <p:cNvPr id="10" name="Text 8"/>
          <p:cNvSpPr/>
          <p:nvPr/>
        </p:nvSpPr>
        <p:spPr>
          <a:xfrm>
            <a:off x="5120640" y="2194560"/>
            <a:ext cx="3200400" cy="3200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Highly significant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&lt; 0.1% chance of random occurrence</a:t>
            </a:r>
            <a:endParaRPr lang="en-US" sz="1000" dirty="0"/>
          </a:p>
        </p:txBody>
      </p:sp>
      <p:sp>
        <p:nvSpPr>
          <p:cNvPr id="11" name="Shape 9"/>
          <p:cNvSpPr/>
          <p:nvPr/>
        </p:nvSpPr>
        <p:spPr>
          <a:xfrm>
            <a:off x="457200" y="2834640"/>
            <a:ext cx="8229600" cy="1828800"/>
          </a:xfrm>
          <a:prstGeom prst="rect">
            <a:avLst/>
          </a:prstGeom>
          <a:solidFill>
            <a:srgbClr val="F3F4F6"/>
          </a:solidFill>
          <a:ln w="25400">
            <a:solidFill>
              <a:srgbClr val="0D9488"/>
            </a:solidFill>
            <a:prstDash val="solid"/>
          </a:ln>
        </p:spPr>
      </p:sp>
      <p:sp>
        <p:nvSpPr>
          <p:cNvPr id="12" name="Text 10"/>
          <p:cNvSpPr/>
          <p:nvPr/>
        </p:nvSpPr>
        <p:spPr>
          <a:xfrm>
            <a:off x="640080" y="2971800"/>
            <a:ext cx="786384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Effect Size: Linear Regression Equation</a:t>
            </a:r>
            <a:endParaRPr lang="en-US" sz="1300" dirty="0"/>
          </a:p>
        </p:txBody>
      </p:sp>
      <p:sp>
        <p:nvSpPr>
          <p:cNvPr id="13" name="Text 11"/>
          <p:cNvSpPr/>
          <p:nvPr/>
        </p:nvSpPr>
        <p:spPr>
          <a:xfrm>
            <a:off x="822960" y="3383280"/>
            <a:ext cx="7498080" cy="36576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Lot Size = -2,426 + 1,440 × Distance (miles)</a:t>
            </a:r>
            <a:endParaRPr lang="en-US" sz="1300" dirty="0"/>
          </a:p>
        </p:txBody>
      </p:sp>
      <p:sp>
        <p:nvSpPr>
          <p:cNvPr id="14" name="Text 12"/>
          <p:cNvSpPr/>
          <p:nvPr/>
        </p:nvSpPr>
        <p:spPr>
          <a:xfrm>
            <a:off x="822960" y="3840480"/>
            <a:ext cx="7498080" cy="54864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Interpretation: For every mile farther from downtown, lot size increases by ~1,440 sq ft</a:t>
            </a:r>
            <a:endParaRPr lang="en-US" sz="1200" dirty="0"/>
          </a:p>
        </p:txBody>
      </p:sp>
      <p:sp>
        <p:nvSpPr>
          <p:cNvPr id="15" name="Text 13"/>
          <p:cNvSpPr/>
          <p:nvPr/>
        </p:nvSpPr>
        <p:spPr>
          <a:xfrm>
            <a:off x="822960" y="4526280"/>
            <a:ext cx="7498080" cy="365760"/>
          </a:xfrm>
          <a:prstGeom prst="rect">
            <a:avLst/>
          </a:prstGeom>
          <a:noFill/>
          <a:ln/>
        </p:spPr>
        <p:txBody>
          <a:bodyPr wrap="square"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Examples:  2 miles = 2,454 sq ft  |  5 miles = 5,774 sq ft  |  10 miles = 12,974 sq ft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H2 Validation &amp; Insights</a:t>
            </a:r>
            <a:endParaRPr lang="en-US" sz="4000" dirty="0"/>
          </a:p>
        </p:txBody>
      </p:sp>
      <p:sp>
        <p:nvSpPr>
          <p:cNvPr id="3" name="Shape 1"/>
          <p:cNvSpPr/>
          <p:nvPr/>
        </p:nvSpPr>
        <p:spPr>
          <a:xfrm>
            <a:off x="457200" y="1005840"/>
            <a:ext cx="8229600" cy="640080"/>
          </a:xfrm>
          <a:prstGeom prst="rect">
            <a:avLst/>
          </a:prstGeom>
          <a:solidFill>
            <a:srgbClr val="0D9488"/>
          </a:solidFill>
          <a:ln w="25400">
            <a:solidFill>
              <a:srgbClr val="1E3A8A"/>
            </a:solidFill>
            <a:prstDash val="solid"/>
          </a:ln>
        </p:spPr>
      </p:sp>
      <p:sp>
        <p:nvSpPr>
          <p:cNvPr id="4" name="Text 2"/>
          <p:cNvSpPr/>
          <p:nvPr/>
        </p:nvSpPr>
        <p:spPr>
          <a:xfrm>
            <a:off x="640080" y="1097280"/>
            <a:ext cx="786384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Hypothesis CONFIRMED: Houses farther from downtown have significantly larger lot sizes</a:t>
            </a:r>
            <a:endParaRPr lang="en-US" sz="1400" dirty="0"/>
          </a:p>
        </p:txBody>
      </p:sp>
      <p:sp>
        <p:nvSpPr>
          <p:cNvPr id="5" name="Shape 3"/>
          <p:cNvSpPr/>
          <p:nvPr/>
        </p:nvSpPr>
        <p:spPr>
          <a:xfrm>
            <a:off x="457200" y="1920240"/>
            <a:ext cx="4023360" cy="1554480"/>
          </a:xfrm>
          <a:prstGeom prst="rect">
            <a:avLst/>
          </a:prstGeom>
          <a:solidFill>
            <a:srgbClr val="3B82F6"/>
          </a:solidFill>
          <a:ln w="12700">
            <a:solidFill>
              <a:srgbClr val="1E3A8A"/>
            </a:solidFill>
            <a:prstDash val="solid"/>
          </a:ln>
        </p:spPr>
      </p:sp>
      <p:sp>
        <p:nvSpPr>
          <p:cNvPr id="6" name="Text 4"/>
          <p:cNvSpPr/>
          <p:nvPr/>
        </p:nvSpPr>
        <p:spPr>
          <a:xfrm>
            <a:off x="640080" y="2057400"/>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Urban Density</a:t>
            </a:r>
            <a:endParaRPr lang="en-US" sz="1200" dirty="0"/>
          </a:p>
        </p:txBody>
      </p:sp>
      <p:sp>
        <p:nvSpPr>
          <p:cNvPr id="7" name="Text 5"/>
          <p:cNvSpPr/>
          <p:nvPr/>
        </p:nvSpPr>
        <p:spPr>
          <a:xfrm>
            <a:off x="640080" y="2423160"/>
            <a:ext cx="3657600" cy="868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Downtown areas have smaller lots due to dense development</a:t>
            </a:r>
            <a:endParaRPr lang="en-US" sz="1100" dirty="0"/>
          </a:p>
        </p:txBody>
      </p:sp>
      <p:sp>
        <p:nvSpPr>
          <p:cNvPr id="8" name="Shape 6"/>
          <p:cNvSpPr/>
          <p:nvPr/>
        </p:nvSpPr>
        <p:spPr>
          <a:xfrm>
            <a:off x="4754880" y="1920240"/>
            <a:ext cx="4023360" cy="1554480"/>
          </a:xfrm>
          <a:prstGeom prst="rect">
            <a:avLst/>
          </a:prstGeom>
          <a:solidFill>
            <a:srgbClr val="0D9488"/>
          </a:solidFill>
          <a:ln w="12700">
            <a:solidFill>
              <a:srgbClr val="1E3A8A"/>
            </a:solidFill>
            <a:prstDash val="solid"/>
          </a:ln>
        </p:spPr>
      </p:sp>
      <p:sp>
        <p:nvSpPr>
          <p:cNvPr id="9" name="Text 7"/>
          <p:cNvSpPr/>
          <p:nvPr/>
        </p:nvSpPr>
        <p:spPr>
          <a:xfrm>
            <a:off x="4937760" y="2057400"/>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Land Availability</a:t>
            </a:r>
            <a:endParaRPr lang="en-US" sz="1200" dirty="0"/>
          </a:p>
        </p:txBody>
      </p:sp>
      <p:sp>
        <p:nvSpPr>
          <p:cNvPr id="10" name="Text 8"/>
          <p:cNvSpPr/>
          <p:nvPr/>
        </p:nvSpPr>
        <p:spPr>
          <a:xfrm>
            <a:off x="4937760" y="2423160"/>
            <a:ext cx="3657600" cy="868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Suburban areas have more available land for larger properties</a:t>
            </a:r>
            <a:endParaRPr lang="en-US" sz="1100" dirty="0"/>
          </a:p>
        </p:txBody>
      </p:sp>
      <p:sp>
        <p:nvSpPr>
          <p:cNvPr id="11" name="Shape 9"/>
          <p:cNvSpPr/>
          <p:nvPr/>
        </p:nvSpPr>
        <p:spPr>
          <a:xfrm>
            <a:off x="457200" y="3657600"/>
            <a:ext cx="4023360" cy="1554480"/>
          </a:xfrm>
          <a:prstGeom prst="rect">
            <a:avLst/>
          </a:prstGeom>
          <a:solidFill>
            <a:srgbClr val="3B82F6"/>
          </a:solidFill>
          <a:ln w="12700">
            <a:solidFill>
              <a:srgbClr val="1E3A8A"/>
            </a:solidFill>
            <a:prstDash val="solid"/>
          </a:ln>
        </p:spPr>
      </p:sp>
      <p:sp>
        <p:nvSpPr>
          <p:cNvPr id="12" name="Text 10"/>
          <p:cNvSpPr/>
          <p:nvPr/>
        </p:nvSpPr>
        <p:spPr>
          <a:xfrm>
            <a:off x="640080" y="3794760"/>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Market Pattern</a:t>
            </a:r>
            <a:endParaRPr lang="en-US" sz="1200" dirty="0"/>
          </a:p>
        </p:txBody>
      </p:sp>
      <p:sp>
        <p:nvSpPr>
          <p:cNvPr id="13" name="Text 11"/>
          <p:cNvSpPr/>
          <p:nvPr/>
        </p:nvSpPr>
        <p:spPr>
          <a:xfrm>
            <a:off x="640080" y="4160520"/>
            <a:ext cx="3657600" cy="868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Consistent relationship across all Seattle properties</a:t>
            </a:r>
            <a:endParaRPr lang="en-US" sz="1100" dirty="0"/>
          </a:p>
        </p:txBody>
      </p:sp>
      <p:sp>
        <p:nvSpPr>
          <p:cNvPr id="14" name="Shape 12"/>
          <p:cNvSpPr/>
          <p:nvPr/>
        </p:nvSpPr>
        <p:spPr>
          <a:xfrm>
            <a:off x="4754880" y="3657600"/>
            <a:ext cx="4023360" cy="1554480"/>
          </a:xfrm>
          <a:prstGeom prst="rect">
            <a:avLst/>
          </a:prstGeom>
          <a:solidFill>
            <a:srgbClr val="0D9488"/>
          </a:solidFill>
          <a:ln w="12700">
            <a:solidFill>
              <a:srgbClr val="1E3A8A"/>
            </a:solidFill>
            <a:prstDash val="solid"/>
          </a:ln>
        </p:spPr>
      </p:sp>
      <p:sp>
        <p:nvSpPr>
          <p:cNvPr id="15" name="Text 13"/>
          <p:cNvSpPr/>
          <p:nvPr/>
        </p:nvSpPr>
        <p:spPr>
          <a:xfrm>
            <a:off x="4937760" y="3794760"/>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Buyer Value</a:t>
            </a:r>
            <a:endParaRPr lang="en-US" sz="1200" dirty="0"/>
          </a:p>
        </p:txBody>
      </p:sp>
      <p:sp>
        <p:nvSpPr>
          <p:cNvPr id="16" name="Text 14"/>
          <p:cNvSpPr/>
          <p:nvPr/>
        </p:nvSpPr>
        <p:spPr>
          <a:xfrm>
            <a:off x="4937760" y="4160520"/>
            <a:ext cx="3657600" cy="868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Lot size is a key consideration for buyer location preferences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Implications for Buyers (Combined H1 + H2)</a:t>
            </a:r>
            <a:endParaRPr lang="en-US" sz="40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Optimal Strategy for William Rodriguez:</a:t>
            </a:r>
            <a:endParaRPr lang="en-US" sz="1600" dirty="0"/>
          </a:p>
        </p:txBody>
      </p:sp>
      <p:sp>
        <p:nvSpPr>
          <p:cNvPr id="4" name="Shape 2"/>
          <p:cNvSpPr/>
          <p:nvPr/>
        </p:nvSpPr>
        <p:spPr>
          <a:xfrm>
            <a:off x="457200" y="1508760"/>
            <a:ext cx="3931920" cy="3200400"/>
          </a:xfrm>
          <a:prstGeom prst="rect">
            <a:avLst/>
          </a:prstGeom>
          <a:solidFill>
            <a:srgbClr val="F3F4F6"/>
          </a:solidFill>
          <a:ln w="25400">
            <a:solidFill>
              <a:srgbClr val="0D9488"/>
            </a:solidFill>
            <a:prstDash val="solid"/>
          </a:ln>
        </p:spPr>
      </p:sp>
      <p:sp>
        <p:nvSpPr>
          <p:cNvPr id="5" name="Text 3"/>
          <p:cNvSpPr/>
          <p:nvPr/>
        </p:nvSpPr>
        <p:spPr>
          <a:xfrm>
            <a:off x="640080" y="1645920"/>
            <a:ext cx="356616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Target Zone:</a:t>
            </a:r>
            <a:endParaRPr lang="en-US" sz="1200" dirty="0"/>
          </a:p>
        </p:txBody>
      </p:sp>
      <p:sp>
        <p:nvSpPr>
          <p:cNvPr id="6" name="Text 4"/>
          <p:cNvSpPr/>
          <p:nvPr/>
        </p:nvSpPr>
        <p:spPr>
          <a:xfrm>
            <a:off x="640080" y="1965960"/>
            <a:ext cx="3566160" cy="320040"/>
          </a:xfrm>
          <a:prstGeom prst="rect">
            <a:avLst/>
          </a:prstGeom>
          <a:noFill/>
          <a:ln/>
        </p:spPr>
        <p:txBody>
          <a:bodyPr wrap="square"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5-8 miles from downtown</a:t>
            </a:r>
            <a:endParaRPr lang="en-US" sz="1300" dirty="0"/>
          </a:p>
        </p:txBody>
      </p:sp>
      <p:sp>
        <p:nvSpPr>
          <p:cNvPr id="7" name="Text 5"/>
          <p:cNvSpPr/>
          <p:nvPr/>
        </p:nvSpPr>
        <p:spPr>
          <a:xfrm>
            <a:off x="640080" y="2377440"/>
            <a:ext cx="3566160" cy="228600"/>
          </a:xfrm>
          <a:prstGeom prst="rect">
            <a:avLst/>
          </a:prstGeom>
          <a:noFill/>
          <a:ln/>
        </p:spPr>
        <p:txBody>
          <a:bodyPr wrap="square"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Why:</a:t>
            </a:r>
            <a:endParaRPr lang="en-US" sz="1100" dirty="0"/>
          </a:p>
        </p:txBody>
      </p:sp>
      <p:sp>
        <p:nvSpPr>
          <p:cNvPr id="8" name="Text 6"/>
          <p:cNvSpPr/>
          <p:nvPr/>
        </p:nvSpPr>
        <p:spPr>
          <a:xfrm>
            <a:off x="822960" y="2651760"/>
            <a:ext cx="3200400" cy="914400"/>
          </a:xfrm>
          <a:prstGeom prst="rect">
            <a:avLst/>
          </a:prstGeom>
          <a:noFill/>
          <a:ln/>
        </p:spPr>
        <p:txBody>
          <a:bodyPr wrap="square" rtlCol="0" anchor="ctr"/>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Expected lot size: 5,774-9,094 sq ft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Ideal for entertaining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Balanced commute</a:t>
            </a:r>
            <a:endParaRPr lang="en-US" sz="1000" dirty="0"/>
          </a:p>
        </p:txBody>
      </p:sp>
      <p:sp>
        <p:nvSpPr>
          <p:cNvPr id="9" name="Text 7"/>
          <p:cNvSpPr/>
          <p:nvPr/>
        </p:nvSpPr>
        <p:spPr>
          <a:xfrm>
            <a:off x="640080" y="3657600"/>
            <a:ext cx="356616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Property Priorities:</a:t>
            </a:r>
            <a:endParaRPr lang="en-US" sz="1200" dirty="0"/>
          </a:p>
        </p:txBody>
      </p:sp>
      <p:sp>
        <p:nvSpPr>
          <p:cNvPr id="10" name="Text 8"/>
          <p:cNvSpPr/>
          <p:nvPr/>
        </p:nvSpPr>
        <p:spPr>
          <a:xfrm>
            <a:off x="822960" y="3977640"/>
            <a:ext cx="3200400" cy="640080"/>
          </a:xfrm>
          <a:prstGeom prst="rect">
            <a:avLst/>
          </a:prstGeom>
          <a:noFill/>
          <a:ln/>
        </p:spPr>
        <p:txBody>
          <a:bodyPr wrap="square" rtlCol="0" anchor="ctr"/>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Recently renovated (H1)</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Spacious lot (H2)</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3+ bedrooms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Move-in ready</a:t>
            </a:r>
            <a:endParaRPr lang="en-US" sz="1000" dirty="0"/>
          </a:p>
        </p:txBody>
      </p:sp>
      <p:sp>
        <p:nvSpPr>
          <p:cNvPr id="11" name="Shape 9"/>
          <p:cNvSpPr/>
          <p:nvPr/>
        </p:nvSpPr>
        <p:spPr>
          <a:xfrm>
            <a:off x="4754880" y="1508760"/>
            <a:ext cx="3931920" cy="3200400"/>
          </a:xfrm>
          <a:prstGeom prst="rect">
            <a:avLst/>
          </a:prstGeom>
          <a:solidFill>
            <a:srgbClr val="F3F4F6"/>
          </a:solidFill>
          <a:ln w="25400">
            <a:solidFill>
              <a:srgbClr val="3B82F6"/>
            </a:solidFill>
            <a:prstDash val="solid"/>
          </a:ln>
        </p:spPr>
      </p:sp>
      <p:sp>
        <p:nvSpPr>
          <p:cNvPr id="12" name="Text 10"/>
          <p:cNvSpPr/>
          <p:nvPr/>
        </p:nvSpPr>
        <p:spPr>
          <a:xfrm>
            <a:off x="4937760" y="1645920"/>
            <a:ext cx="356616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Consider These Areas:</a:t>
            </a:r>
            <a:endParaRPr lang="en-US" sz="1200" dirty="0"/>
          </a:p>
        </p:txBody>
      </p:sp>
      <p:sp>
        <p:nvSpPr>
          <p:cNvPr id="13" name="Text 11"/>
          <p:cNvSpPr/>
          <p:nvPr/>
        </p:nvSpPr>
        <p:spPr>
          <a:xfrm>
            <a:off x="4937760" y="1965960"/>
            <a:ext cx="3566160" cy="22860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Sammamish</a:t>
            </a:r>
            <a:endParaRPr lang="en-US" sz="1100" dirty="0"/>
          </a:p>
        </p:txBody>
      </p:sp>
      <p:sp>
        <p:nvSpPr>
          <p:cNvPr id="14" name="Text 12"/>
          <p:cNvSpPr/>
          <p:nvPr/>
        </p:nvSpPr>
        <p:spPr>
          <a:xfrm>
            <a:off x="5120640" y="2240280"/>
            <a:ext cx="3200400" cy="548640"/>
          </a:xfrm>
          <a:prstGeom prst="rect">
            <a:avLst/>
          </a:prstGeom>
          <a:noFill/>
          <a:ln/>
        </p:spPr>
        <p:txBody>
          <a:bodyPr wrap="square" rtlCol="0" anchor="ctr"/>
          <a:lstStyle/>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Tech corridor access</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Higher-end properties</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Large lots (8-12K sq ft)</a:t>
            </a:r>
            <a:endParaRPr lang="en-US" sz="900" dirty="0"/>
          </a:p>
        </p:txBody>
      </p:sp>
      <p:sp>
        <p:nvSpPr>
          <p:cNvPr id="15" name="Text 13"/>
          <p:cNvSpPr/>
          <p:nvPr/>
        </p:nvSpPr>
        <p:spPr>
          <a:xfrm>
            <a:off x="4937760" y="2880360"/>
            <a:ext cx="3566160" cy="22860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Redmond</a:t>
            </a:r>
            <a:endParaRPr lang="en-US" sz="1100" dirty="0"/>
          </a:p>
        </p:txBody>
      </p:sp>
      <p:sp>
        <p:nvSpPr>
          <p:cNvPr id="16" name="Text 14"/>
          <p:cNvSpPr/>
          <p:nvPr/>
        </p:nvSpPr>
        <p:spPr>
          <a:xfrm>
            <a:off x="5120640" y="3154680"/>
            <a:ext cx="3200400" cy="548640"/>
          </a:xfrm>
          <a:prstGeom prst="rect">
            <a:avLst/>
          </a:prstGeom>
          <a:noFill/>
          <a:ln/>
        </p:spPr>
        <p:txBody>
          <a:bodyPr wrap="square" rtlCol="0" anchor="ctr"/>
          <a:lstStyle/>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Good value</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Closer to downtown</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Moderate lot sizes (6-9K sq ft)</a:t>
            </a:r>
            <a:endParaRPr lang="en-US" sz="900" dirty="0"/>
          </a:p>
        </p:txBody>
      </p:sp>
      <p:sp>
        <p:nvSpPr>
          <p:cNvPr id="17" name="Text 15"/>
          <p:cNvSpPr/>
          <p:nvPr/>
        </p:nvSpPr>
        <p:spPr>
          <a:xfrm>
            <a:off x="4937760" y="3794760"/>
            <a:ext cx="3566160" cy="22860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South Seattle</a:t>
            </a:r>
            <a:endParaRPr lang="en-US" sz="1100" dirty="0"/>
          </a:p>
        </p:txBody>
      </p:sp>
      <p:sp>
        <p:nvSpPr>
          <p:cNvPr id="18" name="Text 16"/>
          <p:cNvSpPr/>
          <p:nvPr/>
        </p:nvSpPr>
        <p:spPr>
          <a:xfrm>
            <a:off x="5120640" y="4069080"/>
            <a:ext cx="3200400" cy="548640"/>
          </a:xfrm>
          <a:prstGeom prst="rect">
            <a:avLst/>
          </a:prstGeom>
          <a:noFill/>
          <a:ln/>
        </p:spPr>
        <p:txBody>
          <a:bodyPr wrap="square" rtlCol="0" anchor="ctr"/>
          <a:lstStyle/>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Most affordable</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Growing areas</a:t>
            </a:r>
            <a:endParaRPr lang="en-US" sz="900" dirty="0"/>
          </a:p>
          <a:p>
            <a:pPr marL="342900" indent="-342900">
              <a:buSzPct val="100000"/>
              <a:buChar char="•"/>
            </a:pPr>
            <a:r>
              <a:rPr lang="en-US" sz="900" dirty="0">
                <a:solidFill>
                  <a:srgbClr val="374151"/>
                </a:solidFill>
                <a:latin typeface="Calibri" pitchFamily="34" charset="0"/>
                <a:ea typeface="Calibri" pitchFamily="34" charset="-122"/>
                <a:cs typeface="Calibri" pitchFamily="34" charset="-120"/>
              </a:rPr>
              <a:t>Varied lot sizes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Next Steps: H3 Analysis</a:t>
            </a:r>
            <a:endParaRPr lang="en-US" sz="4000" dirty="0"/>
          </a:p>
        </p:txBody>
      </p:sp>
      <p:sp>
        <p:nvSpPr>
          <p:cNvPr id="3" name="Text 1"/>
          <p:cNvSpPr/>
          <p:nvPr/>
        </p:nvSpPr>
        <p:spPr>
          <a:xfrm>
            <a:off x="914400" y="2011680"/>
            <a:ext cx="7315200" cy="320040"/>
          </a:xfrm>
          <a:prstGeom prst="rect">
            <a:avLst/>
          </a:prstGeom>
          <a:noFill/>
          <a:ln/>
        </p:spPr>
        <p:txBody>
          <a:bodyPr wrap="square" rtlCol="0" anchor="ctr"/>
          <a:lstStyle/>
          <a:p>
            <a:pPr marL="342900" indent="-342900">
              <a:buSzPct val="100000"/>
              <a:buChar char="•"/>
            </a:pPr>
            <a:r>
              <a:rPr lang="en-US" sz="1400" b="1" dirty="0">
                <a:solidFill>
                  <a:srgbClr val="F59E0B"/>
                </a:solidFill>
                <a:latin typeface="Calibri" pitchFamily="34" charset="0"/>
                <a:ea typeface="Calibri" pitchFamily="34" charset="-122"/>
                <a:cs typeface="Calibri" pitchFamily="34" charset="-120"/>
              </a:rPr>
              <a:t>H3 Part A: Do houses with larger lot sizes command higher prices?</a:t>
            </a:r>
            <a:endParaRPr lang="en-US" sz="1400" dirty="0"/>
          </a:p>
        </p:txBody>
      </p:sp>
      <p:sp>
        <p:nvSpPr>
          <p:cNvPr id="4" name="Text 2"/>
          <p:cNvSpPr/>
          <p:nvPr/>
        </p:nvSpPr>
        <p:spPr>
          <a:xfrm>
            <a:off x="914400" y="2423160"/>
            <a:ext cx="7315200" cy="320040"/>
          </a:xfrm>
          <a:prstGeom prst="rect">
            <a:avLst/>
          </a:prstGeom>
          <a:noFill/>
          <a:ln/>
        </p:spPr>
        <p:txBody>
          <a:bodyPr wrap="square" rtlCol="0" anchor="ctr"/>
          <a:lstStyle/>
          <a:p>
            <a:pPr marL="342900" indent="-342900">
              <a:buSzPct val="100000"/>
              <a:buChar char="•"/>
            </a:pPr>
            <a:r>
              <a:rPr lang="en-US" sz="1400" b="1" dirty="0">
                <a:solidFill>
                  <a:srgbClr val="F59E0B"/>
                </a:solidFill>
                <a:latin typeface="Calibri" pitchFamily="34" charset="0"/>
                <a:ea typeface="Calibri" pitchFamily="34" charset="-122"/>
                <a:cs typeface="Calibri" pitchFamily="34" charset="-120"/>
              </a:rPr>
              <a:t>H3 Part B: Do houses closer to downtown command higher prices?</a:t>
            </a:r>
            <a:endParaRPr lang="en-US" sz="1400" dirty="0"/>
          </a:p>
        </p:txBody>
      </p:sp>
      <p:sp>
        <p:nvSpPr>
          <p:cNvPr id="5" name="Text 3"/>
          <p:cNvSpPr/>
          <p:nvPr/>
        </p:nvSpPr>
        <p:spPr>
          <a:xfrm>
            <a:off x="914400" y="2926080"/>
            <a:ext cx="7315200" cy="365760"/>
          </a:xfrm>
          <a:prstGeom prst="rect">
            <a:avLst/>
          </a:prstGeom>
          <a:noFill/>
          <a:ln/>
        </p:spPr>
        <p:txBody>
          <a:bodyPr wrap="square" rtlCol="0" anchor="ctr"/>
          <a:lstStyle/>
          <a:p>
            <a:pPr marL="342900" indent="-342900">
              <a:buSzPct val="100000"/>
              <a:buChar char="•"/>
            </a:pPr>
            <a:r>
              <a:rPr lang="en-US" sz="1400" b="1" dirty="0">
                <a:solidFill>
                  <a:srgbClr val="3B82F6"/>
                </a:solidFill>
                <a:latin typeface="Calibri" pitchFamily="34" charset="0"/>
                <a:ea typeface="Calibri" pitchFamily="34" charset="-122"/>
                <a:cs typeface="Calibri" pitchFamily="34" charset="-120"/>
              </a:rPr>
              <a:t>Integration: Combine renovation, lot size, and location for final buyer recommendations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2026-09-16T17:54:33Z</dcterms:created>
  <dcterms:modified xsi:type="dcterms:W3CDTF">2026-09-16T17:54:33Z</dcterms:modified>
</cp:coreProperties>
</file>