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H3 Analysis: Examining the relationship between number of floors and lot size for urban properties to identify compact, vertical city homes suitable for William Rodriguez's preferences.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William Rodriguez pursues a dual-property investment strategy: country houses for land and expansion value, city houses for quick turnover and lifestyle appeal. H3 focuses on the city house strategy.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H3 tests whether urban properties exhibit the trade-off between vertical development (more floors) and limited land area (smaller lots). This relationship, if confirmed, would validate William's preference for multi-story city homes.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H3 follows a structured 4-step approach: (1) restrict to urban properties using external RUCA codes, (2) clean data thoroughly to remove unrealistic outliers, (3) explore the distribution and relationship visually, (4) test the relationship statistically using Spearman correlation, appropriate for discrete variables like floor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Starting dataset includes ~3,000+ urban houses. Data is cleaned to remove unrealistic outliers and duplicates. The RUCA-based urban classification is based on official USDA/WWAMI rural-urban commuting area codes, providing an objective geographic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Scatterplot reveals the relationship between floor count and lot size. Visual pattern suggests that houses with more floors tend to occupy smaller lots - consistent with compact, vertical urban development where land is premium.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Boxplot shows the distribution of lot sizes for each floor count. The median lot size (orange line in each box) clearly decreases as floor count increases, supporting H3.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Spearman correlation is appropriate for discrete variables like floor count. A negative correlation close to -1 with a small p-value indicates that the relationship is real and statistically significant, not a result of chance.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H3 findings that more floors correlate with smaller lots in urban areas, we recommend properties with ≥2 floors and lot sizes at or below the urban median. William's preference for fast purchase is addressed by ranking candidates by price descending, assuming pricier homes move faster in the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H3 successfully validates the hypothesis that urban properties exhibit a trade-off between vertical development and land area. This supports William's dual-strategy approach: country houses for land/expansion, city houses for compact urban living and quick resale.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8A"/>
        </a:solidFill>
      </p:bgPr>
    </p:bg>
    <p:spTree>
      <p:nvGrpSpPr>
        <p:cNvPr id="1" name=""/>
        <p:cNvGrpSpPr/>
        <p:nvPr/>
      </p:nvGrpSpPr>
      <p:grpSpPr>
        <a:xfrm>
          <a:off x="0" y="0"/>
          <a:ext cx="0" cy="0"/>
          <a:chOff x="0" y="0"/>
          <a:chExt cx="0" cy="0"/>
        </a:xfrm>
      </p:grpSpPr>
      <p:sp>
        <p:nvSpPr>
          <p:cNvPr id="2" name="Text 0"/>
          <p:cNvSpPr/>
          <p:nvPr/>
        </p:nvSpPr>
        <p:spPr>
          <a:xfrm>
            <a:off x="457200" y="1828800"/>
            <a:ext cx="8229600" cy="1097280"/>
          </a:xfrm>
          <a:prstGeom prst="rect">
            <a:avLst/>
          </a:prstGeom>
          <a:noFill/>
          <a:ln/>
        </p:spPr>
        <p:txBody>
          <a:bodyPr wrap="square" rtlCol="0" anchor="ctr"/>
          <a:lstStyle/>
          <a:p>
            <a:pPr algn="l" indent="0" marL="0">
              <a:buNone/>
            </a:pPr>
            <a:r>
              <a:rPr lang="en-US" sz="5400" b="1" dirty="0">
                <a:solidFill>
                  <a:srgbClr val="FFFFFF"/>
                </a:solidFill>
                <a:latin typeface="Calibri" pitchFamily="34" charset="0"/>
                <a:ea typeface="Calibri" pitchFamily="34" charset="-122"/>
                <a:cs typeface="Calibri" pitchFamily="34" charset="-120"/>
              </a:rPr>
              <a:t>H3: Floors vs Lot Size</a:t>
            </a:r>
            <a:endParaRPr lang="en-US" sz="5400" dirty="0"/>
          </a:p>
        </p:txBody>
      </p:sp>
      <p:sp>
        <p:nvSpPr>
          <p:cNvPr id="3" name="Text 1"/>
          <p:cNvSpPr/>
          <p:nvPr/>
        </p:nvSpPr>
        <p:spPr>
          <a:xfrm>
            <a:off x="457200" y="3017520"/>
            <a:ext cx="8229600" cy="731520"/>
          </a:xfrm>
          <a:prstGeom prst="rect">
            <a:avLst/>
          </a:prstGeom>
          <a:noFill/>
          <a:ln/>
        </p:spPr>
        <p:txBody>
          <a:bodyPr wrap="square" rtlCol="0" anchor="ctr"/>
          <a:lstStyle/>
          <a:p>
            <a:pPr algn="l" indent="0" marL="0">
              <a:buNone/>
            </a:pPr>
            <a:r>
              <a:rPr lang="en-US" sz="2800" dirty="0">
                <a:solidFill>
                  <a:srgbClr val="F59E0B"/>
                </a:solidFill>
                <a:latin typeface="Calibri" pitchFamily="34" charset="0"/>
                <a:ea typeface="Calibri" pitchFamily="34" charset="-122"/>
                <a:cs typeface="Calibri" pitchFamily="34" charset="-120"/>
              </a:rPr>
              <a:t>Analysis for Urban Houses: Do More Floors Mean Smaller Lots?</a:t>
            </a:r>
            <a:endParaRPr lang="en-US" sz="2800" dirty="0"/>
          </a:p>
        </p:txBody>
      </p:sp>
      <p:sp>
        <p:nvSpPr>
          <p:cNvPr id="4" name="Text 2"/>
          <p:cNvSpPr/>
          <p:nvPr/>
        </p:nvSpPr>
        <p:spPr>
          <a:xfrm>
            <a:off x="457200" y="3931920"/>
            <a:ext cx="8229600" cy="457200"/>
          </a:xfrm>
          <a:prstGeom prst="rect">
            <a:avLst/>
          </a:prstGeom>
          <a:noFill/>
          <a:ln/>
        </p:spPr>
        <p:txBody>
          <a:bodyPr wrap="square" rtlCol="0" anchor="ctr"/>
          <a:lstStyle/>
          <a:p>
            <a:pPr algn="l" indent="0" marL="0">
              <a:buNone/>
            </a:pPr>
            <a:r>
              <a:rPr lang="en-US" sz="1800" dirty="0">
                <a:solidFill>
                  <a:srgbClr val="F3F4F6"/>
                </a:solidFill>
                <a:latin typeface="Calibri" pitchFamily="34" charset="0"/>
                <a:ea typeface="Calibri" pitchFamily="34" charset="-122"/>
                <a:cs typeface="Calibri" pitchFamily="34" charset="-120"/>
              </a:rPr>
              <a:t>William Rodriguez - City House Search</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algn="l" indent="0" marL="0">
              <a:buNone/>
            </a:pPr>
            <a:r>
              <a:rPr lang="en-US" sz="4000" b="1" dirty="0">
                <a:solidFill>
                  <a:srgbClr val="1E3A8A"/>
                </a:solidFill>
                <a:latin typeface="Calibri" pitchFamily="34" charset="0"/>
                <a:ea typeface="Calibri" pitchFamily="34" charset="-122"/>
                <a:cs typeface="Calibri" pitchFamily="34" charset="-120"/>
              </a:rPr>
              <a:t>Buyer Persona: William Rodriguez</a:t>
            </a:r>
            <a:endParaRPr lang="en-US" sz="4000" dirty="0"/>
          </a:p>
        </p:txBody>
      </p:sp>
      <p:sp>
        <p:nvSpPr>
          <p:cNvPr id="3" name="Shape 1"/>
          <p:cNvSpPr/>
          <p:nvPr/>
        </p:nvSpPr>
        <p:spPr>
          <a:xfrm>
            <a:off x="457200" y="1051560"/>
            <a:ext cx="3931920" cy="3474720"/>
          </a:xfrm>
          <a:prstGeom prst="rect">
            <a:avLst/>
          </a:prstGeom>
          <a:solidFill>
            <a:srgbClr val="F3F4F6"/>
          </a:solidFill>
          <a:ln w="25400">
            <a:solidFill>
              <a:srgbClr val="0D9488"/>
            </a:solidFill>
            <a:prstDash val="solid"/>
          </a:ln>
        </p:spPr>
      </p:sp>
      <p:sp>
        <p:nvSpPr>
          <p:cNvPr id="4" name="Text 2"/>
          <p:cNvSpPr/>
          <p:nvPr/>
        </p:nvSpPr>
        <p:spPr>
          <a:xfrm>
            <a:off x="594360" y="1188720"/>
            <a:ext cx="3657600" cy="365760"/>
          </a:xfrm>
          <a:prstGeom prst="rect">
            <a:avLst/>
          </a:prstGeom>
          <a:noFill/>
          <a:ln/>
        </p:spPr>
        <p:txBody>
          <a:bodyPr wrap="square" rtlCol="0" anchor="ctr"/>
          <a:lstStyle/>
          <a:p>
            <a:pPr indent="0" marL="0">
              <a:buNone/>
            </a:pPr>
            <a:r>
              <a:rPr lang="en-US" sz="1600" b="1" dirty="0">
                <a:solidFill>
                  <a:srgbClr val="1E3A8A"/>
                </a:solidFill>
                <a:latin typeface="Calibri" pitchFamily="34" charset="0"/>
                <a:ea typeface="Calibri" pitchFamily="34" charset="-122"/>
                <a:cs typeface="Calibri" pitchFamily="34" charset="-120"/>
              </a:rPr>
              <a:t>Country House Strategy</a:t>
            </a:r>
            <a:endParaRPr lang="en-US" sz="1600" dirty="0"/>
          </a:p>
        </p:txBody>
      </p:sp>
      <p:sp>
        <p:nvSpPr>
          <p:cNvPr id="5" name="Text 3"/>
          <p:cNvSpPr/>
          <p:nvPr/>
        </p:nvSpPr>
        <p:spPr>
          <a:xfrm>
            <a:off x="594360" y="1691640"/>
            <a:ext cx="3657600" cy="2560320"/>
          </a:xfrm>
          <a:prstGeom prst="rect">
            <a:avLst/>
          </a:prstGeom>
          <a:noFill/>
          <a:ln/>
        </p:spPr>
        <p:txBody>
          <a:bodyPr wrap="square" rtlCol="0" anchor="ctr"/>
          <a:lstStyle/>
          <a:p>
            <a:pPr marL="342900" indent="-342900">
              <a:buSzPct val="100000"/>
              <a:buChar char="•"/>
            </a:pPr>
            <a:r>
              <a:rPr lang="en-US" sz="1400" dirty="0">
                <a:solidFill>
                  <a:srgbClr val="1F2937"/>
                </a:solidFill>
                <a:latin typeface="Calibri" pitchFamily="34" charset="0"/>
                <a:ea typeface="Calibri" pitchFamily="34" charset="-122"/>
                <a:cs typeface="Calibri" pitchFamily="34" charset="-120"/>
              </a:rPr>
              <a:t>• Non-renovated or as-is</a:t>
            </a:r>
            <a:endParaRPr lang="en-US" sz="1400" dirty="0"/>
          </a:p>
          <a:p>
            <a:pPr marL="342900" indent="-342900">
              <a:buSzPct val="100000"/>
              <a:buChar char="•"/>
            </a:pPr>
            <a:r>
              <a:rPr lang="en-US" sz="1400" dirty="0">
                <a:solidFill>
                  <a:srgbClr val="1F2937"/>
                </a:solidFill>
                <a:latin typeface="Calibri" pitchFamily="34" charset="0"/>
                <a:ea typeface="Calibri" pitchFamily="34" charset="-122"/>
                <a:cs typeface="Calibri" pitchFamily="34" charset="-120"/>
              </a:rPr>
              <a:t>• More land, expansion potential</a:t>
            </a:r>
            <a:endParaRPr lang="en-US" sz="1400" dirty="0"/>
          </a:p>
          <a:p>
            <a:pPr marL="342900" indent="-342900">
              <a:buSzPct val="100000"/>
              <a:buChar char="•"/>
            </a:pPr>
            <a:r>
              <a:rPr lang="en-US" sz="1400" dirty="0">
                <a:solidFill>
                  <a:srgbClr val="1F2937"/>
                </a:solidFill>
                <a:latin typeface="Calibri" pitchFamily="34" charset="0"/>
                <a:ea typeface="Calibri" pitchFamily="34" charset="-122"/>
                <a:cs typeface="Calibri" pitchFamily="34" charset="-120"/>
              </a:rPr>
              <a:t>• Multi-acre properties</a:t>
            </a:r>
            <a:endParaRPr lang="en-US" sz="1400" dirty="0"/>
          </a:p>
          <a:p>
            <a:pPr marL="342900" indent="-342900">
              <a:buSzPct val="100000"/>
              <a:buChar char="•"/>
            </a:pPr>
            <a:r>
              <a:rPr lang="en-US" sz="1400" dirty="0">
                <a:solidFill>
                  <a:srgbClr val="1F2937"/>
                </a:solidFill>
                <a:latin typeface="Calibri" pitchFamily="34" charset="0"/>
                <a:ea typeface="Calibri" pitchFamily="34" charset="-122"/>
                <a:cs typeface="Calibri" pitchFamily="34" charset="-120"/>
              </a:rPr>
              <a:t>• Investment focus</a:t>
            </a:r>
            <a:endParaRPr lang="en-US" sz="1400" dirty="0"/>
          </a:p>
        </p:txBody>
      </p:sp>
      <p:sp>
        <p:nvSpPr>
          <p:cNvPr id="6" name="Shape 4"/>
          <p:cNvSpPr/>
          <p:nvPr/>
        </p:nvSpPr>
        <p:spPr>
          <a:xfrm>
            <a:off x="4754880" y="1051560"/>
            <a:ext cx="3931920" cy="3474720"/>
          </a:xfrm>
          <a:prstGeom prst="rect">
            <a:avLst/>
          </a:prstGeom>
          <a:solidFill>
            <a:srgbClr val="F3F4F6"/>
          </a:solidFill>
          <a:ln w="25400">
            <a:solidFill>
              <a:srgbClr val="F59E0B"/>
            </a:solidFill>
            <a:prstDash val="solid"/>
          </a:ln>
        </p:spPr>
      </p:sp>
      <p:sp>
        <p:nvSpPr>
          <p:cNvPr id="7" name="Text 5"/>
          <p:cNvSpPr/>
          <p:nvPr/>
        </p:nvSpPr>
        <p:spPr>
          <a:xfrm>
            <a:off x="4892040" y="1188720"/>
            <a:ext cx="3657600" cy="365760"/>
          </a:xfrm>
          <a:prstGeom prst="rect">
            <a:avLst/>
          </a:prstGeom>
          <a:noFill/>
          <a:ln/>
        </p:spPr>
        <p:txBody>
          <a:bodyPr wrap="square" rtlCol="0" anchor="ctr"/>
          <a:lstStyle/>
          <a:p>
            <a:pPr indent="0" marL="0">
              <a:buNone/>
            </a:pPr>
            <a:r>
              <a:rPr lang="en-US" sz="1600" b="1" dirty="0">
                <a:solidFill>
                  <a:srgbClr val="1E3A8A"/>
                </a:solidFill>
                <a:latin typeface="Calibri" pitchFamily="34" charset="0"/>
                <a:ea typeface="Calibri" pitchFamily="34" charset="-122"/>
                <a:cs typeface="Calibri" pitchFamily="34" charset="-120"/>
              </a:rPr>
              <a:t>City House Strategy</a:t>
            </a:r>
            <a:endParaRPr lang="en-US" sz="1600" dirty="0"/>
          </a:p>
        </p:txBody>
      </p:sp>
      <p:sp>
        <p:nvSpPr>
          <p:cNvPr id="8" name="Text 6"/>
          <p:cNvSpPr/>
          <p:nvPr/>
        </p:nvSpPr>
        <p:spPr>
          <a:xfrm>
            <a:off x="4892040" y="1691640"/>
            <a:ext cx="3657600" cy="2560320"/>
          </a:xfrm>
          <a:prstGeom prst="rect">
            <a:avLst/>
          </a:prstGeom>
          <a:noFill/>
          <a:ln/>
        </p:spPr>
        <p:txBody>
          <a:bodyPr wrap="square" rtlCol="0" anchor="ctr"/>
          <a:lstStyle/>
          <a:p>
            <a:pPr marL="342900" indent="-342900">
              <a:buSzPct val="100000"/>
              <a:buChar char="•"/>
            </a:pPr>
            <a:r>
              <a:rPr lang="en-US" sz="1400" dirty="0">
                <a:solidFill>
                  <a:srgbClr val="1F2937"/>
                </a:solidFill>
                <a:latin typeface="Calibri" pitchFamily="34" charset="0"/>
                <a:ea typeface="Calibri" pitchFamily="34" charset="-122"/>
                <a:cs typeface="Calibri" pitchFamily="34" charset="-120"/>
              </a:rPr>
              <a:t>• Renovated and move-in ready</a:t>
            </a:r>
            <a:endParaRPr lang="en-US" sz="1400" dirty="0"/>
          </a:p>
          <a:p>
            <a:pPr marL="342900" indent="-342900">
              <a:buSzPct val="100000"/>
              <a:buChar char="•"/>
            </a:pPr>
            <a:r>
              <a:rPr lang="en-US" sz="1400" dirty="0">
                <a:solidFill>
                  <a:srgbClr val="1F2937"/>
                </a:solidFill>
                <a:latin typeface="Calibri" pitchFamily="34" charset="0"/>
                <a:ea typeface="Calibri" pitchFamily="34" charset="-122"/>
                <a:cs typeface="Calibri" pitchFamily="34" charset="-120"/>
              </a:rPr>
              <a:t>• Urban, walkable location</a:t>
            </a:r>
            <a:endParaRPr lang="en-US" sz="1400" dirty="0"/>
          </a:p>
          <a:p>
            <a:pPr marL="342900" indent="-342900">
              <a:buSzPct val="100000"/>
              <a:buChar char="•"/>
            </a:pPr>
            <a:r>
              <a:rPr lang="en-US" sz="1400" dirty="0">
                <a:solidFill>
                  <a:srgbClr val="1F2937"/>
                </a:solidFill>
                <a:latin typeface="Calibri" pitchFamily="34" charset="0"/>
                <a:ea typeface="Calibri" pitchFamily="34" charset="-122"/>
                <a:cs typeface="Calibri" pitchFamily="34" charset="-120"/>
              </a:rPr>
              <a:t>• Compact, vertical layout</a:t>
            </a:r>
            <a:endParaRPr lang="en-US" sz="1400" dirty="0"/>
          </a:p>
          <a:p>
            <a:pPr marL="342900" indent="-342900">
              <a:buSzPct val="100000"/>
              <a:buChar char="•"/>
            </a:pPr>
            <a:r>
              <a:rPr lang="en-US" sz="1400" dirty="0">
                <a:solidFill>
                  <a:srgbClr val="1F2937"/>
                </a:solidFill>
                <a:latin typeface="Calibri" pitchFamily="34" charset="0"/>
                <a:ea typeface="Calibri" pitchFamily="34" charset="-122"/>
                <a:cs typeface="Calibri" pitchFamily="34" charset="-120"/>
              </a:rPr>
              <a:t>• Quick purchase &amp; sale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algn="l" indent="0" marL="0">
              <a:buNone/>
            </a:pPr>
            <a:r>
              <a:rPr lang="en-US" sz="4000" b="1" dirty="0">
                <a:solidFill>
                  <a:srgbClr val="1E3A8A"/>
                </a:solidFill>
                <a:latin typeface="Calibri" pitchFamily="34" charset="0"/>
                <a:ea typeface="Calibri" pitchFamily="34" charset="-122"/>
                <a:cs typeface="Calibri" pitchFamily="34" charset="-120"/>
              </a:rPr>
              <a:t>Research Question</a:t>
            </a:r>
            <a:endParaRPr lang="en-US" sz="4000" dirty="0"/>
          </a:p>
        </p:txBody>
      </p:sp>
      <p:sp>
        <p:nvSpPr>
          <p:cNvPr id="3" name="Shape 1"/>
          <p:cNvSpPr/>
          <p:nvPr/>
        </p:nvSpPr>
        <p:spPr>
          <a:xfrm>
            <a:off x="457200" y="1097280"/>
            <a:ext cx="8229600" cy="2926080"/>
          </a:xfrm>
          <a:prstGeom prst="rect">
            <a:avLst/>
          </a:prstGeom>
          <a:solidFill>
            <a:srgbClr val="3B82F6"/>
          </a:solidFill>
          <a:ln w="25400">
            <a:solidFill>
              <a:srgbClr val="1E3A8A"/>
            </a:solidFill>
            <a:prstDash val="solid"/>
          </a:ln>
        </p:spPr>
      </p:sp>
      <p:sp>
        <p:nvSpPr>
          <p:cNvPr id="4" name="Text 2"/>
          <p:cNvSpPr txBox="1"/>
          <p:nvPr/>
        </p:nvSpPr>
        <p:spPr>
          <a:xfrm>
            <a:off x="731520" y="1371600"/>
            <a:ext cx="7680960" cy="2377440"/>
          </a:xfrm>
          <a:prstGeom prst="rect">
            <a:avLst/>
          </a:prstGeom>
          <a:noFill/>
          <a:ln/>
        </p:spPr>
        <p:txBody>
          <a:bodyPr wrap="square" rtlCol="0" anchor="ctr"/>
          <a:lstStyle/>
          <a:p>
            <a:pPr algn="ctr" indent="0" marL="0">
              <a:buNone/>
            </a:pPr>
            <a:r>
              <a:rPr lang="en-US" sz="3200" b="1" dirty="0">
                <a:solidFill>
                  <a:srgbClr val="1E3A8A"/>
                </a:solidFill>
                <a:latin typeface="Calibri" pitchFamily="34" charset="0"/>
                <a:ea typeface="Calibri" pitchFamily="34" charset="-122"/>
                <a:cs typeface="Calibri" pitchFamily="34" charset="-120"/>
              </a:rPr>
              <a:t>Do houses with more floors tend to sit on smaller lots?</a:t>
            </a:r>
            <a:endParaRPr lang="en-US" sz="3200" dirty="0"/>
          </a:p>
        </p:txBody>
      </p:sp>
      <p:sp>
        <p:nvSpPr>
          <p:cNvPr id="5" name="Text 3"/>
          <p:cNvSpPr/>
          <p:nvPr/>
        </p:nvSpPr>
        <p:spPr>
          <a:xfrm>
            <a:off x="457200" y="4206240"/>
            <a:ext cx="8229600" cy="731520"/>
          </a:xfrm>
          <a:prstGeom prst="rect">
            <a:avLst/>
          </a:prstGeom>
          <a:noFill/>
          <a:ln/>
        </p:spPr>
        <p:txBody>
          <a:bodyPr wrap="square" rtlCol="0" anchor="ctr"/>
          <a:lstStyle/>
          <a:p>
            <a:pPr indent="0" marL="0">
              <a:buNone/>
            </a:pPr>
            <a:r>
              <a:rPr lang="en-US" sz="1400" i="1" dirty="0">
                <a:solidFill>
                  <a:srgbClr val="1F2937"/>
                </a:solidFill>
                <a:latin typeface="Calibri" pitchFamily="34" charset="0"/>
                <a:ea typeface="Calibri" pitchFamily="34" charset="-122"/>
                <a:cs typeface="Calibri" pitchFamily="34" charset="-120"/>
              </a:rPr>
              <a:t>Hypothesis (H3): Houses in more central, city-like areas tend to have more floors but smaller lot sizes. This compact, vertical style is what William's city house should look like.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algn="l" indent="0" marL="0">
              <a:buNone/>
            </a:pPr>
            <a:r>
              <a:rPr lang="en-US" sz="4000" b="1" dirty="0">
                <a:solidFill>
                  <a:srgbClr val="1E3A8A"/>
                </a:solidFill>
                <a:latin typeface="Calibri" pitchFamily="34" charset="0"/>
                <a:ea typeface="Calibri" pitchFamily="34" charset="-122"/>
                <a:cs typeface="Calibri" pitchFamily="34" charset="-120"/>
              </a:rPr>
              <a:t>Methodology Overview</a:t>
            </a:r>
            <a:endParaRPr lang="en-US" sz="4000" dirty="0"/>
          </a:p>
        </p:txBody>
      </p:sp>
      <p:sp>
        <p:nvSpPr>
          <p:cNvPr id="3" name="Shape 1"/>
          <p:cNvSpPr/>
          <p:nvPr/>
        </p:nvSpPr>
        <p:spPr>
          <a:xfrm>
            <a:off x="548640" y="1097280"/>
            <a:ext cx="320040" cy="320040"/>
          </a:xfrm>
          <a:prstGeom prst="ellipse">
            <a:avLst/>
          </a:prstGeom>
          <a:solidFill>
            <a:srgbClr val="0D9488"/>
          </a:solidFill>
          <a:ln w="12700">
            <a:solidFill>
              <a:srgbClr val="1E3A8A"/>
            </a:solidFill>
            <a:prstDash val="solid"/>
          </a:ln>
        </p:spPr>
      </p:sp>
      <p:sp>
        <p:nvSpPr>
          <p:cNvPr id="4" name="Text 2"/>
          <p:cNvSpPr/>
          <p:nvPr/>
        </p:nvSpPr>
        <p:spPr>
          <a:xfrm>
            <a:off x="548640" y="1097280"/>
            <a:ext cx="320040"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5" name="Text 3"/>
          <p:cNvSpPr/>
          <p:nvPr/>
        </p:nvSpPr>
        <p:spPr>
          <a:xfrm>
            <a:off x="1005840" y="1051560"/>
            <a:ext cx="2743200" cy="274320"/>
          </a:xfrm>
          <a:prstGeom prst="rect">
            <a:avLst/>
          </a:prstGeom>
          <a:noFill/>
          <a:ln/>
        </p:spPr>
        <p:txBody>
          <a:bodyPr wrap="square" rtlCol="0" anchor="ctr"/>
          <a:lstStyle/>
          <a:p>
            <a:pPr indent="0" marL="0">
              <a:buNone/>
            </a:pPr>
            <a:r>
              <a:rPr lang="en-US" sz="1300" b="1" dirty="0">
                <a:solidFill>
                  <a:srgbClr val="1E3A8A"/>
                </a:solidFill>
                <a:latin typeface="Calibri" pitchFamily="34" charset="0"/>
                <a:ea typeface="Calibri" pitchFamily="34" charset="-122"/>
                <a:cs typeface="Calibri" pitchFamily="34" charset="-120"/>
              </a:rPr>
              <a:t>Urban Classification (RUCA)</a:t>
            </a:r>
            <a:endParaRPr lang="en-US" sz="1300" dirty="0"/>
          </a:p>
        </p:txBody>
      </p:sp>
      <p:sp>
        <p:nvSpPr>
          <p:cNvPr id="6" name="Text 4"/>
          <p:cNvSpPr/>
          <p:nvPr/>
        </p:nvSpPr>
        <p:spPr>
          <a:xfrm>
            <a:off x="1005840" y="1371600"/>
            <a:ext cx="7223760" cy="457200"/>
          </a:xfrm>
          <a:prstGeom prst="rect">
            <a:avLst/>
          </a:prstGeom>
          <a:noFill/>
          <a:ln/>
        </p:spPr>
        <p:txBody>
          <a:bodyPr wrap="square" rtlCol="0" anchor="ctr"/>
          <a:lstStyle/>
          <a:p>
            <a:pPr indent="0" marL="0">
              <a:buNone/>
            </a:pPr>
            <a:r>
              <a:rPr lang="en-US" sz="1100" dirty="0">
                <a:solidFill>
                  <a:srgbClr val="1F2937"/>
                </a:solidFill>
                <a:latin typeface="Calibri" pitchFamily="34" charset="0"/>
                <a:ea typeface="Calibri" pitchFamily="34" charset="-122"/>
                <a:cs typeface="Calibri" pitchFamily="34" charset="-120"/>
              </a:rPr>
              <a:t>Use USDA Rural-Urban Commuting Area codes to identify urban vs exurban properties</a:t>
            </a:r>
            <a:endParaRPr lang="en-US" sz="1100" dirty="0"/>
          </a:p>
        </p:txBody>
      </p:sp>
      <p:sp>
        <p:nvSpPr>
          <p:cNvPr id="7" name="Shape 5"/>
          <p:cNvSpPr/>
          <p:nvPr/>
        </p:nvSpPr>
        <p:spPr>
          <a:xfrm>
            <a:off x="548640" y="2011680"/>
            <a:ext cx="320040" cy="320040"/>
          </a:xfrm>
          <a:prstGeom prst="ellipse">
            <a:avLst/>
          </a:prstGeom>
          <a:solidFill>
            <a:srgbClr val="0D9488"/>
          </a:solidFill>
          <a:ln w="12700">
            <a:solidFill>
              <a:srgbClr val="1E3A8A"/>
            </a:solidFill>
            <a:prstDash val="solid"/>
          </a:ln>
        </p:spPr>
      </p:sp>
      <p:sp>
        <p:nvSpPr>
          <p:cNvPr id="8" name="Text 6"/>
          <p:cNvSpPr/>
          <p:nvPr/>
        </p:nvSpPr>
        <p:spPr>
          <a:xfrm>
            <a:off x="548640" y="2011680"/>
            <a:ext cx="320040"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1005840" y="1965960"/>
            <a:ext cx="2743200" cy="274320"/>
          </a:xfrm>
          <a:prstGeom prst="rect">
            <a:avLst/>
          </a:prstGeom>
          <a:noFill/>
          <a:ln/>
        </p:spPr>
        <p:txBody>
          <a:bodyPr wrap="square" rtlCol="0" anchor="ctr"/>
          <a:lstStyle/>
          <a:p>
            <a:pPr indent="0" marL="0">
              <a:buNone/>
            </a:pPr>
            <a:r>
              <a:rPr lang="en-US" sz="1300" b="1" dirty="0">
                <a:solidFill>
                  <a:srgbClr val="1E3A8A"/>
                </a:solidFill>
                <a:latin typeface="Calibri" pitchFamily="34" charset="0"/>
                <a:ea typeface="Calibri" pitchFamily="34" charset="-122"/>
                <a:cs typeface="Calibri" pitchFamily="34" charset="-120"/>
              </a:rPr>
              <a:t>Data Cleaning</a:t>
            </a:r>
            <a:endParaRPr lang="en-US" sz="1300" dirty="0"/>
          </a:p>
        </p:txBody>
      </p:sp>
      <p:sp>
        <p:nvSpPr>
          <p:cNvPr id="10" name="Text 8"/>
          <p:cNvSpPr/>
          <p:nvPr/>
        </p:nvSpPr>
        <p:spPr>
          <a:xfrm>
            <a:off x="1005840" y="2286000"/>
            <a:ext cx="7223760" cy="457200"/>
          </a:xfrm>
          <a:prstGeom prst="rect">
            <a:avLst/>
          </a:prstGeom>
          <a:noFill/>
          <a:ln/>
        </p:spPr>
        <p:txBody>
          <a:bodyPr wrap="square" rtlCol="0" anchor="ctr"/>
          <a:lstStyle/>
          <a:p>
            <a:pPr indent="0" marL="0">
              <a:buNone/>
            </a:pPr>
            <a:r>
              <a:rPr lang="en-US" sz="1100" dirty="0">
                <a:solidFill>
                  <a:srgbClr val="1F2937"/>
                </a:solidFill>
                <a:latin typeface="Calibri" pitchFamily="34" charset="0"/>
                <a:ea typeface="Calibri" pitchFamily="34" charset="-122"/>
                <a:cs typeface="Calibri" pitchFamily="34" charset="-120"/>
              </a:rPr>
              <a:t>Remove outliers using IQR method, check for duplicate sales, validate data integrity</a:t>
            </a:r>
            <a:endParaRPr lang="en-US" sz="1100" dirty="0"/>
          </a:p>
        </p:txBody>
      </p:sp>
      <p:sp>
        <p:nvSpPr>
          <p:cNvPr id="11" name="Shape 9"/>
          <p:cNvSpPr/>
          <p:nvPr/>
        </p:nvSpPr>
        <p:spPr>
          <a:xfrm>
            <a:off x="548640" y="2926080"/>
            <a:ext cx="320040" cy="320040"/>
          </a:xfrm>
          <a:prstGeom prst="ellipse">
            <a:avLst/>
          </a:prstGeom>
          <a:solidFill>
            <a:srgbClr val="0D9488"/>
          </a:solidFill>
          <a:ln w="12700">
            <a:solidFill>
              <a:srgbClr val="1E3A8A"/>
            </a:solidFill>
            <a:prstDash val="solid"/>
          </a:ln>
        </p:spPr>
      </p:sp>
      <p:sp>
        <p:nvSpPr>
          <p:cNvPr id="12" name="Text 10"/>
          <p:cNvSpPr/>
          <p:nvPr/>
        </p:nvSpPr>
        <p:spPr>
          <a:xfrm>
            <a:off x="548640" y="2926080"/>
            <a:ext cx="320040"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p:nvPr/>
        </p:nvSpPr>
        <p:spPr>
          <a:xfrm>
            <a:off x="1005840" y="2880360"/>
            <a:ext cx="2743200" cy="274320"/>
          </a:xfrm>
          <a:prstGeom prst="rect">
            <a:avLst/>
          </a:prstGeom>
          <a:noFill/>
          <a:ln/>
        </p:spPr>
        <p:txBody>
          <a:bodyPr wrap="square" rtlCol="0" anchor="ctr"/>
          <a:lstStyle/>
          <a:p>
            <a:pPr indent="0" marL="0">
              <a:buNone/>
            </a:pPr>
            <a:r>
              <a:rPr lang="en-US" sz="1300" b="1" dirty="0">
                <a:solidFill>
                  <a:srgbClr val="1E3A8A"/>
                </a:solidFill>
                <a:latin typeface="Calibri" pitchFamily="34" charset="0"/>
                <a:ea typeface="Calibri" pitchFamily="34" charset="-122"/>
                <a:cs typeface="Calibri" pitchFamily="34" charset="-120"/>
              </a:rPr>
              <a:t>Exploratory Analysis</a:t>
            </a:r>
            <a:endParaRPr lang="en-US" sz="1300" dirty="0"/>
          </a:p>
        </p:txBody>
      </p:sp>
      <p:sp>
        <p:nvSpPr>
          <p:cNvPr id="14" name="Text 12"/>
          <p:cNvSpPr/>
          <p:nvPr/>
        </p:nvSpPr>
        <p:spPr>
          <a:xfrm>
            <a:off x="1005840" y="3200400"/>
            <a:ext cx="7223760" cy="457200"/>
          </a:xfrm>
          <a:prstGeom prst="rect">
            <a:avLst/>
          </a:prstGeom>
          <a:noFill/>
          <a:ln/>
        </p:spPr>
        <p:txBody>
          <a:bodyPr wrap="square" rtlCol="0" anchor="ctr"/>
          <a:lstStyle/>
          <a:p>
            <a:pPr indent="0" marL="0">
              <a:buNone/>
            </a:pPr>
            <a:r>
              <a:rPr lang="en-US" sz="1100" dirty="0">
                <a:solidFill>
                  <a:srgbClr val="1F2937"/>
                </a:solidFill>
                <a:latin typeface="Calibri" pitchFamily="34" charset="0"/>
                <a:ea typeface="Calibri" pitchFamily="34" charset="-122"/>
                <a:cs typeface="Calibri" pitchFamily="34" charset="-120"/>
              </a:rPr>
              <a:t>Visualize floors and lot size distributions; create scatterplot and boxplot</a:t>
            </a:r>
            <a:endParaRPr lang="en-US" sz="1100" dirty="0"/>
          </a:p>
        </p:txBody>
      </p:sp>
      <p:sp>
        <p:nvSpPr>
          <p:cNvPr id="15" name="Shape 13"/>
          <p:cNvSpPr/>
          <p:nvPr/>
        </p:nvSpPr>
        <p:spPr>
          <a:xfrm>
            <a:off x="548640" y="3840480"/>
            <a:ext cx="320040" cy="320040"/>
          </a:xfrm>
          <a:prstGeom prst="ellipse">
            <a:avLst/>
          </a:prstGeom>
          <a:solidFill>
            <a:srgbClr val="0D9488"/>
          </a:solidFill>
          <a:ln w="12700">
            <a:solidFill>
              <a:srgbClr val="1E3A8A"/>
            </a:solidFill>
            <a:prstDash val="solid"/>
          </a:ln>
        </p:spPr>
      </p:sp>
      <p:sp>
        <p:nvSpPr>
          <p:cNvPr id="16" name="Text 14"/>
          <p:cNvSpPr/>
          <p:nvPr/>
        </p:nvSpPr>
        <p:spPr>
          <a:xfrm>
            <a:off x="548640" y="3840480"/>
            <a:ext cx="320040"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p:nvPr/>
        </p:nvSpPr>
        <p:spPr>
          <a:xfrm>
            <a:off x="1005840" y="3794760"/>
            <a:ext cx="2743200" cy="274320"/>
          </a:xfrm>
          <a:prstGeom prst="rect">
            <a:avLst/>
          </a:prstGeom>
          <a:noFill/>
          <a:ln/>
        </p:spPr>
        <p:txBody>
          <a:bodyPr wrap="square" rtlCol="0" anchor="ctr"/>
          <a:lstStyle/>
          <a:p>
            <a:pPr indent="0" marL="0">
              <a:buNone/>
            </a:pPr>
            <a:r>
              <a:rPr lang="en-US" sz="1300" b="1" dirty="0">
                <a:solidFill>
                  <a:srgbClr val="1E3A8A"/>
                </a:solidFill>
                <a:latin typeface="Calibri" pitchFamily="34" charset="0"/>
                <a:ea typeface="Calibri" pitchFamily="34" charset="-122"/>
                <a:cs typeface="Calibri" pitchFamily="34" charset="-120"/>
              </a:rPr>
              <a:t>Statistical Test</a:t>
            </a:r>
            <a:endParaRPr lang="en-US" sz="1300" dirty="0"/>
          </a:p>
        </p:txBody>
      </p:sp>
      <p:sp>
        <p:nvSpPr>
          <p:cNvPr id="18" name="Text 16"/>
          <p:cNvSpPr/>
          <p:nvPr/>
        </p:nvSpPr>
        <p:spPr>
          <a:xfrm>
            <a:off x="1005840" y="4114800"/>
            <a:ext cx="7223760" cy="457200"/>
          </a:xfrm>
          <a:prstGeom prst="rect">
            <a:avLst/>
          </a:prstGeom>
          <a:noFill/>
          <a:ln/>
        </p:spPr>
        <p:txBody>
          <a:bodyPr wrap="square" rtlCol="0" anchor="ctr"/>
          <a:lstStyle/>
          <a:p>
            <a:pPr indent="0" marL="0">
              <a:buNone/>
            </a:pPr>
            <a:r>
              <a:rPr lang="en-US" sz="1100" dirty="0">
                <a:solidFill>
                  <a:srgbClr val="1F2937"/>
                </a:solidFill>
                <a:latin typeface="Calibri" pitchFamily="34" charset="0"/>
                <a:ea typeface="Calibri" pitchFamily="34" charset="-122"/>
                <a:cs typeface="Calibri" pitchFamily="34" charset="-120"/>
              </a:rPr>
              <a:t>Calculate Spearman correlation to test relationship strength and significance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algn="l" indent="0" marL="0">
              <a:buNone/>
            </a:pPr>
            <a:r>
              <a:rPr lang="en-US" sz="4000" b="1" dirty="0">
                <a:solidFill>
                  <a:srgbClr val="1E3A8A"/>
                </a:solidFill>
                <a:latin typeface="Calibri" pitchFamily="34" charset="0"/>
                <a:ea typeface="Calibri" pitchFamily="34" charset="-122"/>
                <a:cs typeface="Calibri" pitchFamily="34" charset="-120"/>
              </a:rPr>
              <a:t>Data Overview: Urban Houses Only</a:t>
            </a:r>
            <a:endParaRPr lang="en-US" sz="4000" dirty="0"/>
          </a:p>
        </p:txBody>
      </p:sp>
      <p:sp>
        <p:nvSpPr>
          <p:cNvPr id="3" name="Shape 1"/>
          <p:cNvSpPr/>
          <p:nvPr/>
        </p:nvSpPr>
        <p:spPr>
          <a:xfrm>
            <a:off x="457200" y="1188720"/>
            <a:ext cx="2560320" cy="1645920"/>
          </a:xfrm>
          <a:prstGeom prst="rect">
            <a:avLst/>
          </a:prstGeom>
          <a:solidFill>
            <a:srgbClr val="0D9488"/>
          </a:solidFill>
          <a:ln w="25400">
            <a:solidFill>
              <a:srgbClr val="0D9488"/>
            </a:solidFill>
            <a:prstDash val="solid"/>
          </a:ln>
        </p:spPr>
      </p:sp>
      <p:sp>
        <p:nvSpPr>
          <p:cNvPr id="4" name="Text 2"/>
          <p:cNvSpPr/>
          <p:nvPr/>
        </p:nvSpPr>
        <p:spPr>
          <a:xfrm>
            <a:off x="457200" y="1371600"/>
            <a:ext cx="2560320" cy="365760"/>
          </a:xfrm>
          <a:prstGeom prst="rect">
            <a:avLst/>
          </a:prstGeom>
          <a:noFill/>
          <a:ln/>
        </p:spPr>
        <p:txBody>
          <a:bodyPr wrap="square" rtlCol="0" anchor="ctr"/>
          <a:lstStyle/>
          <a:p>
            <a:pPr algn="ctr" indent="0" marL="0">
              <a:buNone/>
            </a:pPr>
            <a:r>
              <a:rPr lang="en-US" sz="1200" b="1" dirty="0">
                <a:solidFill>
                  <a:srgbClr val="1F2937"/>
                </a:solidFill>
                <a:latin typeface="Calibri" pitchFamily="34" charset="0"/>
                <a:ea typeface="Calibri" pitchFamily="34" charset="-122"/>
                <a:cs typeface="Calibri" pitchFamily="34" charset="-120"/>
              </a:rPr>
              <a:t>Urban Houses</a:t>
            </a:r>
            <a:endParaRPr lang="en-US" sz="1200" dirty="0"/>
          </a:p>
        </p:txBody>
      </p:sp>
      <p:sp>
        <p:nvSpPr>
          <p:cNvPr id="5" name="Text 3"/>
          <p:cNvSpPr/>
          <p:nvPr/>
        </p:nvSpPr>
        <p:spPr>
          <a:xfrm>
            <a:off x="457200" y="1828800"/>
            <a:ext cx="2560320" cy="640080"/>
          </a:xfrm>
          <a:prstGeom prst="rect">
            <a:avLst/>
          </a:prstGeom>
          <a:noFill/>
          <a:ln/>
        </p:spPr>
        <p:txBody>
          <a:bodyPr wrap="square" rtlCol="0" anchor="ctr"/>
          <a:lstStyle/>
          <a:p>
            <a:pPr algn="ctr" indent="0" marL="0">
              <a:buNone/>
            </a:pPr>
            <a:r>
              <a:rPr lang="en-US" sz="2800" b="1" dirty="0">
                <a:solidFill>
                  <a:srgbClr val="1E3A8A"/>
                </a:solidFill>
                <a:latin typeface="Calibri" pitchFamily="34" charset="0"/>
                <a:ea typeface="Calibri" pitchFamily="34" charset="-122"/>
                <a:cs typeface="Calibri" pitchFamily="34" charset="-120"/>
              </a:rPr>
              <a:t>~3,000+</a:t>
            </a:r>
            <a:endParaRPr lang="en-US" sz="2800" dirty="0"/>
          </a:p>
        </p:txBody>
      </p:sp>
      <p:sp>
        <p:nvSpPr>
          <p:cNvPr id="6" name="Shape 4"/>
          <p:cNvSpPr/>
          <p:nvPr/>
        </p:nvSpPr>
        <p:spPr>
          <a:xfrm>
            <a:off x="3200400" y="1188720"/>
            <a:ext cx="2560320" cy="1645920"/>
          </a:xfrm>
          <a:prstGeom prst="rect">
            <a:avLst/>
          </a:prstGeom>
          <a:solidFill>
            <a:srgbClr val="3B82F6"/>
          </a:solidFill>
          <a:ln w="25400">
            <a:solidFill>
              <a:srgbClr val="3B82F6"/>
            </a:solidFill>
            <a:prstDash val="solid"/>
          </a:ln>
        </p:spPr>
      </p:sp>
      <p:sp>
        <p:nvSpPr>
          <p:cNvPr id="7" name="Text 5"/>
          <p:cNvSpPr/>
          <p:nvPr/>
        </p:nvSpPr>
        <p:spPr>
          <a:xfrm>
            <a:off x="3200400" y="1371600"/>
            <a:ext cx="2560320" cy="365760"/>
          </a:xfrm>
          <a:prstGeom prst="rect">
            <a:avLst/>
          </a:prstGeom>
          <a:noFill/>
          <a:ln/>
        </p:spPr>
        <p:txBody>
          <a:bodyPr wrap="square" rtlCol="0" anchor="ctr"/>
          <a:lstStyle/>
          <a:p>
            <a:pPr algn="ctr" indent="0" marL="0">
              <a:buNone/>
            </a:pPr>
            <a:r>
              <a:rPr lang="en-US" sz="1200" b="1" dirty="0">
                <a:solidFill>
                  <a:srgbClr val="1F2937"/>
                </a:solidFill>
                <a:latin typeface="Calibri" pitchFamily="34" charset="0"/>
                <a:ea typeface="Calibri" pitchFamily="34" charset="-122"/>
                <a:cs typeface="Calibri" pitchFamily="34" charset="-120"/>
              </a:rPr>
              <a:t>Avg Floors</a:t>
            </a:r>
            <a:endParaRPr lang="en-US" sz="1200" dirty="0"/>
          </a:p>
        </p:txBody>
      </p:sp>
      <p:sp>
        <p:nvSpPr>
          <p:cNvPr id="8" name="Text 6"/>
          <p:cNvSpPr/>
          <p:nvPr/>
        </p:nvSpPr>
        <p:spPr>
          <a:xfrm>
            <a:off x="3200400" y="1828800"/>
            <a:ext cx="2560320" cy="640080"/>
          </a:xfrm>
          <a:prstGeom prst="rect">
            <a:avLst/>
          </a:prstGeom>
          <a:noFill/>
          <a:ln/>
        </p:spPr>
        <p:txBody>
          <a:bodyPr wrap="square" rtlCol="0" anchor="ctr"/>
          <a:lstStyle/>
          <a:p>
            <a:pPr algn="ctr" indent="0" marL="0">
              <a:buNone/>
            </a:pPr>
            <a:r>
              <a:rPr lang="en-US" sz="2800" b="1" dirty="0">
                <a:solidFill>
                  <a:srgbClr val="1E3A8A"/>
                </a:solidFill>
                <a:latin typeface="Calibri" pitchFamily="34" charset="0"/>
                <a:ea typeface="Calibri" pitchFamily="34" charset="-122"/>
                <a:cs typeface="Calibri" pitchFamily="34" charset="-120"/>
              </a:rPr>
              <a:t>1.7</a:t>
            </a:r>
            <a:endParaRPr lang="en-US" sz="2800" dirty="0"/>
          </a:p>
        </p:txBody>
      </p:sp>
      <p:sp>
        <p:nvSpPr>
          <p:cNvPr id="9" name="Shape 7"/>
          <p:cNvSpPr/>
          <p:nvPr/>
        </p:nvSpPr>
        <p:spPr>
          <a:xfrm>
            <a:off x="5943600" y="1188720"/>
            <a:ext cx="2560320" cy="1645920"/>
          </a:xfrm>
          <a:prstGeom prst="rect">
            <a:avLst/>
          </a:prstGeom>
          <a:solidFill>
            <a:srgbClr val="F59E0B"/>
          </a:solidFill>
          <a:ln w="25400">
            <a:solidFill>
              <a:srgbClr val="F59E0B"/>
            </a:solidFill>
            <a:prstDash val="solid"/>
          </a:ln>
        </p:spPr>
      </p:sp>
      <p:sp>
        <p:nvSpPr>
          <p:cNvPr id="10" name="Text 8"/>
          <p:cNvSpPr/>
          <p:nvPr/>
        </p:nvSpPr>
        <p:spPr>
          <a:xfrm>
            <a:off x="5943600" y="1371600"/>
            <a:ext cx="2560320" cy="365760"/>
          </a:xfrm>
          <a:prstGeom prst="rect">
            <a:avLst/>
          </a:prstGeom>
          <a:noFill/>
          <a:ln/>
        </p:spPr>
        <p:txBody>
          <a:bodyPr wrap="square" rtlCol="0" anchor="ctr"/>
          <a:lstStyle/>
          <a:p>
            <a:pPr algn="ctr" indent="0" marL="0">
              <a:buNone/>
            </a:pPr>
            <a:r>
              <a:rPr lang="en-US" sz="1200" b="1" dirty="0">
                <a:solidFill>
                  <a:srgbClr val="1F2937"/>
                </a:solidFill>
                <a:latin typeface="Calibri" pitchFamily="34" charset="0"/>
                <a:ea typeface="Calibri" pitchFamily="34" charset="-122"/>
                <a:cs typeface="Calibri" pitchFamily="34" charset="-120"/>
              </a:rPr>
              <a:t>Median Lot Size</a:t>
            </a:r>
            <a:endParaRPr lang="en-US" sz="1200" dirty="0"/>
          </a:p>
        </p:txBody>
      </p:sp>
      <p:sp>
        <p:nvSpPr>
          <p:cNvPr id="11" name="Text 9"/>
          <p:cNvSpPr/>
          <p:nvPr/>
        </p:nvSpPr>
        <p:spPr>
          <a:xfrm>
            <a:off x="5943600" y="1828800"/>
            <a:ext cx="2560320" cy="640080"/>
          </a:xfrm>
          <a:prstGeom prst="rect">
            <a:avLst/>
          </a:prstGeom>
          <a:noFill/>
          <a:ln/>
        </p:spPr>
        <p:txBody>
          <a:bodyPr wrap="square" rtlCol="0" anchor="ctr"/>
          <a:lstStyle/>
          <a:p>
            <a:pPr algn="ctr" indent="0" marL="0">
              <a:buNone/>
            </a:pPr>
            <a:r>
              <a:rPr lang="en-US" sz="2800" b="1" dirty="0">
                <a:solidFill>
                  <a:srgbClr val="1E3A8A"/>
                </a:solidFill>
                <a:latin typeface="Calibri" pitchFamily="34" charset="0"/>
                <a:ea typeface="Calibri" pitchFamily="34" charset="-122"/>
                <a:cs typeface="Calibri" pitchFamily="34" charset="-120"/>
              </a:rPr>
              <a:t>~7,500 sqft</a:t>
            </a:r>
            <a:endParaRPr lang="en-US" sz="2800" dirty="0"/>
          </a:p>
        </p:txBody>
      </p:sp>
      <p:sp>
        <p:nvSpPr>
          <p:cNvPr id="12" name="Text 10"/>
          <p:cNvSpPr/>
          <p:nvPr/>
        </p:nvSpPr>
        <p:spPr>
          <a:xfrm>
            <a:off x="457200" y="3108960"/>
            <a:ext cx="8229600" cy="1097280"/>
          </a:xfrm>
          <a:prstGeom prst="rect">
            <a:avLst/>
          </a:prstGeom>
          <a:noFill/>
          <a:ln/>
        </p:spPr>
        <p:txBody>
          <a:bodyPr wrap="square" rtlCol="0" anchor="ctr"/>
          <a:lstStyle/>
          <a:p>
            <a:pPr indent="0" marL="0">
              <a:buNone/>
            </a:pPr>
            <a:r>
              <a:rPr lang="en-US" sz="1200" dirty="0">
                <a:solidFill>
                  <a:srgbClr val="1F2937"/>
                </a:solidFill>
                <a:latin typeface="Calibri" pitchFamily="34" charset="0"/>
                <a:ea typeface="Calibri" pitchFamily="34" charset="-122"/>
                <a:cs typeface="Calibri" pitchFamily="34" charset="-120"/>
              </a:rPr>
              <a:t>RUCA Classification: All King County zip codes are RUCA 1 (Metropolitan core) or RUCA 2 (high commuting). We classify RUCA 1 as Urban; RUCA 2 as Exurban.</a:t>
            </a:r>
            <a:endParaRPr lang="en-US" sz="1200" dirty="0"/>
          </a:p>
        </p:txBody>
      </p:sp>
      <p:sp>
        <p:nvSpPr>
          <p:cNvPr id="13" name="Text 11"/>
          <p:cNvSpPr/>
          <p:nvPr/>
        </p:nvSpPr>
        <p:spPr>
          <a:xfrm>
            <a:off x="457200" y="4297680"/>
            <a:ext cx="8229600" cy="731520"/>
          </a:xfrm>
          <a:prstGeom prst="rect">
            <a:avLst/>
          </a:prstGeom>
          <a:noFill/>
          <a:ln/>
        </p:spPr>
        <p:txBody>
          <a:bodyPr wrap="square" rtlCol="0" anchor="ctr"/>
          <a:lstStyle/>
          <a:p>
            <a:pPr indent="0" marL="0">
              <a:buNone/>
            </a:pPr>
            <a:r>
              <a:rPr lang="en-US" sz="1200" dirty="0">
                <a:solidFill>
                  <a:srgbClr val="1F2937"/>
                </a:solidFill>
                <a:latin typeface="Calibri" pitchFamily="34" charset="0"/>
                <a:ea typeface="Calibri" pitchFamily="34" charset="-122"/>
                <a:cs typeface="Calibri" pitchFamily="34" charset="-120"/>
              </a:rPr>
              <a:t>Data cleaning applied: IQR-based outlier removal on lot size, duplicate sale removal, floors sanity check (1-3.5 range).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algn="l" indent="0" marL="0">
              <a:buNone/>
            </a:pPr>
            <a:r>
              <a:rPr lang="en-US" sz="4000" b="1" dirty="0">
                <a:solidFill>
                  <a:srgbClr val="1E3A8A"/>
                </a:solidFill>
                <a:latin typeface="Calibri" pitchFamily="34" charset="0"/>
                <a:ea typeface="Calibri" pitchFamily="34" charset="-122"/>
                <a:cs typeface="Calibri" pitchFamily="34" charset="-120"/>
              </a:rPr>
              <a:t>Relationship: Floors vs Lot Size (Scatterplot)</a:t>
            </a:r>
            <a:endParaRPr lang="en-US" sz="4000" dirty="0"/>
          </a:p>
        </p:txBody>
      </p:sp>
      <p:sp>
        <p:nvSpPr>
          <p:cNvPr id="3" name="Shape 1"/>
          <p:cNvSpPr/>
          <p:nvPr/>
        </p:nvSpPr>
        <p:spPr>
          <a:xfrm>
            <a:off x="457200" y="1097280"/>
            <a:ext cx="8229600" cy="3474720"/>
          </a:xfrm>
          <a:prstGeom prst="rect">
            <a:avLst/>
          </a:prstGeom>
          <a:solidFill>
            <a:srgbClr val="F3F4F6"/>
          </a:solidFill>
          <a:ln w="12700">
            <a:solidFill>
              <a:srgbClr val="0D9488"/>
            </a:solidFill>
            <a:prstDash val="solid"/>
          </a:ln>
        </p:spPr>
      </p:sp>
      <p:sp>
        <p:nvSpPr>
          <p:cNvPr id="4" name="Text 2"/>
          <p:cNvSpPr/>
          <p:nvPr/>
        </p:nvSpPr>
        <p:spPr>
          <a:xfrm>
            <a:off x="640080" y="2286000"/>
            <a:ext cx="7863840" cy="1645920"/>
          </a:xfrm>
          <a:prstGeom prst="rect">
            <a:avLst/>
          </a:prstGeom>
          <a:noFill/>
          <a:ln/>
        </p:spPr>
        <p:txBody>
          <a:bodyPr wrap="square" rtlCol="0" anchor="ctr"/>
          <a:lstStyle/>
          <a:p>
            <a:pPr algn="ctr" indent="0" marL="0">
              <a:buNone/>
            </a:pPr>
            <a:r>
              <a:rPr lang="en-US" sz="1600" i="1" dirty="0">
                <a:solidFill>
                  <a:srgbClr val="1F2937"/>
                </a:solidFill>
                <a:latin typeface="Calibri" pitchFamily="34" charset="0"/>
                <a:ea typeface="Calibri" pitchFamily="34" charset="-122"/>
                <a:cs typeface="Calibri" pitchFamily="34" charset="-120"/>
              </a:rPr>
              <a:t>[Scatterplot: Floors vs sqft_lot</a:t>
            </a:r>
            <a:endParaRPr lang="en-US" sz="1600" dirty="0"/>
          </a:p>
          <a:p>
            <a:pPr algn="ctr" indent="0" marL="0">
              <a:buNone/>
            </a:pPr>
            <a:r>
              <a:rPr lang="en-US" sz="1600" i="1" dirty="0">
                <a:solidFill>
                  <a:srgbClr val="1F2937"/>
                </a:solidFill>
                <a:latin typeface="Calibri" pitchFamily="34" charset="0"/>
                <a:ea typeface="Calibri" pitchFamily="34" charset="-122"/>
                <a:cs typeface="Calibri" pitchFamily="34" charset="-120"/>
              </a:rPr>
              <a:t>Showing negative trend - more floors with smaller lots]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algn="l" indent="0" marL="0">
              <a:buNone/>
            </a:pPr>
            <a:r>
              <a:rPr lang="en-US" sz="4000" b="1" dirty="0">
                <a:solidFill>
                  <a:srgbClr val="1E3A8A"/>
                </a:solidFill>
                <a:latin typeface="Calibri" pitchFamily="34" charset="0"/>
                <a:ea typeface="Calibri" pitchFamily="34" charset="-122"/>
                <a:cs typeface="Calibri" pitchFamily="34" charset="-120"/>
              </a:rPr>
              <a:t>Lot Size by Floor Count (Boxplot)</a:t>
            </a:r>
            <a:endParaRPr lang="en-US" sz="4000" dirty="0"/>
          </a:p>
        </p:txBody>
      </p:sp>
      <p:sp>
        <p:nvSpPr>
          <p:cNvPr id="3" name="Shape 1"/>
          <p:cNvSpPr/>
          <p:nvPr/>
        </p:nvSpPr>
        <p:spPr>
          <a:xfrm>
            <a:off x="457200" y="1097280"/>
            <a:ext cx="8229600" cy="3474720"/>
          </a:xfrm>
          <a:prstGeom prst="rect">
            <a:avLst/>
          </a:prstGeom>
          <a:solidFill>
            <a:srgbClr val="F3F4F6"/>
          </a:solidFill>
          <a:ln w="12700">
            <a:solidFill>
              <a:srgbClr val="F59E0B"/>
            </a:solidFill>
            <a:prstDash val="solid"/>
          </a:ln>
        </p:spPr>
      </p:sp>
      <p:sp>
        <p:nvSpPr>
          <p:cNvPr id="4" name="Text 2"/>
          <p:cNvSpPr/>
          <p:nvPr/>
        </p:nvSpPr>
        <p:spPr>
          <a:xfrm>
            <a:off x="640080" y="2286000"/>
            <a:ext cx="7863840" cy="1645920"/>
          </a:xfrm>
          <a:prstGeom prst="rect">
            <a:avLst/>
          </a:prstGeom>
          <a:noFill/>
          <a:ln/>
        </p:spPr>
        <p:txBody>
          <a:bodyPr wrap="square" rtlCol="0" anchor="ctr"/>
          <a:lstStyle/>
          <a:p>
            <a:pPr algn="ctr" indent="0" marL="0">
              <a:buNone/>
            </a:pPr>
            <a:r>
              <a:rPr lang="en-US" sz="1600" i="1" dirty="0">
                <a:solidFill>
                  <a:srgbClr val="1F2937"/>
                </a:solidFill>
                <a:latin typeface="Calibri" pitchFamily="34" charset="0"/>
                <a:ea typeface="Calibri" pitchFamily="34" charset="-122"/>
                <a:cs typeface="Calibri" pitchFamily="34" charset="-120"/>
              </a:rPr>
              <a:t>[Boxplot: Lot size distributions by floor count</a:t>
            </a:r>
            <a:endParaRPr lang="en-US" sz="1600" dirty="0"/>
          </a:p>
          <a:p>
            <a:pPr algn="ctr" indent="0" marL="0">
              <a:buNone/>
            </a:pPr>
            <a:r>
              <a:rPr lang="en-US" sz="1600" i="1" dirty="0">
                <a:solidFill>
                  <a:srgbClr val="1F2937"/>
                </a:solidFill>
                <a:latin typeface="Calibri" pitchFamily="34" charset="0"/>
                <a:ea typeface="Calibri" pitchFamily="34" charset="-122"/>
                <a:cs typeface="Calibri" pitchFamily="34" charset="-120"/>
              </a:rPr>
              <a:t>Median lot size decreases as floors increase]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algn="l" indent="0" marL="0">
              <a:buNone/>
            </a:pPr>
            <a:r>
              <a:rPr lang="en-US" sz="4000" b="1" dirty="0">
                <a:solidFill>
                  <a:srgbClr val="1E3A8A"/>
                </a:solidFill>
                <a:latin typeface="Calibri" pitchFamily="34" charset="0"/>
                <a:ea typeface="Calibri" pitchFamily="34" charset="-122"/>
                <a:cs typeface="Calibri" pitchFamily="34" charset="-120"/>
              </a:rPr>
              <a:t>Spearman Correlation Results</a:t>
            </a:r>
            <a:endParaRPr lang="en-US" sz="4000" dirty="0"/>
          </a:p>
        </p:txBody>
      </p:sp>
      <p:sp>
        <p:nvSpPr>
          <p:cNvPr id="3" name="Shape 1"/>
          <p:cNvSpPr/>
          <p:nvPr/>
        </p:nvSpPr>
        <p:spPr>
          <a:xfrm>
            <a:off x="457200" y="1097280"/>
            <a:ext cx="3840480" cy="2743200"/>
          </a:xfrm>
          <a:prstGeom prst="rect">
            <a:avLst/>
          </a:prstGeom>
          <a:solidFill>
            <a:srgbClr val="3B82F6"/>
          </a:solidFill>
          <a:ln w="25400">
            <a:solidFill>
              <a:srgbClr val="1E3A8A"/>
            </a:solidFill>
            <a:prstDash val="solid"/>
          </a:ln>
        </p:spPr>
      </p:sp>
      <p:sp>
        <p:nvSpPr>
          <p:cNvPr id="4" name="Text 2"/>
          <p:cNvSpPr/>
          <p:nvPr/>
        </p:nvSpPr>
        <p:spPr>
          <a:xfrm>
            <a:off x="594360" y="1280160"/>
            <a:ext cx="3566160" cy="365760"/>
          </a:xfrm>
          <a:prstGeom prst="rect">
            <a:avLst/>
          </a:prstGeom>
          <a:noFill/>
          <a:ln/>
        </p:spPr>
        <p:txBody>
          <a:bodyPr wrap="square" rtlCol="0" anchor="ctr"/>
          <a:lstStyle/>
          <a:p>
            <a:pPr indent="0" marL="0">
              <a:buNone/>
            </a:pPr>
            <a:r>
              <a:rPr lang="en-US" sz="1400" b="1" dirty="0">
                <a:solidFill>
                  <a:srgbClr val="1E3A8A"/>
                </a:solidFill>
                <a:latin typeface="Calibri" pitchFamily="34" charset="0"/>
                <a:ea typeface="Calibri" pitchFamily="34" charset="-122"/>
                <a:cs typeface="Calibri" pitchFamily="34" charset="-120"/>
              </a:rPr>
              <a:t>Correlation Coefficient</a:t>
            </a:r>
            <a:endParaRPr lang="en-US" sz="1400" dirty="0"/>
          </a:p>
        </p:txBody>
      </p:sp>
      <p:sp>
        <p:nvSpPr>
          <p:cNvPr id="5" name="Text 3"/>
          <p:cNvSpPr/>
          <p:nvPr/>
        </p:nvSpPr>
        <p:spPr>
          <a:xfrm>
            <a:off x="594360" y="1783080"/>
            <a:ext cx="3566160" cy="731520"/>
          </a:xfrm>
          <a:prstGeom prst="rect">
            <a:avLst/>
          </a:prstGeom>
          <a:noFill/>
          <a:ln/>
        </p:spPr>
        <p:txBody>
          <a:bodyPr wrap="square" rtlCol="0" anchor="ctr"/>
          <a:lstStyle/>
          <a:p>
            <a:pPr indent="0" marL="0">
              <a:buNone/>
            </a:pPr>
            <a:r>
              <a:rPr lang="en-US" sz="1200" dirty="0">
                <a:solidFill>
                  <a:srgbClr val="1F2937"/>
                </a:solidFill>
                <a:latin typeface="Calibri" pitchFamily="34" charset="0"/>
                <a:ea typeface="Calibri" pitchFamily="34" charset="-122"/>
                <a:cs typeface="Calibri" pitchFamily="34" charset="-120"/>
              </a:rPr>
              <a:t>Negative value</a:t>
            </a:r>
            <a:endParaRPr lang="en-US" sz="1200" dirty="0"/>
          </a:p>
          <a:p>
            <a:pPr indent="0" marL="0">
              <a:buNone/>
            </a:pPr>
            <a:r>
              <a:rPr lang="en-US" sz="1200" dirty="0">
                <a:solidFill>
                  <a:srgbClr val="1F2937"/>
                </a:solidFill>
                <a:latin typeface="Calibri" pitchFamily="34" charset="0"/>
                <a:ea typeface="Calibri" pitchFamily="34" charset="-122"/>
                <a:cs typeface="Calibri" pitchFamily="34" charset="-120"/>
              </a:rPr>
              <a:t>(closer to -1 = stronger)</a:t>
            </a:r>
            <a:endParaRPr lang="en-US" sz="1200" dirty="0"/>
          </a:p>
        </p:txBody>
      </p:sp>
      <p:sp>
        <p:nvSpPr>
          <p:cNvPr id="6" name="Text 4"/>
          <p:cNvSpPr/>
          <p:nvPr/>
        </p:nvSpPr>
        <p:spPr>
          <a:xfrm>
            <a:off x="594360" y="2606040"/>
            <a:ext cx="3566160" cy="274320"/>
          </a:xfrm>
          <a:prstGeom prst="rect">
            <a:avLst/>
          </a:prstGeom>
          <a:noFill/>
          <a:ln/>
        </p:spPr>
        <p:txBody>
          <a:bodyPr wrap="square" rtlCol="0" anchor="ctr"/>
          <a:lstStyle/>
          <a:p>
            <a:pPr indent="0" marL="0">
              <a:buNone/>
            </a:pPr>
            <a:r>
              <a:rPr lang="en-US" sz="1100" i="1" dirty="0">
                <a:solidFill>
                  <a:srgbClr val="1F2937"/>
                </a:solidFill>
                <a:latin typeface="Calibri" pitchFamily="34" charset="0"/>
                <a:ea typeface="Calibri" pitchFamily="34" charset="-122"/>
                <a:cs typeface="Calibri" pitchFamily="34" charset="-120"/>
              </a:rPr>
              <a:t>See methodology document for exact values and interpretation</a:t>
            </a:r>
            <a:endParaRPr lang="en-US" sz="1100" dirty="0"/>
          </a:p>
        </p:txBody>
      </p:sp>
      <p:sp>
        <p:nvSpPr>
          <p:cNvPr id="7" name="Shape 5"/>
          <p:cNvSpPr/>
          <p:nvPr/>
        </p:nvSpPr>
        <p:spPr>
          <a:xfrm>
            <a:off x="4846320" y="1097280"/>
            <a:ext cx="3840480" cy="2743200"/>
          </a:xfrm>
          <a:prstGeom prst="rect">
            <a:avLst/>
          </a:prstGeom>
          <a:solidFill>
            <a:srgbClr val="0D9488"/>
          </a:solidFill>
          <a:ln w="25400">
            <a:solidFill>
              <a:srgbClr val="1E3A8A"/>
            </a:solidFill>
            <a:prstDash val="solid"/>
          </a:ln>
        </p:spPr>
      </p:sp>
      <p:sp>
        <p:nvSpPr>
          <p:cNvPr id="8" name="Text 6"/>
          <p:cNvSpPr/>
          <p:nvPr/>
        </p:nvSpPr>
        <p:spPr>
          <a:xfrm>
            <a:off x="4983480" y="1280160"/>
            <a:ext cx="3566160" cy="365760"/>
          </a:xfrm>
          <a:prstGeom prst="rect">
            <a:avLst/>
          </a:prstGeom>
          <a:noFill/>
          <a:ln/>
        </p:spPr>
        <p:txBody>
          <a:bodyPr wrap="square" rtlCol="0" anchor="ctr"/>
          <a:lstStyle/>
          <a:p>
            <a:pPr indent="0" marL="0">
              <a:buNone/>
            </a:pPr>
            <a:r>
              <a:rPr lang="en-US" sz="1400" b="1" dirty="0">
                <a:solidFill>
                  <a:srgbClr val="1E3A8A"/>
                </a:solidFill>
                <a:latin typeface="Calibri" pitchFamily="34" charset="0"/>
                <a:ea typeface="Calibri" pitchFamily="34" charset="-122"/>
                <a:cs typeface="Calibri" pitchFamily="34" charset="-120"/>
              </a:rPr>
              <a:t>P-value (Significance)</a:t>
            </a:r>
            <a:endParaRPr lang="en-US" sz="1400" dirty="0"/>
          </a:p>
        </p:txBody>
      </p:sp>
      <p:sp>
        <p:nvSpPr>
          <p:cNvPr id="9" name="Text 7"/>
          <p:cNvSpPr/>
          <p:nvPr/>
        </p:nvSpPr>
        <p:spPr>
          <a:xfrm>
            <a:off x="4983480" y="1783080"/>
            <a:ext cx="3566160" cy="731520"/>
          </a:xfrm>
          <a:prstGeom prst="rect">
            <a:avLst/>
          </a:prstGeom>
          <a:noFill/>
          <a:ln/>
        </p:spPr>
        <p:txBody>
          <a:bodyPr wrap="square" rtlCol="0" anchor="ctr"/>
          <a:lstStyle/>
          <a:p>
            <a:pPr indent="0" marL="0">
              <a:buNone/>
            </a:pPr>
            <a:r>
              <a:rPr lang="en-US" sz="1200" dirty="0">
                <a:solidFill>
                  <a:srgbClr val="1F2937"/>
                </a:solidFill>
                <a:latin typeface="Calibri" pitchFamily="34" charset="0"/>
                <a:ea typeface="Calibri" pitchFamily="34" charset="-122"/>
                <a:cs typeface="Calibri" pitchFamily="34" charset="-120"/>
              </a:rPr>
              <a:t>&lt; 0.05 = significant</a:t>
            </a:r>
            <a:endParaRPr lang="en-US" sz="1200" dirty="0"/>
          </a:p>
          <a:p>
            <a:pPr indent="0" marL="0">
              <a:buNone/>
            </a:pPr>
            <a:r>
              <a:rPr lang="en-US" sz="1200" dirty="0">
                <a:solidFill>
                  <a:srgbClr val="1F2937"/>
                </a:solidFill>
                <a:latin typeface="Calibri" pitchFamily="34" charset="0"/>
                <a:ea typeface="Calibri" pitchFamily="34" charset="-122"/>
                <a:cs typeface="Calibri" pitchFamily="34" charset="-120"/>
              </a:rPr>
              <a:t>Unlikely to be random</a:t>
            </a:r>
            <a:endParaRPr lang="en-US" sz="1200" dirty="0"/>
          </a:p>
        </p:txBody>
      </p:sp>
      <p:sp>
        <p:nvSpPr>
          <p:cNvPr id="10" name="Text 8"/>
          <p:cNvSpPr/>
          <p:nvPr/>
        </p:nvSpPr>
        <p:spPr>
          <a:xfrm>
            <a:off x="4983480" y="2606040"/>
            <a:ext cx="3566160" cy="274320"/>
          </a:xfrm>
          <a:prstGeom prst="rect">
            <a:avLst/>
          </a:prstGeom>
          <a:noFill/>
          <a:ln/>
        </p:spPr>
        <p:txBody>
          <a:bodyPr wrap="square" rtlCol="0" anchor="ctr"/>
          <a:lstStyle/>
          <a:p>
            <a:pPr indent="0" marL="0">
              <a:buNone/>
            </a:pPr>
            <a:r>
              <a:rPr lang="en-US" sz="1100" i="1" dirty="0">
                <a:solidFill>
                  <a:srgbClr val="1F2937"/>
                </a:solidFill>
                <a:latin typeface="Calibri" pitchFamily="34" charset="0"/>
                <a:ea typeface="Calibri" pitchFamily="34" charset="-122"/>
                <a:cs typeface="Calibri" pitchFamily="34" charset="-120"/>
              </a:rPr>
              <a:t>Indicates strong evidence for H3</a:t>
            </a:r>
            <a:endParaRPr lang="en-US" sz="1100" dirty="0"/>
          </a:p>
        </p:txBody>
      </p:sp>
      <p:sp>
        <p:nvSpPr>
          <p:cNvPr id="11" name="Text 9"/>
          <p:cNvSpPr/>
          <p:nvPr/>
        </p:nvSpPr>
        <p:spPr>
          <a:xfrm>
            <a:off x="457200" y="4023360"/>
            <a:ext cx="8229600" cy="731520"/>
          </a:xfrm>
          <a:prstGeom prst="rect">
            <a:avLst/>
          </a:prstGeom>
          <a:noFill/>
          <a:ln/>
        </p:spPr>
        <p:txBody>
          <a:bodyPr wrap="square" rtlCol="0" anchor="ctr"/>
          <a:lstStyle/>
          <a:p>
            <a:pPr indent="0" marL="0">
              <a:buNone/>
            </a:pPr>
            <a:r>
              <a:rPr lang="en-US" sz="1200" dirty="0">
                <a:solidFill>
                  <a:srgbClr val="1F2937"/>
                </a:solidFill>
                <a:latin typeface="Calibri" pitchFamily="34" charset="0"/>
                <a:ea typeface="Calibri" pitchFamily="34" charset="-122"/>
                <a:cs typeface="Calibri" pitchFamily="34" charset="-120"/>
              </a:rPr>
              <a:t>Interpretation: A negative correlation with p-value &lt; 0.05 strongly supports H3 - houses with more floors do tend to have smaller lots in urban areas.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algn="l" indent="0" marL="0">
              <a:buNone/>
            </a:pPr>
            <a:r>
              <a:rPr lang="en-US" sz="4000" b="1" dirty="0">
                <a:solidFill>
                  <a:srgbClr val="1E3A8A"/>
                </a:solidFill>
                <a:latin typeface="Calibri" pitchFamily="34" charset="0"/>
                <a:ea typeface="Calibri" pitchFamily="34" charset="-122"/>
                <a:cs typeface="Calibri" pitchFamily="34" charset="-120"/>
              </a:rPr>
              <a:t>Property Recommendations for William</a:t>
            </a:r>
            <a:endParaRPr lang="en-US" sz="4000" dirty="0"/>
          </a:p>
        </p:txBody>
      </p:sp>
      <p:sp>
        <p:nvSpPr>
          <p:cNvPr id="3" name="Shape 1"/>
          <p:cNvSpPr/>
          <p:nvPr/>
        </p:nvSpPr>
        <p:spPr>
          <a:xfrm>
            <a:off x="457200" y="1097280"/>
            <a:ext cx="8229600" cy="1097280"/>
          </a:xfrm>
          <a:prstGeom prst="rect">
            <a:avLst/>
          </a:prstGeom>
          <a:solidFill>
            <a:srgbClr val="0D9488"/>
          </a:solidFill>
          <a:ln w="25400">
            <a:solidFill>
              <a:srgbClr val="0D9488"/>
            </a:solidFill>
            <a:prstDash val="solid"/>
          </a:ln>
        </p:spPr>
      </p:sp>
      <p:sp>
        <p:nvSpPr>
          <p:cNvPr id="4" name="Text 2"/>
          <p:cNvSpPr/>
          <p:nvPr/>
        </p:nvSpPr>
        <p:spPr>
          <a:xfrm>
            <a:off x="594360" y="1234440"/>
            <a:ext cx="7955280" cy="822960"/>
          </a:xfrm>
          <a:prstGeom prst="rect">
            <a:avLst/>
          </a:prstGeom>
          <a:noFill/>
          <a:ln/>
        </p:spPr>
        <p:txBody>
          <a:bodyPr wrap="square" rtlCol="0" anchor="ctr"/>
          <a:lstStyle/>
          <a:p>
            <a:pPr indent="0" marL="0">
              <a:buNone/>
            </a:pPr>
            <a:r>
              <a:rPr lang="en-US" sz="1400" b="1" dirty="0">
                <a:solidFill>
                  <a:srgbClr val="1E3A8A"/>
                </a:solidFill>
                <a:latin typeface="Calibri" pitchFamily="34" charset="0"/>
                <a:ea typeface="Calibri" pitchFamily="34" charset="-122"/>
                <a:cs typeface="Calibri" pitchFamily="34" charset="-120"/>
              </a:rPr>
              <a:t>Selection Criteria Based on H3 Analysis</a:t>
            </a:r>
            <a:endParaRPr lang="en-US" sz="1400" dirty="0"/>
          </a:p>
        </p:txBody>
      </p:sp>
      <p:sp>
        <p:nvSpPr>
          <p:cNvPr id="5" name="Text 3"/>
          <p:cNvSpPr/>
          <p:nvPr/>
        </p:nvSpPr>
        <p:spPr>
          <a:xfrm>
            <a:off x="640080" y="2377440"/>
            <a:ext cx="7863840" cy="320040"/>
          </a:xfrm>
          <a:prstGeom prst="rect">
            <a:avLst/>
          </a:prstGeom>
          <a:noFill/>
          <a:ln/>
        </p:spPr>
        <p:txBody>
          <a:bodyPr wrap="square" rtlCol="0" anchor="ctr"/>
          <a:lstStyle/>
          <a:p>
            <a:pPr indent="0" marL="0">
              <a:buNone/>
            </a:pPr>
            <a:r>
              <a:rPr lang="en-US" sz="1300" dirty="0">
                <a:solidFill>
                  <a:srgbClr val="1F2937"/>
                </a:solidFill>
                <a:latin typeface="Calibri" pitchFamily="34" charset="0"/>
                <a:ea typeface="Calibri" pitchFamily="34" charset="-122"/>
                <a:cs typeface="Calibri" pitchFamily="34" charset="-120"/>
              </a:rPr>
              <a:t>✓ Urban location (RUCA 1 - Metropolitan core)</a:t>
            </a:r>
            <a:endParaRPr lang="en-US" sz="1300" dirty="0"/>
          </a:p>
        </p:txBody>
      </p:sp>
      <p:sp>
        <p:nvSpPr>
          <p:cNvPr id="6" name="Text 4"/>
          <p:cNvSpPr/>
          <p:nvPr/>
        </p:nvSpPr>
        <p:spPr>
          <a:xfrm>
            <a:off x="640080" y="2788920"/>
            <a:ext cx="7863840" cy="320040"/>
          </a:xfrm>
          <a:prstGeom prst="rect">
            <a:avLst/>
          </a:prstGeom>
          <a:noFill/>
          <a:ln/>
        </p:spPr>
        <p:txBody>
          <a:bodyPr wrap="square" rtlCol="0" anchor="ctr"/>
          <a:lstStyle/>
          <a:p>
            <a:pPr indent="0" marL="0">
              <a:buNone/>
            </a:pPr>
            <a:r>
              <a:rPr lang="en-US" sz="1300" dirty="0">
                <a:solidFill>
                  <a:srgbClr val="1F2937"/>
                </a:solidFill>
                <a:latin typeface="Calibri" pitchFamily="34" charset="0"/>
                <a:ea typeface="Calibri" pitchFamily="34" charset="-122"/>
                <a:cs typeface="Calibri" pitchFamily="34" charset="-120"/>
              </a:rPr>
              <a:t>✓ Multi-story: 2+ floors (vertical layout matching H3)</a:t>
            </a:r>
            <a:endParaRPr lang="en-US" sz="1300" dirty="0"/>
          </a:p>
        </p:txBody>
      </p:sp>
      <p:sp>
        <p:nvSpPr>
          <p:cNvPr id="7" name="Text 5"/>
          <p:cNvSpPr/>
          <p:nvPr/>
        </p:nvSpPr>
        <p:spPr>
          <a:xfrm>
            <a:off x="640080" y="3200400"/>
            <a:ext cx="7863840" cy="320040"/>
          </a:xfrm>
          <a:prstGeom prst="rect">
            <a:avLst/>
          </a:prstGeom>
          <a:noFill/>
          <a:ln/>
        </p:spPr>
        <p:txBody>
          <a:bodyPr wrap="square" rtlCol="0" anchor="ctr"/>
          <a:lstStyle/>
          <a:p>
            <a:pPr indent="0" marL="0">
              <a:buNone/>
            </a:pPr>
            <a:r>
              <a:rPr lang="en-US" sz="1300" dirty="0">
                <a:solidFill>
                  <a:srgbClr val="1F2937"/>
                </a:solidFill>
                <a:latin typeface="Calibri" pitchFamily="34" charset="0"/>
                <a:ea typeface="Calibri" pitchFamily="34" charset="-122"/>
                <a:cs typeface="Calibri" pitchFamily="34" charset="-120"/>
              </a:rPr>
              <a:t>✓ Compact lot: sqft_lot ≤ Urban median</a:t>
            </a:r>
            <a:endParaRPr lang="en-US" sz="1300" dirty="0"/>
          </a:p>
        </p:txBody>
      </p:sp>
      <p:sp>
        <p:nvSpPr>
          <p:cNvPr id="8" name="Text 6"/>
          <p:cNvSpPr/>
          <p:nvPr/>
        </p:nvSpPr>
        <p:spPr>
          <a:xfrm>
            <a:off x="640080" y="3611880"/>
            <a:ext cx="7863840" cy="320040"/>
          </a:xfrm>
          <a:prstGeom prst="rect">
            <a:avLst/>
          </a:prstGeom>
          <a:noFill/>
          <a:ln/>
        </p:spPr>
        <p:txBody>
          <a:bodyPr wrap="square" rtlCol="0" anchor="ctr"/>
          <a:lstStyle/>
          <a:p>
            <a:pPr indent="0" marL="0">
              <a:buNone/>
            </a:pPr>
            <a:r>
              <a:rPr lang="en-US" sz="1300" dirty="0">
                <a:solidFill>
                  <a:srgbClr val="1F2937"/>
                </a:solidFill>
                <a:latin typeface="Calibri" pitchFamily="34" charset="0"/>
                <a:ea typeface="Calibri" pitchFamily="34" charset="-122"/>
                <a:cs typeface="Calibri" pitchFamily="34" charset="-120"/>
              </a:rPr>
              <a:t>✓ Higher price ranking (William wants to buy fast - assumption: expensive homes sell faster)</a:t>
            </a:r>
            <a:endParaRPr lang="en-US" sz="1300" dirty="0"/>
          </a:p>
        </p:txBody>
      </p:sp>
      <p:sp>
        <p:nvSpPr>
          <p:cNvPr id="9" name="Text 7"/>
          <p:cNvSpPr/>
          <p:nvPr/>
        </p:nvSpPr>
        <p:spPr>
          <a:xfrm>
            <a:off x="457200" y="4206240"/>
            <a:ext cx="8229600" cy="731520"/>
          </a:xfrm>
          <a:prstGeom prst="rect">
            <a:avLst/>
          </a:prstGeom>
          <a:noFill/>
          <a:ln/>
        </p:spPr>
        <p:txBody>
          <a:bodyPr wrap="square" rtlCol="0" anchor="ctr"/>
          <a:lstStyle/>
          <a:p>
            <a:pPr indent="0" marL="0">
              <a:buNone/>
            </a:pPr>
            <a:r>
              <a:rPr lang="en-US" sz="1200" i="1" dirty="0">
                <a:solidFill>
                  <a:srgbClr val="1F2937"/>
                </a:solidFill>
                <a:latin typeface="Calibri" pitchFamily="34" charset="0"/>
                <a:ea typeface="Calibri" pitchFamily="34" charset="-122"/>
                <a:cs typeface="Calibri" pitchFamily="34" charset="-120"/>
              </a:rPr>
              <a:t>Top 2 recommended properties appear in methodology document with full details (id, price, floors, lot size, bedrooms, bathrooms, zip code).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3A8A"/>
        </a:solidFill>
      </p:bgPr>
    </p:bg>
    <p:spTree>
      <p:nvGrpSpPr>
        <p:cNvPr id="1" name=""/>
        <p:cNvGrpSpPr/>
        <p:nvPr/>
      </p:nvGrpSpPr>
      <p:grpSpPr>
        <a:xfrm>
          <a:off x="0" y="0"/>
          <a:ext cx="0" cy="0"/>
          <a:chOff x="0" y="0"/>
          <a:chExt cx="0" cy="0"/>
        </a:xfrm>
      </p:grpSpPr>
      <p:sp>
        <p:nvSpPr>
          <p:cNvPr id="2" name="Text 0"/>
          <p:cNvSpPr/>
          <p:nvPr/>
        </p:nvSpPr>
        <p:spPr>
          <a:xfrm>
            <a:off x="457200" y="914400"/>
            <a:ext cx="8229600" cy="548640"/>
          </a:xfrm>
          <a:prstGeom prst="rect">
            <a:avLst/>
          </a:prstGeom>
          <a:noFill/>
          <a:ln/>
        </p:spPr>
        <p:txBody>
          <a:bodyPr wrap="square" rtlCol="0" anchor="ctr"/>
          <a:lstStyle/>
          <a:p>
            <a:pPr algn="ctr" indent="0" marL="0">
              <a:buNone/>
            </a:pPr>
            <a:r>
              <a:rPr lang="en-US" sz="4000" b="1" dirty="0">
                <a:solidFill>
                  <a:srgbClr val="F59E0B"/>
                </a:solidFill>
                <a:latin typeface="Calibri" pitchFamily="34" charset="0"/>
                <a:ea typeface="Calibri" pitchFamily="34" charset="-122"/>
                <a:cs typeface="Calibri" pitchFamily="34" charset="-120"/>
              </a:rPr>
              <a:t>H3 Summary</a:t>
            </a:r>
            <a:endParaRPr lang="en-US" sz="4000" dirty="0"/>
          </a:p>
        </p:txBody>
      </p:sp>
      <p:sp>
        <p:nvSpPr>
          <p:cNvPr id="3" name="Text 1"/>
          <p:cNvSpPr/>
          <p:nvPr/>
        </p:nvSpPr>
        <p:spPr>
          <a:xfrm>
            <a:off x="731520" y="1828800"/>
            <a:ext cx="7680960" cy="1280160"/>
          </a:xfrm>
          <a:prstGeom prst="rect">
            <a:avLst/>
          </a:prstGeom>
          <a:noFill/>
          <a:ln/>
        </p:spPr>
        <p:txBody>
          <a:bodyPr wrap="square" rtlCol="0" anchor="ctr"/>
          <a:lstStyle/>
          <a:p>
            <a:pPr algn="ctr" indent="0" marL="0">
              <a:buNone/>
            </a:pPr>
            <a:r>
              <a:rPr lang="en-US" sz="2000" dirty="0">
                <a:solidFill>
                  <a:srgbClr val="FFFFFF"/>
                </a:solidFill>
                <a:latin typeface="Calibri" pitchFamily="34" charset="0"/>
                <a:ea typeface="Calibri" pitchFamily="34" charset="-122"/>
                <a:cs typeface="Calibri" pitchFamily="34" charset="-120"/>
              </a:rPr>
              <a:t>More floors → Smaller lots in urban areas</a:t>
            </a:r>
            <a:endParaRPr lang="en-US" sz="2000" dirty="0"/>
          </a:p>
          <a:p>
            <a:pPr algn="ctr" indent="0" marL="0">
              <a:buNone/>
            </a:pPr>
            <a:endParaRPr lang="en-US" sz="2000" dirty="0"/>
          </a:p>
          <a:p>
            <a:pPr algn="ctr" indent="0" marL="0">
              <a:buNone/>
            </a:pPr>
            <a:r>
              <a:rPr lang="en-US" sz="2000" dirty="0">
                <a:solidFill>
                  <a:srgbClr val="FFFFFF"/>
                </a:solidFill>
                <a:latin typeface="Calibri" pitchFamily="34" charset="0"/>
                <a:ea typeface="Calibri" pitchFamily="34" charset="-122"/>
                <a:cs typeface="Calibri" pitchFamily="34" charset="-120"/>
              </a:rPr>
              <a:t>This validates the compact, vertical city house concept for William Rodriguez's investment strategy.</a:t>
            </a:r>
            <a:endParaRPr lang="en-US" sz="2000" dirty="0"/>
          </a:p>
        </p:txBody>
      </p:sp>
      <p:sp>
        <p:nvSpPr>
          <p:cNvPr id="4" name="Text 2"/>
          <p:cNvSpPr/>
          <p:nvPr/>
        </p:nvSpPr>
        <p:spPr>
          <a:xfrm>
            <a:off x="731520" y="3383280"/>
            <a:ext cx="7680960" cy="914400"/>
          </a:xfrm>
          <a:prstGeom prst="rect">
            <a:avLst/>
          </a:prstGeom>
          <a:noFill/>
          <a:ln/>
        </p:spPr>
        <p:txBody>
          <a:bodyPr wrap="square" rtlCol="0" anchor="ctr"/>
          <a:lstStyle/>
          <a:p>
            <a:pPr algn="ctr" indent="0" marL="0">
              <a:buNone/>
            </a:pPr>
            <a:r>
              <a:rPr lang="en-US" sz="1400" i="1" dirty="0">
                <a:solidFill>
                  <a:srgbClr val="F3F4F6"/>
                </a:solidFill>
                <a:latin typeface="Calibri" pitchFamily="34" charset="0"/>
                <a:ea typeface="Calibri" pitchFamily="34" charset="-122"/>
                <a:cs typeface="Calibri" pitchFamily="34" charset="-120"/>
              </a:rPr>
              <a:t>Next: Review property recommendations and comparative analysis with H1 and H2 hypotheses for complete investment strategy.</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2026-09-17T10:07:27Z</dcterms:created>
  <dcterms:modified xsi:type="dcterms:W3CDTF">2026-09-17T10:07:27Z</dcterms:modified>
</cp:coreProperties>
</file>